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proyecto: entrenar una GAN que invente habitantes nuevos para un universo propio, Cubópolis. Los cuatro personajes de la portada fueron generados por el modelo del proyecto; ninguno viene del dataset ni de otro generador. La presentación sigue la barra de abajo como una línea de tiempo: universo, modelo, primer intento, experimentos, galería y cierre.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historia empieza con el universo, porque es la regla con la que después se juzga la galería. Se eligió un estilo de bloques porque, aun en imágenes pequeñas de 64 por 64, se distinguen el pelo, los lentes y la ropa, y todo el estilo es muy parejo, que es lo que recomienda el enunciado. Los datos salen del estilo Voxel Art de DiceBear, con licencia CC0: dominio público, sin problemas de permiso. Se generaron 5,000 imágenes distintas, siempre las mismas, así que se pueden volver a crear idénticas. No se voltearon las imágenes, porque eso cambiaría la dirección de la luz y la perspectiva, que son parte del estilo.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GAN son dos redes que compiten. El generador es un falsificador: recibe 100 números al azar y los convierte en una imagen. El discriminador es un policía: mira una imagen y decide si es real o falsa. Cada vez que el policía atrapa al falsificador, el falsificador aprende a hacerlo mejor. DCGAN es la versión que usa capas convolucionales, las mismas de las redes que reconocen imágenes. Se eligió porque es la más simple que funciona bien con imágenes pequeñas y porque cada entrenamiento tarda unos 6 minutos, lo que permite probar cambios uno por uno. Para que las pruebas sean comparables, todas usan los mismos datos, la misma semilla, la misma duración y los mismos 16 ruidos, y en cada una cambia una sola cosa.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primer intento es la DCGAN normal, que sirve de punto de partida. Arriba está la rejilla de ruido fijo: se toman los mismos 16 ruidos y se generan imágenes con ellos en distintas épocas, para ver cómo aprende el modelo. En la época 5 todos son iguales y borrosos; en la 40 ya hay cuerpo, cara y ropa. Pero un mismo ruido cambia de colores entre épocas: el modelo no se decide. Abajo están las curvas: el policía casi nunca se equivoca y su error queda pegado a cero. Como se vio en clase, eso no es un éxito sino una señal de alarma: el policía es demasiado fuerte. También hay picos repetidos, donde el policía gana de golpe. A partir de aquí se hacen dos cambios para intentar mejorarlo.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primer cambio es la forma de puntuar, es decir, la función de pérdida. Todo lo demás queda igual. Con la pérdida original, el policía recibe más premio mientras más seguro esté, aunque ya haya acertado, y por eso se vuelve demasiado confiado. La pérdida hinge pone un límite: cuando el policía ya acertó con suficiente margen, deja de esforzarse con esa imagen. Antes de entrenar se escribió lo que se esperaba: menos picos y mejor FID, sin perder variedad. Resultado: las curvas son más suaves, desaparecen los picos repetidos y la variedad sube; en la rejilla se ven más rasgos distintos, como lentes y más colores de pelo. Pero el FID no mejoró. Con una sola repetición no se puede saber si esa diferencia es real o casualidad. Por eso se cumplió solo en parte.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segundo cambio intenta estabilizar el entrenamiento. Se volvió a la pérdida original y solo se agregó normalización espectral al policía: una técnica que limita qué tan bruscamente puede cambiar su respuesta, para que no se vuelva demasiado seguro. Hasta la época 130 todo iba bien: la rejilla muestra personajes variados. Pero cerca de la época 145, el policía gana por completo y su error queda en cero hasta el final. En la época 170, los 16 ruidos producen el mismo personaje: eso es colapso de modos, el generador encontró una sola respuesta y la repite. En la época 200 solo queda ruido. Lo esperado no se cumplió. La lección: el colapso no se ve si solo se mira el resultado final; hay que vigilar la rejilla y las curvas durante todo el entrenamiento.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seguir, había que entender por qué colapsó. La explicación: el policía tenía BatchNorm después de cada capa, una operación que vuelve a escalar los valores, y eso deshacía el freno de la normalización espectral. El método original, SN-GAN, no usa BatchNorm. Para comprobarlo se repitió la prueba quitando solo BatchNorm del policía, escribiendo antes lo que se esperaba. Resultado: ya no colapsa, y es la única prueba con curvas de una GAN sana: policía y falsificador quedan parejos, sin que ninguno gane. Eso confirma la explicación. Pero las imágenes salen deslavadas, con apenas un 10 por ciento del contraste de las reales, y el FID es peor. Probablemente el policía quedó con un freno tan fuerte que ya no exige suficiente al falsificador; no se comprobó por tiempo. La lección: que el entrenamiento sea estable no significa que las imágenes sean buenas.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las cuatro pruebas había que elegir un modelo final. Para compararlas con números se usaron dos medidas, calculadas con las mismas 2,000 imágenes generadas en cada prueba. El FID indica qué tan parecidas son las imágenes al dataset: menor es mejor. La variedad compara qué tan distintas son las imágenes generadas entre sí frente a las reales: 1 significa igual de variado que el dataset. La prueba con freno colapsó y la prueba sin BatchNorm quedó deslavada, así que quedaron dos opciones. Se eligió hinge porque la pregunta del proyecto es si los personajes son nuevos y variados, y hinge es la más variada. El primer intento tiene un FID 10 puntos mejor, pero con una sola repetición no se puede asegurar que esa diferencia sea real. Además, las dos medidas usan una red entrenada con fotos, así que son solo una referencia.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galería final: 10 habitantes creados por el modelo hinge. Se generaron 200 candidatos, cada uno con su propia semilla, y se eligieron 10: una tasa de selección del 5 por ciento. El criterio fue doble: cara clara con poco ruido de color, y la mayor variedad posible entre los 10, sin dos que compartan la misma combinación de pelo o sombrero, piel, ropa y accesorios. La hoja completa de 200 candidatos está en el anexo. Cada habitante tiene un nombre y un oficio según sus rasgos: Teo Musgo es botánico por su gorro verde y sus lentes, y Rocco Silbato es pregonero porque tiene la boca abierta. Todas las imágenes se vuelven a generar idénticas con los pesos y las semillas del repositorio. Lo que se nota a simple vista es el ruido de color en la ropa.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galería bonita no prueba que el modelo aprendió: podría haber memorizado imágenes del dataset. Por eso, para cada personaje se buscó la imagen de entrenamiento más parecida, como en la figura 2 del paper original de las GAN. Se compararon de dos formas: píxel por píxel, y con lo que "ve" una red ya entrenada para reconocer imágenes. Para saber si una distancia es grande o chica, se midió primero la distancia normal entre dos imágenes reales parecidas: 0.07. Los personajes están entre 0.19 y 0.28, de 3 a 4 veces más lejos. Pero eso exagera, porque esa distancia también cuenta el ruido de color. La comparación por píxeles, abajo de cada personaje, es más justa: ninguno es una copia, pero se reconocen piezas del dataset combinadas de forma nueva. El caso más débil es el personaje 08: su vecino tiene el mismo gorro verde, la misma camisa a cuadros y la misma piel.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cerrar. Lo que falló: en el primer intento el policía gana siempre; con el freno, el modelo colapsó; sin BatchNorm, las imágenes salieron deslavadas; y el modelo final tiene ruido de color en la ropa. Los límites: cada prueba se hizo una sola vez, las medidas usan una red entrenada con fotos, los datos son piezas combinadas, así que la variedad tiene un techo, y los 10 personajes se eligieron a mano. Lo aprendido: DCGAN con hinge sí crea habitantes reconocibles y variados; un entrenamiento estable no garantiza buenas imágenes; y hay que vigilar todo el entrenamiento, no solo el resultado final. La reflexión: el personaje más difícil de defender como nuevo es Rocco Silbato. Su vecino del dataset tiene el mismo gorro, la misma camisa y la misma piel. Eso dice que la GAN aprendió las piezas de Cubópolis y a combinarlas, pero no a inventar piezas nuevas; cuando la combinación es común, el resultado queda muy cerca de un habitante que ya existía.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Anexo para transparencia: los 200 candidatos de los que se eligieron los 10 personajes, con su número. Así se puede comparar la galería con lo que el modelo produce en general, incluidos los candidatos con más ruido que no se eligieron.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2E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076920"/>
            <a:ext cx="10566400" cy="419100"/>
          </a:xfrm>
          <a:prstGeom prst="rect">
            <a:avLst/>
          </a:prstGeom>
          <a:noFill/>
          <a:ln/>
        </p:spPr>
        <p:txBody>
          <a:bodyPr wrap="square" lIns="0" tIns="0" rIns="0" bIns="0" rtlCol="0" anchor="t"/>
          <a:lstStyle>
            <a:lvl1pPr algn="l" indent="0" marL="0">
              <a:lnSpc>
                <a:spcPct val="115000"/>
              </a:lnSpc>
              <a:buNone/>
              <a:defRPr lang="en-US" sz="3000" dirty="0">
                <a:solidFill>
                  <a:srgbClr val="1F2238"/>
                </a:solidFill>
                <a:latin typeface="Arial" pitchFamily="34" charset="0"/>
                <a:ea typeface="Arial" pitchFamily="34" charset="-122"/>
                <a:cs typeface="Arial"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800820"/>
            <a:ext cx="10566400" cy="4244380"/>
          </a:xfrm>
          <a:prstGeom prst="rect">
            <a:avLst/>
          </a:prstGeom>
          <a:noFill/>
          <a:ln/>
        </p:spPr>
        <p:txBody>
          <a:bodyPr wrap="square" lIns="0" tIns="0" rIns="0" bIns="0" rtlCol="0" anchor="t"/>
          <a:lstStyle>
            <a:lvl1pPr algn="l" indent="0" marL="0">
              <a:lnSpc>
                <a:spcPct val="140000"/>
              </a:lnSpc>
              <a:buNone/>
              <a:defRPr lang="en-US" sz="1600" dirty="0">
                <a:solidFill>
                  <a:srgbClr val="1F2238"/>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2E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076920"/>
            <a:ext cx="10566400" cy="419100"/>
          </a:xfrm>
          <a:prstGeom prst="rect">
            <a:avLst/>
          </a:prstGeom>
          <a:noFill/>
          <a:ln/>
        </p:spPr>
        <p:txBody>
          <a:bodyPr wrap="square" lIns="0" tIns="0" rIns="0" bIns="0" rtlCol="0" anchor="t"/>
          <a:lstStyle>
            <a:lvl1pPr algn="l" indent="0" marL="0">
              <a:lnSpc>
                <a:spcPct val="115000"/>
              </a:lnSpc>
              <a:buNone/>
              <a:defRPr lang="en-US" sz="3000" dirty="0">
                <a:solidFill>
                  <a:srgbClr val="1F2238"/>
                </a:solidFill>
                <a:latin typeface="Arial" pitchFamily="34" charset="0"/>
                <a:ea typeface="Arial" pitchFamily="34" charset="-122"/>
                <a:cs typeface="Arial"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800820"/>
            <a:ext cx="10566400" cy="4244380"/>
          </a:xfrm>
          <a:prstGeom prst="rect">
            <a:avLst/>
          </a:prstGeom>
          <a:noFill/>
          <a:ln/>
        </p:spPr>
        <p:txBody>
          <a:bodyPr wrap="square" lIns="0" tIns="0" rIns="0" bIns="0" rtlCol="0" anchor="t"/>
          <a:lstStyle>
            <a:lvl1pPr algn="l" indent="0" marL="0">
              <a:lnSpc>
                <a:spcPct val="140000"/>
              </a:lnSpc>
              <a:buNone/>
              <a:defRPr lang="en-US" sz="1600" dirty="0">
                <a:solidFill>
                  <a:srgbClr val="1F2238"/>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slideLayout" Target="../slideLayouts/slideLayout2.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2.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2.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2.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2.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slideLayout" Target="../slideLayouts/slideLayout2.xml"/><Relationship Id="rId1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2238"/>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7874000" y="5245100"/>
            <a:ext cx="762000" cy="762000"/>
          </a:xfrm>
          <a:prstGeom prst="rect">
            <a:avLst/>
          </a:prstGeom>
        </p:spPr>
      </p:pic>
      <p:pic>
        <p:nvPicPr>
          <p:cNvPr id="3" name="Image 1" descr="preencoded.png">    </p:cNvPr>
          <p:cNvPicPr>
            <a:picLocks noChangeAspect="1"/>
          </p:cNvPicPr>
          <p:nvPr/>
        </p:nvPicPr>
        <p:blipFill>
          <a:blip r:embed="rId2"/>
          <a:srcRect l="0" r="0" t="0" b="0"/>
          <a:stretch/>
        </p:blipFill>
        <p:spPr>
          <a:xfrm>
            <a:off x="10795000" y="609600"/>
            <a:ext cx="508000" cy="508000"/>
          </a:xfrm>
          <a:prstGeom prst="rect">
            <a:avLst/>
          </a:prstGeom>
        </p:spPr>
      </p:pic>
      <p:sp>
        <p:nvSpPr>
          <p:cNvPr id="4" name="Shape 0"/>
          <p:cNvSpPr/>
          <p:nvPr/>
        </p:nvSpPr>
        <p:spPr>
          <a:xfrm>
            <a:off x="7493000" y="1333500"/>
            <a:ext cx="1778000" cy="1778000"/>
          </a:xfrm>
          <a:prstGeom prst="roundRect">
            <a:avLst>
              <a:gd name="adj" fmla="val 7143"/>
            </a:avLst>
          </a:prstGeom>
          <a:solidFill>
            <a:srgbClr val="C0AEDE"/>
          </a:solidFill>
          <a:ln/>
        </p:spPr>
      </p:sp>
      <p:pic>
        <p:nvPicPr>
          <p:cNvPr id="5" name="Image 2" descr="Personaje 01, Noa Basalto, generado por el modelo">    </p:cNvPr>
          <p:cNvPicPr>
            <a:picLocks noChangeAspect="1"/>
          </p:cNvPicPr>
          <p:nvPr/>
        </p:nvPicPr>
        <p:blipFill>
          <a:blip r:embed="rId3"/>
          <a:srcRect l="0" r="0" t="0" b="0"/>
          <a:stretch/>
        </p:blipFill>
        <p:spPr>
          <a:xfrm>
            <a:off x="7632700" y="1473200"/>
            <a:ext cx="1498600" cy="1498600"/>
          </a:xfrm>
          <a:prstGeom prst="roundRect">
            <a:avLst>
              <a:gd name="adj" fmla="val 5085"/>
            </a:avLst>
          </a:prstGeom>
        </p:spPr>
      </p:pic>
      <p:sp>
        <p:nvSpPr>
          <p:cNvPr id="6" name="Shape 1"/>
          <p:cNvSpPr/>
          <p:nvPr/>
        </p:nvSpPr>
        <p:spPr>
          <a:xfrm>
            <a:off x="9423400" y="1333500"/>
            <a:ext cx="1778000" cy="1778000"/>
          </a:xfrm>
          <a:prstGeom prst="roundRect">
            <a:avLst>
              <a:gd name="adj" fmla="val 7143"/>
            </a:avLst>
          </a:prstGeom>
          <a:solidFill>
            <a:srgbClr val="B6E3F4"/>
          </a:solidFill>
          <a:ln/>
        </p:spPr>
      </p:sp>
      <p:pic>
        <p:nvPicPr>
          <p:cNvPr id="7" name="Image 3" descr="Personaje 03, Teo Musgo, generado por el modelo">    </p:cNvPr>
          <p:cNvPicPr>
            <a:picLocks noChangeAspect="1"/>
          </p:cNvPicPr>
          <p:nvPr/>
        </p:nvPicPr>
        <p:blipFill>
          <a:blip r:embed="rId4"/>
          <a:srcRect l="0" r="0" t="0" b="0"/>
          <a:stretch/>
        </p:blipFill>
        <p:spPr>
          <a:xfrm>
            <a:off x="9563100" y="1473200"/>
            <a:ext cx="1498600" cy="1498600"/>
          </a:xfrm>
          <a:prstGeom prst="roundRect">
            <a:avLst>
              <a:gd name="adj" fmla="val 5085"/>
            </a:avLst>
          </a:prstGeom>
        </p:spPr>
      </p:pic>
      <p:sp>
        <p:nvSpPr>
          <p:cNvPr id="8" name="Shape 2"/>
          <p:cNvSpPr/>
          <p:nvPr/>
        </p:nvSpPr>
        <p:spPr>
          <a:xfrm>
            <a:off x="7493000" y="3263900"/>
            <a:ext cx="1778000" cy="1778000"/>
          </a:xfrm>
          <a:prstGeom prst="roundRect">
            <a:avLst>
              <a:gd name="adj" fmla="val 7143"/>
            </a:avLst>
          </a:prstGeom>
          <a:solidFill>
            <a:srgbClr val="FFDFBF"/>
          </a:solidFill>
          <a:ln/>
        </p:spPr>
      </p:sp>
      <p:pic>
        <p:nvPicPr>
          <p:cNvPr id="9" name="Image 4" descr="Personaje 05, Estela Brasa, generado por el modelo">    </p:cNvPr>
          <p:cNvPicPr>
            <a:picLocks noChangeAspect="1"/>
          </p:cNvPicPr>
          <p:nvPr/>
        </p:nvPicPr>
        <p:blipFill>
          <a:blip r:embed="rId5"/>
          <a:srcRect l="0" r="0" t="0" b="0"/>
          <a:stretch/>
        </p:blipFill>
        <p:spPr>
          <a:xfrm>
            <a:off x="7632700" y="3403600"/>
            <a:ext cx="1498600" cy="1498600"/>
          </a:xfrm>
          <a:prstGeom prst="roundRect">
            <a:avLst>
              <a:gd name="adj" fmla="val 5085"/>
            </a:avLst>
          </a:prstGeom>
        </p:spPr>
      </p:pic>
      <p:sp>
        <p:nvSpPr>
          <p:cNvPr id="10" name="Shape 3"/>
          <p:cNvSpPr/>
          <p:nvPr/>
        </p:nvSpPr>
        <p:spPr>
          <a:xfrm>
            <a:off x="9423400" y="3263900"/>
            <a:ext cx="1778000" cy="1778000"/>
          </a:xfrm>
          <a:prstGeom prst="roundRect">
            <a:avLst>
              <a:gd name="adj" fmla="val 7143"/>
            </a:avLst>
          </a:prstGeom>
          <a:solidFill>
            <a:srgbClr val="FFD5DC"/>
          </a:solidFill>
          <a:ln/>
        </p:spPr>
      </p:sp>
      <p:pic>
        <p:nvPicPr>
          <p:cNvPr id="11" name="Image 5" descr="Personaje 07, Iris Engranaje, generado por el modelo">    </p:cNvPr>
          <p:cNvPicPr>
            <a:picLocks noChangeAspect="1"/>
          </p:cNvPicPr>
          <p:nvPr/>
        </p:nvPicPr>
        <p:blipFill>
          <a:blip r:embed="rId6"/>
          <a:srcRect l="0" r="0" t="0" b="0"/>
          <a:stretch/>
        </p:blipFill>
        <p:spPr>
          <a:xfrm>
            <a:off x="9563100" y="3403600"/>
            <a:ext cx="1498600" cy="1498600"/>
          </a:xfrm>
          <a:prstGeom prst="roundRect">
            <a:avLst>
              <a:gd name="adj" fmla="val 5085"/>
            </a:avLst>
          </a:prstGeom>
        </p:spPr>
      </p:pic>
      <p:sp>
        <p:nvSpPr>
          <p:cNvPr id="12" name="Text 4"/>
          <p:cNvSpPr/>
          <p:nvPr/>
        </p:nvSpPr>
        <p:spPr>
          <a:xfrm>
            <a:off x="812800" y="812800"/>
            <a:ext cx="627888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FDFBF"/>
                </a:solidFill>
                <a:latin typeface="Arial" pitchFamily="34" charset="0"/>
                <a:ea typeface="Arial" pitchFamily="34" charset="-122"/>
                <a:cs typeface="Arial" pitchFamily="34" charset="-120"/>
              </a:rPr>
              <a:t>UNIVERSIDAD DEL VALLE DE GUATEMALA</a:t>
            </a:r>
            <a:endParaRPr lang="en-US" sz="1200" dirty="0"/>
          </a:p>
        </p:txBody>
      </p:sp>
      <p:sp>
        <p:nvSpPr>
          <p:cNvPr id="13" name="Text 5"/>
          <p:cNvSpPr/>
          <p:nvPr/>
        </p:nvSpPr>
        <p:spPr>
          <a:xfrm>
            <a:off x="812800" y="1076920"/>
            <a:ext cx="627888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CBE0"/>
                </a:solidFill>
                <a:latin typeface="Arial" pitchFamily="34" charset="0"/>
                <a:ea typeface="Arial" pitchFamily="34" charset="-122"/>
                <a:cs typeface="Arial" pitchFamily="34" charset="-120"/>
              </a:rPr>
              <a:t>Facultad de Ingeniería · Deep Learning 2026</a:t>
            </a:r>
            <a:endParaRPr lang="en-US" sz="1400" dirty="0"/>
          </a:p>
        </p:txBody>
      </p:sp>
      <p:sp>
        <p:nvSpPr>
          <p:cNvPr id="14" name="Text 6"/>
          <p:cNvSpPr/>
          <p:nvPr/>
        </p:nvSpPr>
        <p:spPr>
          <a:xfrm>
            <a:off x="812800" y="2321620"/>
            <a:ext cx="1143000" cy="314920"/>
          </a:xfrm>
          <a:prstGeom prst="roundRect">
            <a:avLst>
              <a:gd name="adj" fmla="val 16131"/>
            </a:avLst>
          </a:prstGeom>
          <a:solidFill>
            <a:srgbClr val="E8763A"/>
          </a:solidFill>
          <a:ln/>
        </p:spPr>
        <p:txBody>
          <a:bodyPr wrap="square" lIns="86721" tIns="35921" rIns="86721" bIns="10521" rtlCol="0" anchor="t">
            <a:normAutofit/>
          </a:bodyPr>
          <a:lstStyle/>
          <a:p>
            <a:pPr algn="ctr" indent="0" marL="0">
              <a:lnSpc>
                <a:spcPts val="1680"/>
              </a:lnSpc>
              <a:buNone/>
            </a:pPr>
            <a:r>
              <a:rPr lang="en-US" sz="1200" b="1" dirty="0">
                <a:solidFill>
                  <a:srgbClr val="1F2238"/>
                </a:solidFill>
                <a:latin typeface="Arial" pitchFamily="34" charset="0"/>
                <a:ea typeface="Arial" pitchFamily="34" charset="-122"/>
                <a:cs typeface="Arial" pitchFamily="34" charset="-120"/>
              </a:rPr>
              <a:t>Proyecto 2</a:t>
            </a:r>
            <a:endParaRPr lang="en-US" sz="1200" dirty="0"/>
          </a:p>
        </p:txBody>
      </p:sp>
      <p:sp>
        <p:nvSpPr>
          <p:cNvPr id="15" name="Text 7"/>
          <p:cNvSpPr/>
          <p:nvPr>
            <p:ph type="title"/>
          </p:nvPr>
        </p:nvSpPr>
        <p:spPr>
          <a:xfrm>
            <a:off x="812800" y="2763540"/>
            <a:ext cx="6278880" cy="914400"/>
          </a:xfrm>
          <a:prstGeom prst="rect">
            <a:avLst/>
          </a:prstGeom>
          <a:noFill/>
          <a:ln/>
        </p:spPr>
        <p:txBody>
          <a:bodyPr wrap="square" lIns="0" tIns="0" rIns="0" bIns="0" rtlCol="0" anchor="t">
            <a:normAutofit/>
          </a:bodyPr>
          <a:lstStyle/>
          <a:p>
            <a:pPr algn="l" indent="0" marL="0">
              <a:lnSpc>
                <a:spcPts val="7000"/>
              </a:lnSpc>
              <a:buNone/>
            </a:pPr>
            <a:r>
              <a:rPr lang="en-US" sz="7000" b="1" i="0" dirty="0">
                <a:solidFill>
                  <a:srgbClr val="F5F2EA"/>
                </a:solidFill>
                <a:latin typeface="Arial" pitchFamily="34" charset="0"/>
                <a:ea typeface="Arial" pitchFamily="34" charset="-122"/>
                <a:cs typeface="Arial" pitchFamily="34" charset="-120"/>
              </a:rPr>
              <a:t>Cubópolis</a:t>
            </a:r>
            <a:endParaRPr lang="en-US" sz="7000" dirty="0"/>
          </a:p>
        </p:txBody>
      </p:sp>
      <p:sp>
        <p:nvSpPr>
          <p:cNvPr id="16" name="Text 8"/>
          <p:cNvSpPr/>
          <p:nvPr/>
        </p:nvSpPr>
        <p:spPr>
          <a:xfrm>
            <a:off x="812800" y="3779540"/>
            <a:ext cx="6278880" cy="723900"/>
          </a:xfrm>
          <a:prstGeom prst="rect">
            <a:avLst/>
          </a:prstGeom>
          <a:noFill/>
          <a:ln/>
        </p:spPr>
        <p:txBody>
          <a:bodyPr wrap="square" lIns="0" tIns="0" rIns="0" bIns="0" rtlCol="0" anchor="t">
            <a:normAutofit/>
          </a:bodyPr>
          <a:lstStyle/>
          <a:p>
            <a:pPr algn="l" indent="0" marL="0">
              <a:lnSpc>
                <a:spcPts val="2750"/>
              </a:lnSpc>
              <a:buNone/>
            </a:pPr>
            <a:r>
              <a:rPr lang="en-US" sz="2200" dirty="0">
                <a:solidFill>
                  <a:srgbClr val="E6E7F0"/>
                </a:solidFill>
                <a:latin typeface="Arial" pitchFamily="34" charset="0"/>
                <a:ea typeface="Arial" pitchFamily="34" charset="-122"/>
                <a:cs typeface="Arial" pitchFamily="34" charset="-120"/>
              </a:rPr>
              <a:t>Diseño generativo de personajes con una DCGAN</a:t>
            </a:r>
            <a:endParaRPr lang="en-US" sz="2200" dirty="0"/>
          </a:p>
        </p:txBody>
      </p:sp>
      <p:sp>
        <p:nvSpPr>
          <p:cNvPr id="17" name="Text 9"/>
          <p:cNvSpPr/>
          <p:nvPr/>
        </p:nvSpPr>
        <p:spPr>
          <a:xfrm>
            <a:off x="812800" y="5473799"/>
            <a:ext cx="627888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5F2EA"/>
                </a:solidFill>
                <a:latin typeface="Arial" pitchFamily="34" charset="0"/>
                <a:ea typeface="Arial" pitchFamily="34" charset="-122"/>
                <a:cs typeface="Arial" pitchFamily="34" charset="-120"/>
              </a:rPr>
              <a:t>Diego José López Campos</a:t>
            </a:r>
            <a:endParaRPr lang="en-US" sz="1600" dirty="0"/>
          </a:p>
        </p:txBody>
      </p:sp>
      <p:sp>
        <p:nvSpPr>
          <p:cNvPr id="18" name="Text 10"/>
          <p:cNvSpPr/>
          <p:nvPr/>
        </p:nvSpPr>
        <p:spPr>
          <a:xfrm>
            <a:off x="812800" y="5796359"/>
            <a:ext cx="627888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CBE0"/>
                </a:solidFill>
                <a:latin typeface="Arial" pitchFamily="34" charset="0"/>
                <a:ea typeface="Arial" pitchFamily="34" charset="-122"/>
                <a:cs typeface="Arial" pitchFamily="34" charset="-120"/>
              </a:rPr>
              <a:t>Carné 23242 · Catedrático: Kevin Recinos · Octubre de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2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9501F"/>
                </a:solidFill>
                <a:latin typeface="Arial" pitchFamily="34" charset="0"/>
                <a:ea typeface="Arial" pitchFamily="34" charset="-122"/>
                <a:cs typeface="Arial" pitchFamily="34" charset="-120"/>
              </a:rPr>
              <a:t>01 · UNIVERSO Y DATOS</a:t>
            </a:r>
            <a:endParaRPr lang="en-US" sz="1200" dirty="0"/>
          </a:p>
        </p:txBody>
      </p:sp>
      <p:sp>
        <p:nvSpPr>
          <p:cNvPr id="3" name="Text 1"/>
          <p:cNvSpPr/>
          <p:nvPr>
            <p:ph type="title"/>
          </p:nvPr>
        </p:nvSpPr>
        <p:spPr>
          <a:xfrm>
            <a:off x="812800" y="10769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F2238"/>
                </a:solidFill>
                <a:latin typeface="Arial" pitchFamily="34" charset="0"/>
                <a:ea typeface="Arial" pitchFamily="34" charset="-122"/>
                <a:cs typeface="Arial" pitchFamily="34" charset="-120"/>
              </a:rPr>
              <a:t>Cubópolis: una ciudad hecha de bloques</a:t>
            </a:r>
            <a:endParaRPr lang="en-US" sz="3000" dirty="0"/>
          </a:p>
        </p:txBody>
      </p:sp>
      <p:sp>
        <p:nvSpPr>
          <p:cNvPr id="4" name="Text 2"/>
          <p:cNvSpPr/>
          <p:nvPr/>
        </p:nvSpPr>
        <p:spPr>
          <a:xfrm>
            <a:off x="812800" y="1673820"/>
            <a:ext cx="4709160" cy="223520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3A3D57"/>
                </a:solidFill>
                <a:latin typeface="Arial" pitchFamily="34" charset="0"/>
                <a:ea typeface="Arial" pitchFamily="34" charset="-122"/>
                <a:cs typeface="Arial" pitchFamily="34" charset="-120"/>
              </a:rPr>
              <a:t>Cubópolis es una ciudad construida enteramente con bloques, y sus habitantes también. Son personajes pequeños y de proporciones exageradas que no se distinguen por poderes ni armas, sino por su apariencia: el peinado o el sombrero, los lentes, el tono de piel y la ropa. En una ciudad donde todos comparten la misma forma, esos detalles son su identidad.</a:t>
            </a:r>
            <a:endParaRPr lang="en-US" sz="1500" dirty="0"/>
          </a:p>
        </p:txBody>
      </p:sp>
      <p:sp>
        <p:nvSpPr>
          <p:cNvPr id="5" name="Shape 3"/>
          <p:cNvSpPr/>
          <p:nvPr/>
        </p:nvSpPr>
        <p:spPr>
          <a:xfrm>
            <a:off x="812800" y="4061420"/>
            <a:ext cx="4572000" cy="1378942"/>
          </a:xfrm>
          <a:prstGeom prst="roundRect">
            <a:avLst>
              <a:gd name="adj" fmla="val 7368"/>
            </a:avLst>
          </a:prstGeom>
          <a:solidFill>
            <a:srgbClr val="1F2238"/>
          </a:solidFill>
          <a:ln/>
        </p:spPr>
      </p:sp>
      <p:sp>
        <p:nvSpPr>
          <p:cNvPr id="6" name="Text 4"/>
          <p:cNvSpPr/>
          <p:nvPr/>
        </p:nvSpPr>
        <p:spPr>
          <a:xfrm>
            <a:off x="1016000" y="4239220"/>
            <a:ext cx="429056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FDFBF"/>
                </a:solidFill>
                <a:latin typeface="Arial" pitchFamily="34" charset="0"/>
                <a:ea typeface="Arial" pitchFamily="34" charset="-122"/>
                <a:cs typeface="Arial" pitchFamily="34" charset="-120"/>
              </a:rPr>
              <a:t>CON ESTO SE JUZGA LA GALERÍA</a:t>
            </a:r>
            <a:endParaRPr lang="en-US" sz="1200" dirty="0"/>
          </a:p>
        </p:txBody>
      </p:sp>
      <p:sp>
        <p:nvSpPr>
          <p:cNvPr id="7" name="Text 5"/>
          <p:cNvSpPr/>
          <p:nvPr/>
        </p:nvSpPr>
        <p:spPr>
          <a:xfrm>
            <a:off x="1016000" y="4516041"/>
            <a:ext cx="4290568"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5F2EA"/>
                </a:solidFill>
                <a:latin typeface="Arial" pitchFamily="34" charset="0"/>
                <a:ea typeface="Arial" pitchFamily="34" charset="-122"/>
                <a:cs typeface="Arial" pitchFamily="34" charset="-120"/>
              </a:rPr>
              <a:t>Habitantes de bloque de cuerpo completo, con cara reconocible, rasgos propios y ninguno copiado de un habitante que ya existe.</a:t>
            </a:r>
            <a:endParaRPr lang="en-US" sz="1400" dirty="0"/>
          </a:p>
        </p:txBody>
      </p:sp>
      <p:pic>
        <p:nvPicPr>
          <p:cNvPr id="8" name="Image 0" descr="Treinta imágenes de entrenamiento del estilo Voxel Art">    </p:cNvPr>
          <p:cNvPicPr>
            <a:picLocks noChangeAspect="1"/>
          </p:cNvPicPr>
          <p:nvPr/>
        </p:nvPicPr>
        <p:blipFill>
          <a:blip r:embed="rId1"/>
          <a:srcRect l="-51" r="-51" t="0" b="0"/>
          <a:stretch/>
        </p:blipFill>
        <p:spPr>
          <a:xfrm>
            <a:off x="5740400" y="1673820"/>
            <a:ext cx="5638800" cy="1746250"/>
          </a:xfrm>
          <a:prstGeom prst="roundRect">
            <a:avLst>
              <a:gd name="adj" fmla="val 4364"/>
            </a:avLst>
          </a:prstGeom>
        </p:spPr>
      </p:pic>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753100" y="3585170"/>
          <a:ext cx="5626100" cy="1995487"/>
        </p:xfrm>
        <a:graphic>
          <a:graphicData uri="http://schemas.openxmlformats.org/drawingml/2006/table">
            <a:tbl>
              <a:tblPr/>
              <a:tblGrid>
                <a:gridCol w="1462786"/>
                <a:gridCol w="4163314"/>
              </a:tblGrid>
              <a:tr h="332581">
                <a:tc>
                  <a:txBody>
                    <a:bodyPr/>
                    <a:lstStyle/>
                    <a:p>
                      <a:pPr indent="0" marL="0">
                        <a:lnSpc>
                          <a:spcPts val="1680"/>
                        </a:lnSpc>
                        <a:buNone/>
                      </a:pPr>
                      <a:r>
                        <a:rPr lang="en-US" sz="1200" b="1" dirty="0">
                          <a:solidFill>
                            <a:srgbClr val="1F2238"/>
                          </a:solidFill>
                          <a:latin typeface="Arial" pitchFamily="34" charset="0"/>
                          <a:ea typeface="Arial" pitchFamily="34" charset="-122"/>
                          <a:cs typeface="Arial" pitchFamily="34" charset="-120"/>
                        </a:rPr>
                        <a:t>Dato</a:t>
                      </a:r>
                      <a:endParaRPr lang="en-US" sz="1200" dirty="0">
                        <a:latin typeface="Arial" charset="0"/>
                        <a:ea typeface="Arial" charset="0"/>
                        <a:cs typeface="Arial" charset="0"/>
                      </a:endParaRPr>
                    </a:p>
                  </a:txBody>
                  <a:tcPr marL="53340" marR="53340" marT="53340" marB="53340" anchor="t">
                    <a:lnL w="12700" cap="flat" cmpd="sng" algn="ctr">
                      <a:solidFill>
                        <a:srgbClr val="C4C1BB"/>
                      </a:solidFill>
                      <a:prstDash val="solid"/>
                      <a:round/>
                      <a:headEnd type="none" w="med" len="med"/>
                      <a:tailEnd type="none" w="med" len="med"/>
                    </a:lnL>
                    <a:lnR w="12700" cap="flat" cmpd="sng" algn="ctr">
                      <a:solidFill>
                        <a:srgbClr val="B5B3AD"/>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B5B3AD"/>
                      </a:solidFill>
                      <a:prstDash val="solid"/>
                      <a:round/>
                      <a:headEnd type="none" w="med" len="med"/>
                      <a:tailEnd type="none" w="med" len="med"/>
                    </a:lnB>
                    <a:solidFill>
                      <a:srgbClr val="E3E0D9"/>
                    </a:solidFill>
                  </a:tcPr>
                </a:tc>
                <a:tc>
                  <a:txBody>
                    <a:bodyPr/>
                    <a:lstStyle/>
                    <a:p>
                      <a:pPr indent="0" marL="0">
                        <a:lnSpc>
                          <a:spcPts val="1680"/>
                        </a:lnSpc>
                        <a:buNone/>
                      </a:pPr>
                      <a:r>
                        <a:rPr lang="en-US" sz="1200" b="1" dirty="0">
                          <a:solidFill>
                            <a:srgbClr val="1F2238"/>
                          </a:solidFill>
                          <a:latin typeface="Arial" pitchFamily="34" charset="0"/>
                          <a:ea typeface="Arial" pitchFamily="34" charset="-122"/>
                          <a:cs typeface="Arial" pitchFamily="34" charset="-120"/>
                        </a:rPr>
                        <a:t>Detalle</a:t>
                      </a:r>
                      <a:endParaRPr lang="en-US" sz="1200" dirty="0">
                        <a:latin typeface="Arial" charset="0"/>
                        <a:ea typeface="Arial" charset="0"/>
                        <a:cs typeface="Arial" charset="0"/>
                      </a:endParaRPr>
                    </a:p>
                  </a:txBody>
                  <a:tcPr marL="53340" marR="53340" marT="53340" marB="53340" anchor="t">
                    <a:lnL w="12700" cap="flat" cmpd="sng" algn="ctr">
                      <a:solidFill>
                        <a:srgbClr val="B5B3AD"/>
                      </a:solidFill>
                      <a:prstDash val="solid"/>
                      <a:round/>
                      <a:headEnd type="none" w="med" len="med"/>
                      <a:tailEnd type="none" w="med" len="med"/>
                    </a:lnL>
                    <a:lnR w="12700" cap="flat" cmpd="sng" algn="ctr">
                      <a:solidFill>
                        <a:srgbClr val="B5B3AD"/>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B5B3AD"/>
                      </a:solidFill>
                      <a:prstDash val="solid"/>
                      <a:round/>
                      <a:headEnd type="none" w="med" len="med"/>
                      <a:tailEnd type="none" w="med" len="med"/>
                    </a:lnB>
                    <a:solidFill>
                      <a:srgbClr val="E3E0D9"/>
                    </a:solidFill>
                  </a:tcPr>
                </a:tc>
              </a:tr>
              <a:tr h="332581">
                <a:tc>
                  <a:txBody>
                    <a:bodyPr/>
                    <a:lstStyle/>
                    <a:p>
                      <a:pPr indent="0" marL="0">
                        <a:lnSpc>
                          <a:spcPts val="1680"/>
                        </a:lnSpc>
                        <a:buNone/>
                      </a:pPr>
                      <a:r>
                        <a:rPr lang="en-US" sz="1200" dirty="0">
                          <a:solidFill>
                            <a:srgbClr val="1F2238"/>
                          </a:solidFill>
                          <a:latin typeface="Arial" pitchFamily="34" charset="0"/>
                          <a:ea typeface="Arial" pitchFamily="34" charset="-122"/>
                          <a:cs typeface="Arial" pitchFamily="34" charset="-120"/>
                        </a:rPr>
                        <a:t>Origen</a:t>
                      </a:r>
                      <a:endParaRPr lang="en-US" sz="1200" dirty="0">
                        <a:latin typeface="Arial" charset="0"/>
                        <a:ea typeface="Arial" charset="0"/>
                        <a:cs typeface="Arial" charset="0"/>
                      </a:endParaRPr>
                    </a:p>
                  </a:txBody>
                  <a:tcPr marL="53340" marR="53340" marT="53340" marB="53340"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B5B3AD"/>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indent="0" marL="0">
                        <a:lnSpc>
                          <a:spcPts val="1680"/>
                        </a:lnSpc>
                        <a:buNone/>
                      </a:pPr>
                      <a:r>
                        <a:rPr lang="en-US" sz="1200" dirty="0">
                          <a:solidFill>
                            <a:srgbClr val="1F2238"/>
                          </a:solidFill>
                          <a:latin typeface="Arial" pitchFamily="34" charset="0"/>
                          <a:ea typeface="Arial" pitchFamily="34" charset="-122"/>
                          <a:cs typeface="Arial" pitchFamily="34" charset="-120"/>
                        </a:rPr>
                        <a:t>Estilo “Voxel Art” del generador de avatares DiceBear</a:t>
                      </a:r>
                      <a:endParaRPr lang="en-US" sz="1200" dirty="0">
                        <a:latin typeface="Arial" charset="0"/>
                        <a:ea typeface="Arial" charset="0"/>
                        <a:cs typeface="Arial" charset="0"/>
                      </a:endParaRPr>
                    </a:p>
                  </a:txBody>
                  <a:tcPr marL="53340" marR="53340" marT="53340" marB="53340"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B5B3AD"/>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r>
              <a:tr h="332581">
                <a:tc>
                  <a:txBody>
                    <a:bodyPr/>
                    <a:lstStyle/>
                    <a:p>
                      <a:pPr indent="0" marL="0">
                        <a:lnSpc>
                          <a:spcPts val="1680"/>
                        </a:lnSpc>
                        <a:buNone/>
                      </a:pPr>
                      <a:r>
                        <a:rPr lang="en-US" sz="1200" dirty="0">
                          <a:solidFill>
                            <a:srgbClr val="1F2238"/>
                          </a:solidFill>
                          <a:latin typeface="Arial" pitchFamily="34" charset="0"/>
                          <a:ea typeface="Arial" pitchFamily="34" charset="-122"/>
                          <a:cs typeface="Arial" pitchFamily="34" charset="-120"/>
                        </a:rPr>
                        <a:t>Permiso</a:t>
                      </a:r>
                      <a:endParaRPr lang="en-US" sz="1200" dirty="0">
                        <a:latin typeface="Arial" charset="0"/>
                        <a:ea typeface="Arial" charset="0"/>
                        <a:cs typeface="Arial" charset="0"/>
                      </a:endParaRPr>
                    </a:p>
                  </a:txBody>
                  <a:tcPr marL="53340" marR="53340" marT="53340" marB="53340"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indent="0" marL="0">
                        <a:lnSpc>
                          <a:spcPts val="1680"/>
                        </a:lnSpc>
                        <a:buNone/>
                      </a:pPr>
                      <a:r>
                        <a:rPr lang="en-US" sz="1200" dirty="0">
                          <a:solidFill>
                            <a:srgbClr val="1F2238"/>
                          </a:solidFill>
                          <a:latin typeface="Arial" pitchFamily="34" charset="0"/>
                          <a:ea typeface="Arial" pitchFamily="34" charset="-122"/>
                          <a:cs typeface="Arial" pitchFamily="34" charset="-120"/>
                        </a:rPr>
                        <a:t>Licencia CC0: dominio público, uso libre</a:t>
                      </a:r>
                      <a:endParaRPr lang="en-US" sz="1200" dirty="0">
                        <a:latin typeface="Arial" charset="0"/>
                        <a:ea typeface="Arial" charset="0"/>
                        <a:cs typeface="Arial" charset="0"/>
                      </a:endParaRPr>
                    </a:p>
                  </a:txBody>
                  <a:tcPr marL="53340" marR="53340" marT="53340" marB="53340"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r>
              <a:tr h="332581">
                <a:tc>
                  <a:txBody>
                    <a:bodyPr/>
                    <a:lstStyle/>
                    <a:p>
                      <a:pPr indent="0" marL="0">
                        <a:lnSpc>
                          <a:spcPts val="1680"/>
                        </a:lnSpc>
                        <a:buNone/>
                      </a:pPr>
                      <a:r>
                        <a:rPr lang="en-US" sz="1200" dirty="0">
                          <a:solidFill>
                            <a:srgbClr val="1F2238"/>
                          </a:solidFill>
                          <a:latin typeface="Arial" pitchFamily="34" charset="0"/>
                          <a:ea typeface="Arial" pitchFamily="34" charset="-122"/>
                          <a:cs typeface="Arial" pitchFamily="34" charset="-120"/>
                        </a:rPr>
                        <a:t>Cantidad</a:t>
                      </a:r>
                      <a:endParaRPr lang="en-US" sz="1200" dirty="0">
                        <a:latin typeface="Arial" charset="0"/>
                        <a:ea typeface="Arial" charset="0"/>
                        <a:cs typeface="Arial" charset="0"/>
                      </a:endParaRPr>
                    </a:p>
                  </a:txBody>
                  <a:tcPr marL="53340" marR="53340" marT="53340" marB="53340"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indent="0" marL="0">
                        <a:lnSpc>
                          <a:spcPts val="1680"/>
                        </a:lnSpc>
                        <a:buNone/>
                      </a:pPr>
                      <a:r>
                        <a:rPr lang="en-US" sz="1200" dirty="0">
                          <a:solidFill>
                            <a:srgbClr val="1F2238"/>
                          </a:solidFill>
                          <a:latin typeface="Arial" pitchFamily="34" charset="0"/>
                          <a:ea typeface="Arial" pitchFamily="34" charset="-122"/>
                          <a:cs typeface="Arial" pitchFamily="34" charset="-120"/>
                        </a:rPr>
                        <a:t>5,000 imágenes distintas, siempre las mismas</a:t>
                      </a:r>
                      <a:endParaRPr lang="en-US" sz="1200" dirty="0">
                        <a:latin typeface="Arial" charset="0"/>
                        <a:ea typeface="Arial" charset="0"/>
                        <a:cs typeface="Arial" charset="0"/>
                      </a:endParaRPr>
                    </a:p>
                  </a:txBody>
                  <a:tcPr marL="53340" marR="53340" marT="53340" marB="53340"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r>
              <a:tr h="332581">
                <a:tc>
                  <a:txBody>
                    <a:bodyPr/>
                    <a:lstStyle/>
                    <a:p>
                      <a:pPr indent="0" marL="0">
                        <a:lnSpc>
                          <a:spcPts val="1680"/>
                        </a:lnSpc>
                        <a:buNone/>
                      </a:pPr>
                      <a:r>
                        <a:rPr lang="en-US" sz="1200" dirty="0">
                          <a:solidFill>
                            <a:srgbClr val="1F2238"/>
                          </a:solidFill>
                          <a:latin typeface="Arial" pitchFamily="34" charset="0"/>
                          <a:ea typeface="Arial" pitchFamily="34" charset="-122"/>
                          <a:cs typeface="Arial" pitchFamily="34" charset="-120"/>
                        </a:rPr>
                        <a:t>Tamaño</a:t>
                      </a:r>
                      <a:endParaRPr lang="en-US" sz="1200" dirty="0">
                        <a:latin typeface="Arial" charset="0"/>
                        <a:ea typeface="Arial" charset="0"/>
                        <a:cs typeface="Arial" charset="0"/>
                      </a:endParaRPr>
                    </a:p>
                  </a:txBody>
                  <a:tcPr marL="53340" marR="53340" marT="53340" marB="53340"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indent="0" marL="0">
                        <a:lnSpc>
                          <a:spcPts val="1680"/>
                        </a:lnSpc>
                        <a:buNone/>
                      </a:pPr>
                      <a:r>
                        <a:rPr lang="en-US" sz="1200" dirty="0">
                          <a:solidFill>
                            <a:srgbClr val="1F2238"/>
                          </a:solidFill>
                          <a:latin typeface="Arial" pitchFamily="34" charset="0"/>
                          <a:ea typeface="Arial" pitchFamily="34" charset="-122"/>
                          <a:cs typeface="Arial" pitchFamily="34" charset="-120"/>
                        </a:rPr>
                        <a:t>64 × 64 píxeles, a color</a:t>
                      </a:r>
                      <a:endParaRPr lang="en-US" sz="1200" dirty="0">
                        <a:latin typeface="Arial" charset="0"/>
                        <a:ea typeface="Arial" charset="0"/>
                        <a:cs typeface="Arial" charset="0"/>
                      </a:endParaRPr>
                    </a:p>
                  </a:txBody>
                  <a:tcPr marL="53340" marR="53340" marT="53340" marB="53340"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r>
              <a:tr h="332581">
                <a:tc>
                  <a:txBody>
                    <a:bodyPr/>
                    <a:lstStyle/>
                    <a:p>
                      <a:pPr indent="0" marL="0">
                        <a:lnSpc>
                          <a:spcPts val="1680"/>
                        </a:lnSpc>
                        <a:buNone/>
                      </a:pPr>
                      <a:r>
                        <a:rPr lang="en-US" sz="1200" dirty="0">
                          <a:solidFill>
                            <a:srgbClr val="1F2238"/>
                          </a:solidFill>
                          <a:latin typeface="Arial" pitchFamily="34" charset="0"/>
                          <a:ea typeface="Arial" pitchFamily="34" charset="-122"/>
                          <a:cs typeface="Arial" pitchFamily="34" charset="-120"/>
                        </a:rPr>
                        <a:t>Preparación</a:t>
                      </a:r>
                      <a:endParaRPr lang="en-US" sz="1200" dirty="0">
                        <a:latin typeface="Arial" charset="0"/>
                        <a:ea typeface="Arial" charset="0"/>
                        <a:cs typeface="Arial" charset="0"/>
                      </a:endParaRPr>
                    </a:p>
                  </a:txBody>
                  <a:tcPr marL="53340" marR="53340" marT="53340" marB="53340"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indent="0" marL="0">
                        <a:lnSpc>
                          <a:spcPts val="1680"/>
                        </a:lnSpc>
                        <a:buNone/>
                      </a:pPr>
                      <a:r>
                        <a:rPr lang="en-US" sz="1200" dirty="0">
                          <a:solidFill>
                            <a:srgbClr val="1F2238"/>
                          </a:solidFill>
                          <a:latin typeface="Arial" pitchFamily="34" charset="0"/>
                          <a:ea typeface="Arial" pitchFamily="34" charset="-122"/>
                          <a:cs typeface="Arial" pitchFamily="34" charset="-120"/>
                        </a:rPr>
                        <a:t>Fondo de un solo color; sin voltear ni alterar</a:t>
                      </a:r>
                      <a:endParaRPr lang="en-US" sz="1200" dirty="0">
                        <a:latin typeface="Arial" charset="0"/>
                        <a:ea typeface="Arial" charset="0"/>
                        <a:cs typeface="Arial" charset="0"/>
                      </a:endParaRPr>
                    </a:p>
                  </a:txBody>
                  <a:tcPr marL="53340" marR="53340" marT="53340" marB="53340"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r>
            </a:tbl>
          </a:graphicData>
        </a:graphic>
      </p:graphicFrame>
      <p:sp>
        <p:nvSpPr>
          <p:cNvPr id="10" name="Text 6"/>
          <p:cNvSpPr/>
          <p:nvPr/>
        </p:nvSpPr>
        <p:spPr>
          <a:xfrm>
            <a:off x="812800" y="6281440"/>
            <a:ext cx="18501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E69"/>
                </a:solidFill>
                <a:latin typeface="Arial" pitchFamily="34" charset="0"/>
                <a:ea typeface="Arial" pitchFamily="34" charset="-122"/>
                <a:cs typeface="Arial" pitchFamily="34" charset="-120"/>
              </a:rPr>
              <a:t>Cubópolis · Proyecto 2</a:t>
            </a:r>
            <a:endParaRPr lang="en-US" sz="1200" dirty="0"/>
          </a:p>
        </p:txBody>
      </p:sp>
      <p:sp>
        <p:nvSpPr>
          <p:cNvPr id="11" name="Shape 7"/>
          <p:cNvSpPr/>
          <p:nvPr/>
        </p:nvSpPr>
        <p:spPr>
          <a:xfrm>
            <a:off x="4190504" y="6330950"/>
            <a:ext cx="114300" cy="114300"/>
          </a:xfrm>
          <a:prstGeom prst="rect">
            <a:avLst/>
          </a:prstGeom>
          <a:solidFill>
            <a:srgbClr val="1F2238"/>
          </a:solidFill>
          <a:ln/>
        </p:spPr>
      </p:sp>
      <p:sp>
        <p:nvSpPr>
          <p:cNvPr id="12" name="Text 8"/>
          <p:cNvSpPr/>
          <p:nvPr/>
        </p:nvSpPr>
        <p:spPr>
          <a:xfrm>
            <a:off x="4355604" y="6281440"/>
            <a:ext cx="77916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2238"/>
                </a:solidFill>
                <a:latin typeface="Arial" pitchFamily="34" charset="0"/>
                <a:ea typeface="Arial" pitchFamily="34" charset="-122"/>
                <a:cs typeface="Arial" pitchFamily="34" charset="-120"/>
              </a:rPr>
              <a:t>Universo</a:t>
            </a:r>
            <a:endParaRPr lang="en-US" sz="1200" dirty="0"/>
          </a:p>
        </p:txBody>
      </p:sp>
      <p:sp>
        <p:nvSpPr>
          <p:cNvPr id="13" name="Shape 9"/>
          <p:cNvSpPr/>
          <p:nvPr/>
        </p:nvSpPr>
        <p:spPr>
          <a:xfrm>
            <a:off x="5141119" y="6337300"/>
            <a:ext cx="101600" cy="101600"/>
          </a:xfrm>
          <a:prstGeom prst="rect">
            <a:avLst/>
          </a:prstGeom>
          <a:noFill/>
          <a:ln w="12700">
            <a:solidFill>
              <a:srgbClr val="6B6E85"/>
            </a:solidFill>
            <a:prstDash val="solid"/>
          </a:ln>
        </p:spPr>
      </p:sp>
      <p:sp>
        <p:nvSpPr>
          <p:cNvPr id="14" name="Text 10"/>
          <p:cNvSpPr/>
          <p:nvPr/>
        </p:nvSpPr>
        <p:spPr>
          <a:xfrm>
            <a:off x="5299869" y="6281440"/>
            <a:ext cx="59983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E85"/>
                </a:solidFill>
                <a:latin typeface="Arial" pitchFamily="34" charset="0"/>
                <a:ea typeface="Arial" pitchFamily="34" charset="-122"/>
                <a:cs typeface="Arial" pitchFamily="34" charset="-120"/>
              </a:rPr>
              <a:t>Modelo</a:t>
            </a:r>
            <a:endParaRPr lang="en-US" sz="1200" dirty="0"/>
          </a:p>
        </p:txBody>
      </p:sp>
      <p:sp>
        <p:nvSpPr>
          <p:cNvPr id="15" name="Shape 11"/>
          <p:cNvSpPr/>
          <p:nvPr/>
        </p:nvSpPr>
        <p:spPr>
          <a:xfrm>
            <a:off x="5933083" y="6337300"/>
            <a:ext cx="101600" cy="101600"/>
          </a:xfrm>
          <a:prstGeom prst="rect">
            <a:avLst/>
          </a:prstGeom>
          <a:noFill/>
          <a:ln w="12700">
            <a:solidFill>
              <a:srgbClr val="6B6E85"/>
            </a:solidFill>
            <a:prstDash val="solid"/>
          </a:ln>
        </p:spPr>
      </p:sp>
      <p:sp>
        <p:nvSpPr>
          <p:cNvPr id="16" name="Text 12"/>
          <p:cNvSpPr/>
          <p:nvPr/>
        </p:nvSpPr>
        <p:spPr>
          <a:xfrm>
            <a:off x="6091833" y="6281440"/>
            <a:ext cx="41683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E85"/>
                </a:solidFill>
                <a:latin typeface="Arial" pitchFamily="34" charset="0"/>
                <a:ea typeface="Arial" pitchFamily="34" charset="-122"/>
                <a:cs typeface="Arial" pitchFamily="34" charset="-120"/>
              </a:rPr>
              <a:t>Base</a:t>
            </a:r>
            <a:endParaRPr lang="en-US" sz="1200" dirty="0"/>
          </a:p>
        </p:txBody>
      </p:sp>
      <p:sp>
        <p:nvSpPr>
          <p:cNvPr id="17" name="Shape 13"/>
          <p:cNvSpPr/>
          <p:nvPr/>
        </p:nvSpPr>
        <p:spPr>
          <a:xfrm>
            <a:off x="6572548" y="6337300"/>
            <a:ext cx="101600" cy="101600"/>
          </a:xfrm>
          <a:prstGeom prst="rect">
            <a:avLst/>
          </a:prstGeom>
          <a:noFill/>
          <a:ln w="12700">
            <a:solidFill>
              <a:srgbClr val="6B6E85"/>
            </a:solidFill>
            <a:prstDash val="solid"/>
          </a:ln>
        </p:spPr>
      </p:sp>
      <p:sp>
        <p:nvSpPr>
          <p:cNvPr id="18" name="Text 14"/>
          <p:cNvSpPr/>
          <p:nvPr/>
        </p:nvSpPr>
        <p:spPr>
          <a:xfrm>
            <a:off x="6731298" y="6281440"/>
            <a:ext cx="105876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E85"/>
                </a:solidFill>
                <a:latin typeface="Arial" pitchFamily="34" charset="0"/>
                <a:ea typeface="Arial" pitchFamily="34" charset="-122"/>
                <a:cs typeface="Arial" pitchFamily="34" charset="-120"/>
              </a:rPr>
              <a:t>Experimentos</a:t>
            </a:r>
            <a:endParaRPr lang="en-US" sz="1200" dirty="0"/>
          </a:p>
        </p:txBody>
      </p:sp>
      <p:sp>
        <p:nvSpPr>
          <p:cNvPr id="19" name="Shape 15"/>
          <p:cNvSpPr/>
          <p:nvPr/>
        </p:nvSpPr>
        <p:spPr>
          <a:xfrm>
            <a:off x="7796411" y="6337300"/>
            <a:ext cx="101600" cy="101600"/>
          </a:xfrm>
          <a:prstGeom prst="rect">
            <a:avLst/>
          </a:prstGeom>
          <a:noFill/>
          <a:ln w="12700">
            <a:solidFill>
              <a:srgbClr val="6B6E85"/>
            </a:solidFill>
            <a:prstDash val="solid"/>
          </a:ln>
        </p:spPr>
      </p:sp>
      <p:sp>
        <p:nvSpPr>
          <p:cNvPr id="20" name="Text 16"/>
          <p:cNvSpPr/>
          <p:nvPr/>
        </p:nvSpPr>
        <p:spPr>
          <a:xfrm>
            <a:off x="7955161" y="6281440"/>
            <a:ext cx="5997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E85"/>
                </a:solidFill>
                <a:latin typeface="Arial" pitchFamily="34" charset="0"/>
                <a:ea typeface="Arial" pitchFamily="34" charset="-122"/>
                <a:cs typeface="Arial" pitchFamily="34" charset="-120"/>
              </a:rPr>
              <a:t>Galería</a:t>
            </a:r>
            <a:endParaRPr lang="en-US" sz="1200" dirty="0"/>
          </a:p>
        </p:txBody>
      </p:sp>
      <p:sp>
        <p:nvSpPr>
          <p:cNvPr id="21" name="Shape 17"/>
          <p:cNvSpPr/>
          <p:nvPr/>
        </p:nvSpPr>
        <p:spPr>
          <a:xfrm>
            <a:off x="8588276" y="6337300"/>
            <a:ext cx="101600" cy="101600"/>
          </a:xfrm>
          <a:prstGeom prst="rect">
            <a:avLst/>
          </a:prstGeom>
          <a:noFill/>
          <a:ln w="12700">
            <a:solidFill>
              <a:srgbClr val="6B6E85"/>
            </a:solidFill>
            <a:prstDash val="solid"/>
          </a:ln>
        </p:spPr>
      </p:sp>
      <p:sp>
        <p:nvSpPr>
          <p:cNvPr id="22" name="Text 18"/>
          <p:cNvSpPr/>
          <p:nvPr/>
        </p:nvSpPr>
        <p:spPr>
          <a:xfrm>
            <a:off x="8747026" y="6281440"/>
            <a:ext cx="49791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E85"/>
                </a:solidFill>
                <a:latin typeface="Arial" pitchFamily="34" charset="0"/>
                <a:ea typeface="Arial" pitchFamily="34" charset="-122"/>
                <a:cs typeface="Arial" pitchFamily="34" charset="-120"/>
              </a:rPr>
              <a:t>Cierre</a:t>
            </a:r>
            <a:endParaRPr lang="en-US" sz="1200" dirty="0"/>
          </a:p>
        </p:txBody>
      </p:sp>
      <p:sp>
        <p:nvSpPr>
          <p:cNvPr id="23" name="Text 19"/>
          <p:cNvSpPr/>
          <p:nvPr/>
        </p:nvSpPr>
        <p:spPr>
          <a:xfrm>
            <a:off x="10921643" y="6281440"/>
            <a:ext cx="457557"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4E69"/>
                </a:solidFill>
                <a:latin typeface="Arial" pitchFamily="34" charset="0"/>
                <a:ea typeface="Arial" pitchFamily="34" charset="-122"/>
                <a:cs typeface="Arial" pitchFamily="34" charset="-120"/>
              </a:rPr>
              <a:t>2 / 12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8EE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9501F"/>
                </a:solidFill>
                <a:latin typeface="Arial" pitchFamily="34" charset="0"/>
                <a:ea typeface="Arial" pitchFamily="34" charset="-122"/>
                <a:cs typeface="Arial" pitchFamily="34" charset="-120"/>
              </a:rPr>
              <a:t>02 · EL MODELO: DCGAN</a:t>
            </a:r>
            <a:endParaRPr lang="en-US" sz="1200" dirty="0"/>
          </a:p>
        </p:txBody>
      </p:sp>
      <p:sp>
        <p:nvSpPr>
          <p:cNvPr id="3" name="Text 1"/>
          <p:cNvSpPr/>
          <p:nvPr>
            <p:ph type="title"/>
          </p:nvPr>
        </p:nvSpPr>
        <p:spPr>
          <a:xfrm>
            <a:off x="812800" y="10769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F2238"/>
                </a:solidFill>
                <a:latin typeface="Arial" pitchFamily="34" charset="0"/>
                <a:ea typeface="Arial" pitchFamily="34" charset="-122"/>
                <a:cs typeface="Arial" pitchFamily="34" charset="-120"/>
              </a:rPr>
              <a:t>Un falsificador contra un policía</a:t>
            </a:r>
            <a:endParaRPr lang="en-US" sz="3000" dirty="0"/>
          </a:p>
        </p:txBody>
      </p:sp>
      <p:sp>
        <p:nvSpPr>
          <p:cNvPr id="4" name="Shape 2"/>
          <p:cNvSpPr/>
          <p:nvPr/>
        </p:nvSpPr>
        <p:spPr>
          <a:xfrm>
            <a:off x="819150" y="1789311"/>
            <a:ext cx="1651000" cy="1434802"/>
          </a:xfrm>
          <a:prstGeom prst="roundRect">
            <a:avLst>
              <a:gd name="adj" fmla="val 6639"/>
            </a:avLst>
          </a:prstGeom>
          <a:solidFill>
            <a:srgbClr val="FBFBF8"/>
          </a:solidFill>
          <a:ln w="12700">
            <a:solidFill>
              <a:srgbClr val="C9D3E3"/>
            </a:solidFill>
            <a:prstDash val="solid"/>
          </a:ln>
        </p:spPr>
      </p:sp>
      <p:sp>
        <p:nvSpPr>
          <p:cNvPr id="5" name="Text 3"/>
          <p:cNvSpPr/>
          <p:nvPr/>
        </p:nvSpPr>
        <p:spPr>
          <a:xfrm>
            <a:off x="977900" y="1948061"/>
            <a:ext cx="138430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F2238"/>
                </a:solidFill>
                <a:latin typeface="Arial" pitchFamily="34" charset="0"/>
                <a:ea typeface="Arial" pitchFamily="34" charset="-122"/>
                <a:cs typeface="Arial" pitchFamily="34" charset="-120"/>
              </a:rPr>
              <a:t>Ruido</a:t>
            </a:r>
            <a:endParaRPr lang="en-US" sz="1600" dirty="0"/>
          </a:p>
        </p:txBody>
      </p:sp>
      <p:sp>
        <p:nvSpPr>
          <p:cNvPr id="6" name="Text 4"/>
          <p:cNvSpPr/>
          <p:nvPr/>
        </p:nvSpPr>
        <p:spPr>
          <a:xfrm>
            <a:off x="977900" y="2242641"/>
            <a:ext cx="1384300" cy="848122"/>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A3D57"/>
                </a:solidFill>
                <a:latin typeface="Arial" pitchFamily="34" charset="0"/>
                <a:ea typeface="Arial" pitchFamily="34" charset="-122"/>
                <a:cs typeface="Arial" pitchFamily="34" charset="-120"/>
              </a:rPr>
              <a:t>100 números al azar: el punto de partida de cada personaje</a:t>
            </a:r>
            <a:endParaRPr lang="en-US" sz="1200" dirty="0"/>
          </a:p>
        </p:txBody>
      </p:sp>
      <p:pic>
        <p:nvPicPr>
          <p:cNvPr id="7" name="Image 0" descr="connector">    </p:cNvPr>
          <p:cNvPicPr>
            <a:picLocks noChangeAspect="1"/>
          </p:cNvPicPr>
          <p:nvPr/>
        </p:nvPicPr>
        <p:blipFill>
          <a:blip r:embed="rId1"/>
          <a:srcRect l="0" r="0" t="0" b="0"/>
          <a:stretch/>
        </p:blipFill>
        <p:spPr>
          <a:xfrm>
            <a:off x="2578100" y="2443262"/>
            <a:ext cx="355600" cy="127000"/>
          </a:xfrm>
          <a:prstGeom prst="rect">
            <a:avLst/>
          </a:prstGeom>
        </p:spPr>
      </p:pic>
      <p:sp>
        <p:nvSpPr>
          <p:cNvPr id="8" name="Shape 5"/>
          <p:cNvSpPr/>
          <p:nvPr/>
        </p:nvSpPr>
        <p:spPr>
          <a:xfrm>
            <a:off x="3041650" y="1760141"/>
            <a:ext cx="1651000" cy="1493242"/>
          </a:xfrm>
          <a:prstGeom prst="roundRect">
            <a:avLst>
              <a:gd name="adj" fmla="val 6379"/>
            </a:avLst>
          </a:prstGeom>
          <a:solidFill>
            <a:srgbClr val="FBFBF8"/>
          </a:solidFill>
          <a:ln w="12700">
            <a:solidFill>
              <a:srgbClr val="E8763A"/>
            </a:solidFill>
            <a:prstDash val="solid"/>
          </a:ln>
        </p:spPr>
      </p:sp>
      <p:sp>
        <p:nvSpPr>
          <p:cNvPr id="9" name="Text 6"/>
          <p:cNvSpPr/>
          <p:nvPr/>
        </p:nvSpPr>
        <p:spPr>
          <a:xfrm>
            <a:off x="3200400" y="1918891"/>
            <a:ext cx="138430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F2238"/>
                </a:solidFill>
                <a:latin typeface="Arial" pitchFamily="34" charset="0"/>
                <a:ea typeface="Arial" pitchFamily="34" charset="-122"/>
                <a:cs typeface="Arial" pitchFamily="34" charset="-120"/>
              </a:rPr>
              <a:t>Falsificador</a:t>
            </a:r>
            <a:endParaRPr lang="en-US" sz="1600" dirty="0"/>
          </a:p>
        </p:txBody>
      </p:sp>
      <p:sp>
        <p:nvSpPr>
          <p:cNvPr id="10" name="Text 7"/>
          <p:cNvSpPr/>
          <p:nvPr/>
        </p:nvSpPr>
        <p:spPr>
          <a:xfrm>
            <a:off x="3200400" y="2213471"/>
            <a:ext cx="13843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9501F"/>
                </a:solidFill>
                <a:latin typeface="Arial" pitchFamily="34" charset="0"/>
                <a:ea typeface="Arial" pitchFamily="34" charset="-122"/>
                <a:cs typeface="Arial" pitchFamily="34" charset="-120"/>
              </a:rPr>
              <a:t>Generador</a:t>
            </a:r>
            <a:endParaRPr lang="en-US" sz="1200" dirty="0"/>
          </a:p>
        </p:txBody>
      </p:sp>
      <p:sp>
        <p:nvSpPr>
          <p:cNvPr id="11" name="Text 8"/>
          <p:cNvSpPr/>
          <p:nvPr/>
        </p:nvSpPr>
        <p:spPr>
          <a:xfrm>
            <a:off x="3200400" y="2477591"/>
            <a:ext cx="1384300" cy="6424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A3D57"/>
                </a:solidFill>
                <a:latin typeface="Arial" pitchFamily="34" charset="0"/>
                <a:ea typeface="Arial" pitchFamily="34" charset="-122"/>
                <a:cs typeface="Arial" pitchFamily="34" charset="-120"/>
              </a:rPr>
              <a:t>Convierte el ruido en una imagen, capa por capa</a:t>
            </a:r>
            <a:endParaRPr lang="en-US" sz="1200" dirty="0"/>
          </a:p>
        </p:txBody>
      </p:sp>
      <p:pic>
        <p:nvPicPr>
          <p:cNvPr id="12" name="Image 1" descr="connector">    </p:cNvPr>
          <p:cNvPicPr>
            <a:picLocks noChangeAspect="1"/>
          </p:cNvPicPr>
          <p:nvPr/>
        </p:nvPicPr>
        <p:blipFill>
          <a:blip r:embed="rId2"/>
          <a:srcRect l="0" r="0" t="0" b="0"/>
          <a:stretch/>
        </p:blipFill>
        <p:spPr>
          <a:xfrm>
            <a:off x="4800600" y="2443262"/>
            <a:ext cx="355600" cy="127000"/>
          </a:xfrm>
          <a:prstGeom prst="rect">
            <a:avLst/>
          </a:prstGeom>
        </p:spPr>
      </p:pic>
      <p:sp>
        <p:nvSpPr>
          <p:cNvPr id="13" name="Shape 9"/>
          <p:cNvSpPr/>
          <p:nvPr/>
        </p:nvSpPr>
        <p:spPr>
          <a:xfrm>
            <a:off x="5264150" y="1739702"/>
            <a:ext cx="1651000" cy="1534120"/>
          </a:xfrm>
          <a:prstGeom prst="roundRect">
            <a:avLst>
              <a:gd name="adj" fmla="val 6209"/>
            </a:avLst>
          </a:prstGeom>
          <a:solidFill>
            <a:srgbClr val="FBFBF8"/>
          </a:solidFill>
          <a:ln w="12700">
            <a:solidFill>
              <a:srgbClr val="C9D3E3"/>
            </a:solidFill>
            <a:prstDash val="solid"/>
          </a:ln>
        </p:spPr>
      </p:sp>
      <p:pic>
        <p:nvPicPr>
          <p:cNvPr id="14" name="Image 2" descr="Personaje generado de 64 por 64">    </p:cNvPr>
          <p:cNvPicPr>
            <a:picLocks noChangeAspect="1"/>
          </p:cNvPicPr>
          <p:nvPr/>
        </p:nvPicPr>
        <p:blipFill>
          <a:blip r:embed="rId3"/>
          <a:srcRect l="0" r="0" t="0" b="0"/>
          <a:stretch/>
        </p:blipFill>
        <p:spPr>
          <a:xfrm>
            <a:off x="5613400" y="1898452"/>
            <a:ext cx="952500" cy="952500"/>
          </a:xfrm>
          <a:prstGeom prst="roundRect">
            <a:avLst>
              <a:gd name="adj" fmla="val 5333"/>
            </a:avLst>
          </a:prstGeom>
        </p:spPr>
      </p:pic>
      <p:sp>
        <p:nvSpPr>
          <p:cNvPr id="15" name="Text 10"/>
          <p:cNvSpPr/>
          <p:nvPr/>
        </p:nvSpPr>
        <p:spPr>
          <a:xfrm>
            <a:off x="5502434" y="2901752"/>
            <a:ext cx="1174432"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3A3D57"/>
                </a:solidFill>
                <a:latin typeface="Arial" pitchFamily="34" charset="0"/>
                <a:ea typeface="Arial" pitchFamily="34" charset="-122"/>
                <a:cs typeface="Arial" pitchFamily="34" charset="-120"/>
              </a:rPr>
              <a:t>Imagen 64×64</a:t>
            </a:r>
            <a:endParaRPr lang="en-US" sz="1200" dirty="0"/>
          </a:p>
        </p:txBody>
      </p:sp>
      <p:pic>
        <p:nvPicPr>
          <p:cNvPr id="16" name="Image 3" descr="connector">    </p:cNvPr>
          <p:cNvPicPr>
            <a:picLocks noChangeAspect="1"/>
          </p:cNvPicPr>
          <p:nvPr/>
        </p:nvPicPr>
        <p:blipFill>
          <a:blip r:embed="rId4"/>
          <a:srcRect l="0" r="0" t="0" b="0"/>
          <a:stretch/>
        </p:blipFill>
        <p:spPr>
          <a:xfrm>
            <a:off x="7023100" y="2443262"/>
            <a:ext cx="355600" cy="127000"/>
          </a:xfrm>
          <a:prstGeom prst="rect">
            <a:avLst/>
          </a:prstGeom>
        </p:spPr>
      </p:pic>
      <p:sp>
        <p:nvSpPr>
          <p:cNvPr id="17" name="Shape 11"/>
          <p:cNvSpPr/>
          <p:nvPr/>
        </p:nvSpPr>
        <p:spPr>
          <a:xfrm>
            <a:off x="7486650" y="1760141"/>
            <a:ext cx="1651000" cy="1493242"/>
          </a:xfrm>
          <a:prstGeom prst="roundRect">
            <a:avLst>
              <a:gd name="adj" fmla="val 6379"/>
            </a:avLst>
          </a:prstGeom>
          <a:solidFill>
            <a:srgbClr val="FBFBF8"/>
          </a:solidFill>
          <a:ln w="12700">
            <a:solidFill>
              <a:srgbClr val="3FA58C"/>
            </a:solidFill>
            <a:prstDash val="solid"/>
          </a:ln>
        </p:spPr>
      </p:sp>
      <p:sp>
        <p:nvSpPr>
          <p:cNvPr id="18" name="Text 12"/>
          <p:cNvSpPr/>
          <p:nvPr/>
        </p:nvSpPr>
        <p:spPr>
          <a:xfrm>
            <a:off x="7645400" y="1918891"/>
            <a:ext cx="138430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F2238"/>
                </a:solidFill>
                <a:latin typeface="Arial" pitchFamily="34" charset="0"/>
                <a:ea typeface="Arial" pitchFamily="34" charset="-122"/>
                <a:cs typeface="Arial" pitchFamily="34" charset="-120"/>
              </a:rPr>
              <a:t>Policía</a:t>
            </a:r>
            <a:endParaRPr lang="en-US" sz="1600" dirty="0"/>
          </a:p>
        </p:txBody>
      </p:sp>
      <p:sp>
        <p:nvSpPr>
          <p:cNvPr id="19" name="Text 13"/>
          <p:cNvSpPr/>
          <p:nvPr/>
        </p:nvSpPr>
        <p:spPr>
          <a:xfrm>
            <a:off x="7645400" y="2213471"/>
            <a:ext cx="13843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7563"/>
                </a:solidFill>
                <a:latin typeface="Arial" pitchFamily="34" charset="0"/>
                <a:ea typeface="Arial" pitchFamily="34" charset="-122"/>
                <a:cs typeface="Arial" pitchFamily="34" charset="-120"/>
              </a:rPr>
              <a:t>Discriminador</a:t>
            </a:r>
            <a:endParaRPr lang="en-US" sz="1200" dirty="0"/>
          </a:p>
        </p:txBody>
      </p:sp>
      <p:sp>
        <p:nvSpPr>
          <p:cNvPr id="20" name="Text 14"/>
          <p:cNvSpPr/>
          <p:nvPr/>
        </p:nvSpPr>
        <p:spPr>
          <a:xfrm>
            <a:off x="7645400" y="2477591"/>
            <a:ext cx="1384300" cy="6424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A3D57"/>
                </a:solidFill>
                <a:latin typeface="Arial" pitchFamily="34" charset="0"/>
                <a:ea typeface="Arial" pitchFamily="34" charset="-122"/>
                <a:cs typeface="Arial" pitchFamily="34" charset="-120"/>
              </a:rPr>
              <a:t>Compara con las imágenes reales del dataset</a:t>
            </a:r>
            <a:endParaRPr lang="en-US" sz="1200" dirty="0"/>
          </a:p>
        </p:txBody>
      </p:sp>
      <p:pic>
        <p:nvPicPr>
          <p:cNvPr id="21" name="Image 4" descr="connector">    </p:cNvPr>
          <p:cNvPicPr>
            <a:picLocks noChangeAspect="1"/>
          </p:cNvPicPr>
          <p:nvPr/>
        </p:nvPicPr>
        <p:blipFill>
          <a:blip r:embed="rId5"/>
          <a:srcRect l="0" r="0" t="0" b="0"/>
          <a:stretch/>
        </p:blipFill>
        <p:spPr>
          <a:xfrm>
            <a:off x="9245600" y="2443262"/>
            <a:ext cx="355600" cy="127000"/>
          </a:xfrm>
          <a:prstGeom prst="rect">
            <a:avLst/>
          </a:prstGeom>
        </p:spPr>
      </p:pic>
      <p:sp>
        <p:nvSpPr>
          <p:cNvPr id="22" name="Shape 15"/>
          <p:cNvSpPr/>
          <p:nvPr/>
        </p:nvSpPr>
        <p:spPr>
          <a:xfrm>
            <a:off x="9702800" y="1673820"/>
            <a:ext cx="1663700" cy="1665883"/>
          </a:xfrm>
          <a:prstGeom prst="roundRect">
            <a:avLst>
              <a:gd name="adj" fmla="val 6107"/>
            </a:avLst>
          </a:prstGeom>
          <a:solidFill>
            <a:srgbClr val="1F2238"/>
          </a:solidFill>
          <a:ln/>
        </p:spPr>
      </p:sp>
      <p:sp>
        <p:nvSpPr>
          <p:cNvPr id="23" name="Text 16"/>
          <p:cNvSpPr/>
          <p:nvPr/>
        </p:nvSpPr>
        <p:spPr>
          <a:xfrm>
            <a:off x="9855200" y="1826220"/>
            <a:ext cx="1409700" cy="512961"/>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5F2EA"/>
                </a:solidFill>
                <a:latin typeface="Arial" pitchFamily="34" charset="0"/>
                <a:ea typeface="Arial" pitchFamily="34" charset="-122"/>
                <a:cs typeface="Arial" pitchFamily="34" charset="-120"/>
              </a:rPr>
              <a:t>¿Real o falso?</a:t>
            </a:r>
            <a:endParaRPr lang="en-US" sz="1600" dirty="0"/>
          </a:p>
        </p:txBody>
      </p:sp>
      <p:sp>
        <p:nvSpPr>
          <p:cNvPr id="24" name="Text 17"/>
          <p:cNvSpPr/>
          <p:nvPr/>
        </p:nvSpPr>
        <p:spPr>
          <a:xfrm>
            <a:off x="9855200" y="2364581"/>
            <a:ext cx="1409700" cy="848122"/>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C9CBE0"/>
                </a:solidFill>
                <a:latin typeface="Arial" pitchFamily="34" charset="0"/>
                <a:ea typeface="Arial" pitchFamily="34" charset="-122"/>
                <a:cs typeface="Arial" pitchFamily="34" charset="-120"/>
              </a:rPr>
              <a:t>Su veredicto le enseña al falsificador a mejorar</a:t>
            </a:r>
            <a:endParaRPr lang="en-US" sz="1200" dirty="0"/>
          </a:p>
        </p:txBody>
      </p:sp>
      <p:sp>
        <p:nvSpPr>
          <p:cNvPr id="25" name="Shape 18"/>
          <p:cNvSpPr/>
          <p:nvPr/>
        </p:nvSpPr>
        <p:spPr>
          <a:xfrm>
            <a:off x="812800" y="3517503"/>
            <a:ext cx="5181600" cy="2125563"/>
          </a:xfrm>
          <a:prstGeom prst="roundRect">
            <a:avLst>
              <a:gd name="adj" fmla="val 4780"/>
            </a:avLst>
          </a:prstGeom>
          <a:solidFill>
            <a:srgbClr val="FBFBF8"/>
          </a:solidFill>
          <a:ln/>
        </p:spPr>
      </p:sp>
      <p:sp>
        <p:nvSpPr>
          <p:cNvPr id="26" name="Text 19"/>
          <p:cNvSpPr/>
          <p:nvPr/>
        </p:nvSpPr>
        <p:spPr>
          <a:xfrm>
            <a:off x="1016000" y="3720703"/>
            <a:ext cx="491845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F2238"/>
                </a:solidFill>
                <a:latin typeface="Arial" pitchFamily="34" charset="0"/>
                <a:ea typeface="Arial" pitchFamily="34" charset="-122"/>
                <a:cs typeface="Arial" pitchFamily="34" charset="-120"/>
              </a:rPr>
              <a:t>Por qué DCGAN</a:t>
            </a:r>
            <a:endParaRPr lang="en-US" sz="1600" dirty="0"/>
          </a:p>
        </p:txBody>
      </p:sp>
      <p:sp>
        <p:nvSpPr>
          <p:cNvPr id="27" name="Text 20"/>
          <p:cNvSpPr/>
          <p:nvPr/>
        </p:nvSpPr>
        <p:spPr>
          <a:xfrm>
            <a:off x="1114044" y="4053384"/>
            <a:ext cx="4812792" cy="1411883"/>
          </a:xfrm>
          <a:prstGeom prst="rect">
            <a:avLst/>
          </a:prstGeom>
          <a:noFill/>
          <a:ln/>
        </p:spPr>
        <p:txBody>
          <a:bodyPr wrap="square" lIns="0" tIns="0" rIns="0" bIns="0" rtlCol="0" anchor="t">
            <a:normAutofit/>
          </a:bodyPr>
          <a:lstStyle/>
          <a:p>
            <a:pPr algn="l" marL="155956" indent="-155956">
              <a:lnSpc>
                <a:spcPts val="1820"/>
              </a:lnSpc>
              <a:buSzPct val="100000"/>
              <a:buChar char="•"/>
            </a:pPr>
            <a:r>
              <a:rPr lang="en-US" sz="1300" dirty="0">
                <a:solidFill>
                  <a:srgbClr val="3A3D57"/>
                </a:solidFill>
                <a:latin typeface="Arial" pitchFamily="34" charset="0"/>
                <a:ea typeface="Arial" pitchFamily="34" charset="-122"/>
                <a:cs typeface="Arial" pitchFamily="34" charset="-120"/>
              </a:rPr>
              <a:t>Es la GAN más simple que funciona bien con imágenes pequeñas.</a:t>
            </a:r>
            <a:endParaRPr lang="en-US" sz="1300" dirty="0"/>
          </a:p>
          <a:p>
            <a:pPr algn="l" marL="155956" indent="-155956">
              <a:lnSpc>
                <a:spcPts val="1820"/>
              </a:lnSpc>
              <a:buSzPct val="100000"/>
              <a:buChar char="•"/>
            </a:pPr>
            <a:r>
              <a:rPr lang="en-US" sz="1300" dirty="0">
                <a:solidFill>
                  <a:srgbClr val="3A3D57"/>
                </a:solidFill>
                <a:latin typeface="Arial" pitchFamily="34" charset="0"/>
                <a:ea typeface="Arial" pitchFamily="34" charset="-122"/>
                <a:cs typeface="Arial" pitchFamily="34" charset="-120"/>
              </a:rPr>
              <a:t>Cada entrenamiento tarda unos 6 minutos: se pueden probar cambios uno por uno.</a:t>
            </a:r>
            <a:endParaRPr lang="en-US" sz="1300" dirty="0"/>
          </a:p>
          <a:p>
            <a:pPr algn="l" marL="155956" indent="-155956">
              <a:lnSpc>
                <a:spcPts val="1820"/>
              </a:lnSpc>
              <a:buSzPct val="100000"/>
              <a:buChar char="•"/>
            </a:pPr>
            <a:r>
              <a:rPr lang="en-US" sz="1300" dirty="0">
                <a:solidFill>
                  <a:srgbClr val="3A3D57"/>
                </a:solidFill>
                <a:latin typeface="Arial" pitchFamily="34" charset="0"/>
                <a:ea typeface="Arial" pitchFamily="34" charset="-122"/>
                <a:cs typeface="Arial" pitchFamily="34" charset="-120"/>
              </a:rPr>
              <a:t>Opciones más pesadas (WGAN-GP, StyleGAN) no cabían en el tiempo.</a:t>
            </a:r>
            <a:endParaRPr lang="en-US" sz="1300" dirty="0"/>
          </a:p>
        </p:txBody>
      </p:sp>
      <p:sp>
        <p:nvSpPr>
          <p:cNvPr id="28" name="Shape 21"/>
          <p:cNvSpPr/>
          <p:nvPr/>
        </p:nvSpPr>
        <p:spPr>
          <a:xfrm>
            <a:off x="6197600" y="3517503"/>
            <a:ext cx="5181600" cy="2125563"/>
          </a:xfrm>
          <a:prstGeom prst="roundRect">
            <a:avLst>
              <a:gd name="adj" fmla="val 4780"/>
            </a:avLst>
          </a:prstGeom>
          <a:solidFill>
            <a:srgbClr val="FBFBF8"/>
          </a:solidFill>
          <a:ln/>
        </p:spPr>
      </p:sp>
      <p:sp>
        <p:nvSpPr>
          <p:cNvPr id="29" name="Text 22"/>
          <p:cNvSpPr/>
          <p:nvPr/>
        </p:nvSpPr>
        <p:spPr>
          <a:xfrm>
            <a:off x="6400800" y="3720703"/>
            <a:ext cx="491845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F2238"/>
                </a:solidFill>
                <a:latin typeface="Arial" pitchFamily="34" charset="0"/>
                <a:ea typeface="Arial" pitchFamily="34" charset="-122"/>
                <a:cs typeface="Arial" pitchFamily="34" charset="-120"/>
              </a:rPr>
              <a:t>Reglas para comparar</a:t>
            </a:r>
            <a:endParaRPr lang="en-US" sz="1600" dirty="0"/>
          </a:p>
        </p:txBody>
      </p:sp>
      <p:sp>
        <p:nvSpPr>
          <p:cNvPr id="30" name="Text 23"/>
          <p:cNvSpPr/>
          <p:nvPr/>
        </p:nvSpPr>
        <p:spPr>
          <a:xfrm>
            <a:off x="6498844" y="4053384"/>
            <a:ext cx="4812792" cy="949722"/>
          </a:xfrm>
          <a:prstGeom prst="rect">
            <a:avLst/>
          </a:prstGeom>
          <a:noFill/>
          <a:ln/>
        </p:spPr>
        <p:txBody>
          <a:bodyPr wrap="square" lIns="0" tIns="0" rIns="0" bIns="0" rtlCol="0" anchor="t">
            <a:normAutofit/>
          </a:bodyPr>
          <a:lstStyle/>
          <a:p>
            <a:pPr algn="l" marL="155956" indent="-155956">
              <a:lnSpc>
                <a:spcPts val="1820"/>
              </a:lnSpc>
              <a:buSzPct val="100000"/>
              <a:buChar char="•"/>
            </a:pPr>
            <a:r>
              <a:rPr lang="en-US" sz="1300" dirty="0">
                <a:solidFill>
                  <a:srgbClr val="3A3D57"/>
                </a:solidFill>
                <a:latin typeface="Arial" pitchFamily="34" charset="0"/>
                <a:ea typeface="Arial" pitchFamily="34" charset="-122"/>
                <a:cs typeface="Arial" pitchFamily="34" charset="-120"/>
              </a:rPr>
              <a:t>Mismos datos, misma semilla y misma duración (200 épocas).</a:t>
            </a:r>
            <a:endParaRPr lang="en-US" sz="1300" dirty="0"/>
          </a:p>
          <a:p>
            <a:pPr algn="l" marL="155956" indent="-155956">
              <a:lnSpc>
                <a:spcPts val="1820"/>
              </a:lnSpc>
              <a:buSzPct val="100000"/>
              <a:buChar char="•"/>
            </a:pPr>
            <a:r>
              <a:rPr lang="en-US" sz="1300" dirty="0">
                <a:solidFill>
                  <a:srgbClr val="3A3D57"/>
                </a:solidFill>
                <a:latin typeface="Arial" pitchFamily="34" charset="0"/>
                <a:ea typeface="Arial" pitchFamily="34" charset="-122"/>
                <a:cs typeface="Arial" pitchFamily="34" charset="-120"/>
              </a:rPr>
              <a:t>Los mismos 16 ruidos para ver la evolución de cada prueba.</a:t>
            </a:r>
            <a:endParaRPr lang="en-US" sz="1300" dirty="0"/>
          </a:p>
          <a:p>
            <a:pPr algn="l" marL="155956" indent="-155956">
              <a:lnSpc>
                <a:spcPts val="1820"/>
              </a:lnSpc>
              <a:buSzPct val="100000"/>
              <a:buChar char="•"/>
            </a:pPr>
            <a:r>
              <a:rPr lang="en-US" sz="1300" dirty="0">
                <a:solidFill>
                  <a:srgbClr val="3A3D57"/>
                </a:solidFill>
                <a:latin typeface="Arial" pitchFamily="34" charset="0"/>
                <a:ea typeface="Arial" pitchFamily="34" charset="-122"/>
                <a:cs typeface="Arial" pitchFamily="34" charset="-120"/>
              </a:rPr>
              <a:t>En cada prueba cambia </a:t>
            </a:r>
            <a:r>
              <a:rPr lang="en-US" sz="1300" b="1" dirty="0">
                <a:solidFill>
                  <a:srgbClr val="3A3D57"/>
                </a:solidFill>
                <a:latin typeface="Arial" pitchFamily="34" charset="0"/>
                <a:ea typeface="Arial" pitchFamily="34" charset="-122"/>
                <a:cs typeface="Arial" pitchFamily="34" charset="-120"/>
              </a:rPr>
              <a:t>una sola cosa</a:t>
            </a:r>
            <a:r>
              <a:rPr lang="en-US" sz="1300" dirty="0">
                <a:solidFill>
                  <a:srgbClr val="3A3D57"/>
                </a:solidFill>
                <a:latin typeface="Arial" pitchFamily="34" charset="0"/>
                <a:ea typeface="Arial" pitchFamily="34" charset="-122"/>
                <a:cs typeface="Arial" pitchFamily="34" charset="-120"/>
              </a:rPr>
              <a:t>.</a:t>
            </a:r>
            <a:endParaRPr lang="en-US" sz="1300" dirty="0"/>
          </a:p>
        </p:txBody>
      </p:sp>
      <p:sp>
        <p:nvSpPr>
          <p:cNvPr id="31" name="Text 24"/>
          <p:cNvSpPr/>
          <p:nvPr/>
        </p:nvSpPr>
        <p:spPr>
          <a:xfrm>
            <a:off x="812800" y="6281440"/>
            <a:ext cx="18501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E69"/>
                </a:solidFill>
                <a:latin typeface="Arial" pitchFamily="34" charset="0"/>
                <a:ea typeface="Arial" pitchFamily="34" charset="-122"/>
                <a:cs typeface="Arial" pitchFamily="34" charset="-120"/>
              </a:rPr>
              <a:t>Cubópolis · Proyecto 2</a:t>
            </a:r>
            <a:endParaRPr lang="en-US" sz="1200" dirty="0"/>
          </a:p>
        </p:txBody>
      </p:sp>
      <p:sp>
        <p:nvSpPr>
          <p:cNvPr id="32" name="Shape 25"/>
          <p:cNvSpPr/>
          <p:nvPr/>
        </p:nvSpPr>
        <p:spPr>
          <a:xfrm>
            <a:off x="4199136" y="6330950"/>
            <a:ext cx="114300" cy="114300"/>
          </a:xfrm>
          <a:prstGeom prst="rect">
            <a:avLst/>
          </a:prstGeom>
          <a:solidFill>
            <a:srgbClr val="E8763A"/>
          </a:solidFill>
          <a:ln/>
        </p:spPr>
      </p:sp>
      <p:sp>
        <p:nvSpPr>
          <p:cNvPr id="33" name="Text 26"/>
          <p:cNvSpPr/>
          <p:nvPr/>
        </p:nvSpPr>
        <p:spPr>
          <a:xfrm>
            <a:off x="4364236" y="6281440"/>
            <a:ext cx="72163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E69"/>
                </a:solidFill>
                <a:latin typeface="Arial" pitchFamily="34" charset="0"/>
                <a:ea typeface="Arial" pitchFamily="34" charset="-122"/>
                <a:cs typeface="Arial" pitchFamily="34" charset="-120"/>
              </a:rPr>
              <a:t>Universo</a:t>
            </a:r>
            <a:endParaRPr lang="en-US" sz="1200" dirty="0"/>
          </a:p>
        </p:txBody>
      </p:sp>
      <p:sp>
        <p:nvSpPr>
          <p:cNvPr id="34" name="Shape 27"/>
          <p:cNvSpPr/>
          <p:nvPr/>
        </p:nvSpPr>
        <p:spPr>
          <a:xfrm>
            <a:off x="5092601" y="6330950"/>
            <a:ext cx="114300" cy="114300"/>
          </a:xfrm>
          <a:prstGeom prst="rect">
            <a:avLst/>
          </a:prstGeom>
          <a:solidFill>
            <a:srgbClr val="1F2238"/>
          </a:solidFill>
          <a:ln/>
        </p:spPr>
      </p:sp>
      <p:sp>
        <p:nvSpPr>
          <p:cNvPr id="35" name="Text 28"/>
          <p:cNvSpPr/>
          <p:nvPr/>
        </p:nvSpPr>
        <p:spPr>
          <a:xfrm>
            <a:off x="5257701" y="6281440"/>
            <a:ext cx="64008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2238"/>
                </a:solidFill>
                <a:latin typeface="Arial" pitchFamily="34" charset="0"/>
                <a:ea typeface="Arial" pitchFamily="34" charset="-122"/>
                <a:cs typeface="Arial" pitchFamily="34" charset="-120"/>
              </a:rPr>
              <a:t>Modelo</a:t>
            </a:r>
            <a:endParaRPr lang="en-US" sz="1200" dirty="0"/>
          </a:p>
        </p:txBody>
      </p:sp>
      <p:sp>
        <p:nvSpPr>
          <p:cNvPr id="36" name="Shape 29"/>
          <p:cNvSpPr/>
          <p:nvPr/>
        </p:nvSpPr>
        <p:spPr>
          <a:xfrm>
            <a:off x="5924451" y="6337300"/>
            <a:ext cx="101600" cy="101600"/>
          </a:xfrm>
          <a:prstGeom prst="rect">
            <a:avLst/>
          </a:prstGeom>
          <a:noFill/>
          <a:ln w="12700">
            <a:solidFill>
              <a:srgbClr val="6B6E85"/>
            </a:solidFill>
            <a:prstDash val="solid"/>
          </a:ln>
        </p:spPr>
      </p:sp>
      <p:sp>
        <p:nvSpPr>
          <p:cNvPr id="37" name="Text 30"/>
          <p:cNvSpPr/>
          <p:nvPr/>
        </p:nvSpPr>
        <p:spPr>
          <a:xfrm>
            <a:off x="6083201" y="6281440"/>
            <a:ext cx="41683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E85"/>
                </a:solidFill>
                <a:latin typeface="Arial" pitchFamily="34" charset="0"/>
                <a:ea typeface="Arial" pitchFamily="34" charset="-122"/>
                <a:cs typeface="Arial" pitchFamily="34" charset="-120"/>
              </a:rPr>
              <a:t>Base</a:t>
            </a:r>
            <a:endParaRPr lang="en-US" sz="1200" dirty="0"/>
          </a:p>
        </p:txBody>
      </p:sp>
      <p:sp>
        <p:nvSpPr>
          <p:cNvPr id="38" name="Shape 31"/>
          <p:cNvSpPr/>
          <p:nvPr/>
        </p:nvSpPr>
        <p:spPr>
          <a:xfrm>
            <a:off x="6563916" y="6337300"/>
            <a:ext cx="101600" cy="101600"/>
          </a:xfrm>
          <a:prstGeom prst="rect">
            <a:avLst/>
          </a:prstGeom>
          <a:noFill/>
          <a:ln w="12700">
            <a:solidFill>
              <a:srgbClr val="6B6E85"/>
            </a:solidFill>
            <a:prstDash val="solid"/>
          </a:ln>
        </p:spPr>
      </p:sp>
      <p:sp>
        <p:nvSpPr>
          <p:cNvPr id="39" name="Text 32"/>
          <p:cNvSpPr/>
          <p:nvPr/>
        </p:nvSpPr>
        <p:spPr>
          <a:xfrm>
            <a:off x="6722666" y="6281440"/>
            <a:ext cx="105876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E85"/>
                </a:solidFill>
                <a:latin typeface="Arial" pitchFamily="34" charset="0"/>
                <a:ea typeface="Arial" pitchFamily="34" charset="-122"/>
                <a:cs typeface="Arial" pitchFamily="34" charset="-120"/>
              </a:rPr>
              <a:t>Experimentos</a:t>
            </a:r>
            <a:endParaRPr lang="en-US" sz="1200" dirty="0"/>
          </a:p>
        </p:txBody>
      </p:sp>
      <p:sp>
        <p:nvSpPr>
          <p:cNvPr id="40" name="Shape 33"/>
          <p:cNvSpPr/>
          <p:nvPr/>
        </p:nvSpPr>
        <p:spPr>
          <a:xfrm>
            <a:off x="7787779" y="6337300"/>
            <a:ext cx="101600" cy="101600"/>
          </a:xfrm>
          <a:prstGeom prst="rect">
            <a:avLst/>
          </a:prstGeom>
          <a:noFill/>
          <a:ln w="12700">
            <a:solidFill>
              <a:srgbClr val="6B6E85"/>
            </a:solidFill>
            <a:prstDash val="solid"/>
          </a:ln>
        </p:spPr>
      </p:sp>
      <p:sp>
        <p:nvSpPr>
          <p:cNvPr id="41" name="Text 34"/>
          <p:cNvSpPr/>
          <p:nvPr/>
        </p:nvSpPr>
        <p:spPr>
          <a:xfrm>
            <a:off x="7946529" y="6281440"/>
            <a:ext cx="5997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E85"/>
                </a:solidFill>
                <a:latin typeface="Arial" pitchFamily="34" charset="0"/>
                <a:ea typeface="Arial" pitchFamily="34" charset="-122"/>
                <a:cs typeface="Arial" pitchFamily="34" charset="-120"/>
              </a:rPr>
              <a:t>Galería</a:t>
            </a:r>
            <a:endParaRPr lang="en-US" sz="1200" dirty="0"/>
          </a:p>
        </p:txBody>
      </p:sp>
      <p:sp>
        <p:nvSpPr>
          <p:cNvPr id="42" name="Shape 35"/>
          <p:cNvSpPr/>
          <p:nvPr/>
        </p:nvSpPr>
        <p:spPr>
          <a:xfrm>
            <a:off x="8579644" y="6337300"/>
            <a:ext cx="101600" cy="101600"/>
          </a:xfrm>
          <a:prstGeom prst="rect">
            <a:avLst/>
          </a:prstGeom>
          <a:noFill/>
          <a:ln w="12700">
            <a:solidFill>
              <a:srgbClr val="6B6E85"/>
            </a:solidFill>
            <a:prstDash val="solid"/>
          </a:ln>
        </p:spPr>
      </p:sp>
      <p:sp>
        <p:nvSpPr>
          <p:cNvPr id="43" name="Text 36"/>
          <p:cNvSpPr/>
          <p:nvPr/>
        </p:nvSpPr>
        <p:spPr>
          <a:xfrm>
            <a:off x="8738394" y="6281440"/>
            <a:ext cx="49791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E85"/>
                </a:solidFill>
                <a:latin typeface="Arial" pitchFamily="34" charset="0"/>
                <a:ea typeface="Arial" pitchFamily="34" charset="-122"/>
                <a:cs typeface="Arial" pitchFamily="34" charset="-120"/>
              </a:rPr>
              <a:t>Cierre</a:t>
            </a:r>
            <a:endParaRPr lang="en-US" sz="1200" dirty="0"/>
          </a:p>
        </p:txBody>
      </p:sp>
      <p:sp>
        <p:nvSpPr>
          <p:cNvPr id="44" name="Text 37"/>
          <p:cNvSpPr/>
          <p:nvPr/>
        </p:nvSpPr>
        <p:spPr>
          <a:xfrm>
            <a:off x="10921643" y="6281440"/>
            <a:ext cx="457557"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4E69"/>
                </a:solidFill>
                <a:latin typeface="Arial" pitchFamily="34" charset="0"/>
                <a:ea typeface="Arial" pitchFamily="34" charset="-122"/>
                <a:cs typeface="Arial" pitchFamily="34" charset="-120"/>
              </a:rPr>
              <a:t>3 / 12</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2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9501F"/>
                </a:solidFill>
                <a:latin typeface="Arial" pitchFamily="34" charset="0"/>
                <a:ea typeface="Arial" pitchFamily="34" charset="-122"/>
                <a:cs typeface="Arial" pitchFamily="34" charset="-120"/>
              </a:rPr>
              <a:t>03 · LÍNEA BASE · EVIDENCIAS 1 Y 2</a:t>
            </a:r>
            <a:endParaRPr lang="en-US" sz="1200" dirty="0"/>
          </a:p>
        </p:txBody>
      </p:sp>
      <p:sp>
        <p:nvSpPr>
          <p:cNvPr id="3" name="Text 1"/>
          <p:cNvSpPr/>
          <p:nvPr>
            <p:ph type="title"/>
          </p:nvPr>
        </p:nvSpPr>
        <p:spPr>
          <a:xfrm>
            <a:off x="812800" y="10769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F2238"/>
                </a:solidFill>
                <a:latin typeface="Arial" pitchFamily="34" charset="0"/>
                <a:ea typeface="Arial" pitchFamily="34" charset="-122"/>
                <a:cs typeface="Arial" pitchFamily="34" charset="-120"/>
              </a:rPr>
              <a:t>Primer intento: el policía gana siempre</a:t>
            </a:r>
            <a:endParaRPr lang="en-US" sz="3000" dirty="0"/>
          </a:p>
        </p:txBody>
      </p:sp>
      <p:pic>
        <p:nvPicPr>
          <p:cNvPr id="4" name="Image 0" descr="Rejilla de ruido fijo de la corrida base en las épocas 0, 5, 40, 70, 100, 130, 170 y 200">    </p:cNvPr>
          <p:cNvPicPr>
            <a:picLocks noChangeAspect="1"/>
          </p:cNvPicPr>
          <p:nvPr/>
        </p:nvPicPr>
        <p:blipFill>
          <a:blip r:embed="rId1"/>
          <a:srcRect l="0" r="0" t="-37" b="-37"/>
          <a:stretch/>
        </p:blipFill>
        <p:spPr>
          <a:xfrm>
            <a:off x="812800" y="1648420"/>
            <a:ext cx="10566400" cy="1562100"/>
          </a:xfrm>
          <a:prstGeom prst="roundRect">
            <a:avLst>
              <a:gd name="adj" fmla="val 4878"/>
            </a:avLst>
          </a:prstGeom>
        </p:spPr>
      </p:pic>
      <p:sp>
        <p:nvSpPr>
          <p:cNvPr id="5" name="Text 2"/>
          <p:cNvSpPr/>
          <p:nvPr/>
        </p:nvSpPr>
        <p:spPr>
          <a:xfrm>
            <a:off x="812800" y="3362920"/>
            <a:ext cx="7044119" cy="52308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3A3D57"/>
                </a:solidFill>
                <a:latin typeface="Arial" pitchFamily="34" charset="0"/>
                <a:ea typeface="Arial" pitchFamily="34" charset="-122"/>
                <a:cs typeface="Arial" pitchFamily="34" charset="-120"/>
              </a:rPr>
              <a:t>Rejilla de ruido fijo:</a:t>
            </a:r>
            <a:r>
              <a:rPr lang="en-US" sz="1400" dirty="0">
                <a:solidFill>
                  <a:srgbClr val="3A3D57"/>
                </a:solidFill>
                <a:latin typeface="Arial" pitchFamily="34" charset="0"/>
                <a:ea typeface="Arial" pitchFamily="34" charset="-122"/>
                <a:cs typeface="Arial" pitchFamily="34" charset="-120"/>
              </a:rPr>
              <a:t> los mismos 16 ruidos en cada etapa. En la época 40 ya hay cuerpo, cara y ropa, pero el mismo ruido cambia de colores entre épocas.</a:t>
            </a:r>
            <a:endParaRPr lang="en-US" sz="1400" dirty="0"/>
          </a:p>
        </p:txBody>
      </p:sp>
      <p:sp>
        <p:nvSpPr>
          <p:cNvPr id="6" name="Text 3"/>
          <p:cNvSpPr/>
          <p:nvPr/>
        </p:nvSpPr>
        <p:spPr>
          <a:xfrm>
            <a:off x="812800" y="3974902"/>
            <a:ext cx="7044119" cy="52308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3A3D57"/>
                </a:solidFill>
                <a:latin typeface="Arial" pitchFamily="34" charset="0"/>
                <a:ea typeface="Arial" pitchFamily="34" charset="-122"/>
                <a:cs typeface="Arial" pitchFamily="34" charset="-120"/>
              </a:rPr>
              <a:t>Curvas:</a:t>
            </a:r>
            <a:r>
              <a:rPr lang="en-US" sz="1400" dirty="0">
                <a:solidFill>
                  <a:srgbClr val="3A3D57"/>
                </a:solidFill>
                <a:latin typeface="Arial" pitchFamily="34" charset="0"/>
                <a:ea typeface="Arial" pitchFamily="34" charset="-122"/>
                <a:cs typeface="Arial" pitchFamily="34" charset="-120"/>
              </a:rPr>
              <a:t> el policía casi nunca se equivoca y su error queda cerca de cero. En clase se vio que eso es una alarma, no un éxito.</a:t>
            </a:r>
            <a:endParaRPr lang="en-US" sz="1400" dirty="0"/>
          </a:p>
        </p:txBody>
      </p:sp>
      <p:sp>
        <p:nvSpPr>
          <p:cNvPr id="7" name="Text 4"/>
          <p:cNvSpPr/>
          <p:nvPr/>
        </p:nvSpPr>
        <p:spPr>
          <a:xfrm>
            <a:off x="812800" y="4586883"/>
            <a:ext cx="7044119"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3A3D57"/>
                </a:solidFill>
                <a:latin typeface="Arial" pitchFamily="34" charset="0"/>
                <a:ea typeface="Arial" pitchFamily="34" charset="-122"/>
                <a:cs typeface="Arial" pitchFamily="34" charset="-120"/>
              </a:rPr>
              <a:t>Picos repetidos:</a:t>
            </a:r>
            <a:r>
              <a:rPr lang="en-US" sz="1400" dirty="0">
                <a:solidFill>
                  <a:srgbClr val="3A3D57"/>
                </a:solidFill>
                <a:latin typeface="Arial" pitchFamily="34" charset="0"/>
                <a:ea typeface="Arial" pitchFamily="34" charset="-122"/>
                <a:cs typeface="Arial" pitchFamily="34" charset="-120"/>
              </a:rPr>
              <a:t> el policía gana de golpe y el falsificador tarda en recuperarse.</a:t>
            </a:r>
            <a:endParaRPr lang="en-US" sz="1400" dirty="0"/>
          </a:p>
        </p:txBody>
      </p:sp>
      <p:sp>
        <p:nvSpPr>
          <p:cNvPr id="8" name="Text 5"/>
          <p:cNvSpPr/>
          <p:nvPr/>
        </p:nvSpPr>
        <p:spPr>
          <a:xfrm>
            <a:off x="812800" y="4950023"/>
            <a:ext cx="923230" cy="314920"/>
          </a:xfrm>
          <a:prstGeom prst="roundRect">
            <a:avLst>
              <a:gd name="adj" fmla="val 16131"/>
            </a:avLst>
          </a:prstGeom>
          <a:solidFill>
            <a:srgbClr val="FFDFBF"/>
          </a:solidFill>
          <a:ln/>
        </p:spPr>
        <p:txBody>
          <a:bodyPr wrap="none" lIns="0" tIns="0" rIns="0" bIns="0" rtlCol="0" anchor="ctr">
            <a:normAutofit/>
          </a:bodyPr>
          <a:lstStyle/>
          <a:p>
            <a:pPr algn="ctr" indent="0" marL="0">
              <a:lnSpc>
                <a:spcPts val="1680"/>
              </a:lnSpc>
              <a:buNone/>
            </a:pPr>
            <a:r>
              <a:rPr lang="en-US" sz="1200" b="1" dirty="0">
                <a:solidFill>
                  <a:srgbClr val="1F2238"/>
                </a:solidFill>
                <a:latin typeface="Arial" pitchFamily="34" charset="0"/>
                <a:ea typeface="Arial" pitchFamily="34" charset="-122"/>
                <a:cs typeface="Arial" pitchFamily="34" charset="-120"/>
              </a:rPr>
              <a:t>FID 151.8</a:t>
            </a:r>
            <a:endParaRPr lang="en-US" sz="1200" dirty="0"/>
          </a:p>
        </p:txBody>
      </p:sp>
      <p:sp>
        <p:nvSpPr>
          <p:cNvPr id="9" name="Text 6"/>
          <p:cNvSpPr/>
          <p:nvPr/>
        </p:nvSpPr>
        <p:spPr>
          <a:xfrm>
            <a:off x="1837630" y="4950023"/>
            <a:ext cx="1228328" cy="314920"/>
          </a:xfrm>
          <a:prstGeom prst="roundRect">
            <a:avLst>
              <a:gd name="adj" fmla="val 16131"/>
            </a:avLst>
          </a:prstGeom>
          <a:solidFill>
            <a:srgbClr val="B6E3F4"/>
          </a:solidFill>
          <a:ln/>
        </p:spPr>
        <p:txBody>
          <a:bodyPr wrap="none" lIns="0" tIns="0" rIns="0" bIns="0" rtlCol="0" anchor="ctr">
            <a:normAutofit/>
          </a:bodyPr>
          <a:lstStyle/>
          <a:p>
            <a:pPr algn="ctr" indent="0" marL="0">
              <a:lnSpc>
                <a:spcPts val="1680"/>
              </a:lnSpc>
              <a:buNone/>
            </a:pPr>
            <a:r>
              <a:rPr lang="en-US" sz="1200" b="1" dirty="0">
                <a:solidFill>
                  <a:srgbClr val="1F2238"/>
                </a:solidFill>
                <a:latin typeface="Arial" pitchFamily="34" charset="0"/>
                <a:ea typeface="Arial" pitchFamily="34" charset="-122"/>
                <a:cs typeface="Arial" pitchFamily="34" charset="-120"/>
              </a:rPr>
              <a:t>Variedad 0.97</a:t>
            </a:r>
            <a:endParaRPr lang="en-US" sz="1200" dirty="0"/>
          </a:p>
        </p:txBody>
      </p:sp>
      <p:pic>
        <p:nvPicPr>
          <p:cNvPr id="10" name="Image 1" descr="Curvas de error del policía y del falsificador en la corrida base">    </p:cNvPr>
          <p:cNvPicPr>
            <a:picLocks noChangeAspect="1"/>
          </p:cNvPicPr>
          <p:nvPr/>
        </p:nvPicPr>
        <p:blipFill>
          <a:blip r:embed="rId2"/>
          <a:srcRect l="0" r="0" t="0" b="0"/>
          <a:stretch/>
        </p:blipFill>
        <p:spPr>
          <a:xfrm>
            <a:off x="7854950" y="3362920"/>
            <a:ext cx="3524250" cy="2349500"/>
          </a:xfrm>
          <a:prstGeom prst="roundRect">
            <a:avLst>
              <a:gd name="adj" fmla="val 3243"/>
            </a:avLst>
          </a:prstGeom>
        </p:spPr>
      </p:pic>
      <p:sp>
        <p:nvSpPr>
          <p:cNvPr id="11" name="Text 7"/>
          <p:cNvSpPr/>
          <p:nvPr/>
        </p:nvSpPr>
        <p:spPr>
          <a:xfrm>
            <a:off x="812800" y="6281440"/>
            <a:ext cx="18501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E69"/>
                </a:solidFill>
                <a:latin typeface="Arial" pitchFamily="34" charset="0"/>
                <a:ea typeface="Arial" pitchFamily="34" charset="-122"/>
                <a:cs typeface="Arial" pitchFamily="34" charset="-120"/>
              </a:rPr>
              <a:t>Cubópolis · Proyecto 2</a:t>
            </a:r>
            <a:endParaRPr lang="en-US" sz="1200" dirty="0"/>
          </a:p>
        </p:txBody>
      </p:sp>
      <p:sp>
        <p:nvSpPr>
          <p:cNvPr id="12" name="Shape 8"/>
          <p:cNvSpPr/>
          <p:nvPr/>
        </p:nvSpPr>
        <p:spPr>
          <a:xfrm>
            <a:off x="4207470" y="6330950"/>
            <a:ext cx="114300" cy="114300"/>
          </a:xfrm>
          <a:prstGeom prst="rect">
            <a:avLst/>
          </a:prstGeom>
          <a:solidFill>
            <a:srgbClr val="E8763A"/>
          </a:solidFill>
          <a:ln/>
        </p:spPr>
      </p:sp>
      <p:sp>
        <p:nvSpPr>
          <p:cNvPr id="13" name="Text 9"/>
          <p:cNvSpPr/>
          <p:nvPr/>
        </p:nvSpPr>
        <p:spPr>
          <a:xfrm>
            <a:off x="4372570" y="6281440"/>
            <a:ext cx="72163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E69"/>
                </a:solidFill>
                <a:latin typeface="Arial" pitchFamily="34" charset="0"/>
                <a:ea typeface="Arial" pitchFamily="34" charset="-122"/>
                <a:cs typeface="Arial" pitchFamily="34" charset="-120"/>
              </a:rPr>
              <a:t>Universo</a:t>
            </a:r>
            <a:endParaRPr lang="en-US" sz="1200" dirty="0"/>
          </a:p>
        </p:txBody>
      </p:sp>
      <p:sp>
        <p:nvSpPr>
          <p:cNvPr id="14" name="Shape 10"/>
          <p:cNvSpPr/>
          <p:nvPr/>
        </p:nvSpPr>
        <p:spPr>
          <a:xfrm>
            <a:off x="5100935" y="6330950"/>
            <a:ext cx="114300" cy="114300"/>
          </a:xfrm>
          <a:prstGeom prst="rect">
            <a:avLst/>
          </a:prstGeom>
          <a:solidFill>
            <a:srgbClr val="E8763A"/>
          </a:solidFill>
          <a:ln/>
        </p:spPr>
      </p:sp>
      <p:sp>
        <p:nvSpPr>
          <p:cNvPr id="15" name="Text 11"/>
          <p:cNvSpPr/>
          <p:nvPr/>
        </p:nvSpPr>
        <p:spPr>
          <a:xfrm>
            <a:off x="5266035" y="6281440"/>
            <a:ext cx="59983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E69"/>
                </a:solidFill>
                <a:latin typeface="Arial" pitchFamily="34" charset="0"/>
                <a:ea typeface="Arial" pitchFamily="34" charset="-122"/>
                <a:cs typeface="Arial" pitchFamily="34" charset="-120"/>
              </a:rPr>
              <a:t>Modelo</a:t>
            </a:r>
            <a:endParaRPr lang="en-US" sz="1200" dirty="0"/>
          </a:p>
        </p:txBody>
      </p:sp>
      <p:sp>
        <p:nvSpPr>
          <p:cNvPr id="16" name="Shape 12"/>
          <p:cNvSpPr/>
          <p:nvPr/>
        </p:nvSpPr>
        <p:spPr>
          <a:xfrm>
            <a:off x="5892899" y="6330950"/>
            <a:ext cx="114300" cy="114300"/>
          </a:xfrm>
          <a:prstGeom prst="rect">
            <a:avLst/>
          </a:prstGeom>
          <a:solidFill>
            <a:srgbClr val="1F2238"/>
          </a:solidFill>
          <a:ln/>
        </p:spPr>
      </p:sp>
      <p:sp>
        <p:nvSpPr>
          <p:cNvPr id="17" name="Text 13"/>
          <p:cNvSpPr/>
          <p:nvPr/>
        </p:nvSpPr>
        <p:spPr>
          <a:xfrm>
            <a:off x="6057999" y="6281440"/>
            <a:ext cx="43719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2238"/>
                </a:solidFill>
                <a:latin typeface="Arial" pitchFamily="34" charset="0"/>
                <a:ea typeface="Arial" pitchFamily="34" charset="-122"/>
                <a:cs typeface="Arial" pitchFamily="34" charset="-120"/>
              </a:rPr>
              <a:t>Base</a:t>
            </a:r>
            <a:endParaRPr lang="en-US" sz="1200" dirty="0"/>
          </a:p>
        </p:txBody>
      </p:sp>
      <p:sp>
        <p:nvSpPr>
          <p:cNvPr id="18" name="Shape 14"/>
          <p:cNvSpPr/>
          <p:nvPr/>
        </p:nvSpPr>
        <p:spPr>
          <a:xfrm>
            <a:off x="6555680" y="6337300"/>
            <a:ext cx="101600" cy="101600"/>
          </a:xfrm>
          <a:prstGeom prst="rect">
            <a:avLst/>
          </a:prstGeom>
          <a:noFill/>
          <a:ln w="12700">
            <a:solidFill>
              <a:srgbClr val="6B6E85"/>
            </a:solidFill>
            <a:prstDash val="solid"/>
          </a:ln>
        </p:spPr>
      </p:sp>
      <p:sp>
        <p:nvSpPr>
          <p:cNvPr id="19" name="Text 15"/>
          <p:cNvSpPr/>
          <p:nvPr/>
        </p:nvSpPr>
        <p:spPr>
          <a:xfrm>
            <a:off x="6714430" y="6281440"/>
            <a:ext cx="105876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E85"/>
                </a:solidFill>
                <a:latin typeface="Arial" pitchFamily="34" charset="0"/>
                <a:ea typeface="Arial" pitchFamily="34" charset="-122"/>
                <a:cs typeface="Arial" pitchFamily="34" charset="-120"/>
              </a:rPr>
              <a:t>Experimentos</a:t>
            </a:r>
            <a:endParaRPr lang="en-US" sz="1200" dirty="0"/>
          </a:p>
        </p:txBody>
      </p:sp>
      <p:sp>
        <p:nvSpPr>
          <p:cNvPr id="20" name="Shape 16"/>
          <p:cNvSpPr/>
          <p:nvPr/>
        </p:nvSpPr>
        <p:spPr>
          <a:xfrm>
            <a:off x="7779544" y="6337300"/>
            <a:ext cx="101600" cy="101600"/>
          </a:xfrm>
          <a:prstGeom prst="rect">
            <a:avLst/>
          </a:prstGeom>
          <a:noFill/>
          <a:ln w="12700">
            <a:solidFill>
              <a:srgbClr val="6B6E85"/>
            </a:solidFill>
            <a:prstDash val="solid"/>
          </a:ln>
        </p:spPr>
      </p:sp>
      <p:sp>
        <p:nvSpPr>
          <p:cNvPr id="21" name="Text 17"/>
          <p:cNvSpPr/>
          <p:nvPr/>
        </p:nvSpPr>
        <p:spPr>
          <a:xfrm>
            <a:off x="7938294" y="6281440"/>
            <a:ext cx="5997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E85"/>
                </a:solidFill>
                <a:latin typeface="Arial" pitchFamily="34" charset="0"/>
                <a:ea typeface="Arial" pitchFamily="34" charset="-122"/>
                <a:cs typeface="Arial" pitchFamily="34" charset="-120"/>
              </a:rPr>
              <a:t>Galería</a:t>
            </a:r>
            <a:endParaRPr lang="en-US" sz="1200" dirty="0"/>
          </a:p>
        </p:txBody>
      </p:sp>
      <p:sp>
        <p:nvSpPr>
          <p:cNvPr id="22" name="Shape 18"/>
          <p:cNvSpPr/>
          <p:nvPr/>
        </p:nvSpPr>
        <p:spPr>
          <a:xfrm>
            <a:off x="8571409" y="6337300"/>
            <a:ext cx="101600" cy="101600"/>
          </a:xfrm>
          <a:prstGeom prst="rect">
            <a:avLst/>
          </a:prstGeom>
          <a:noFill/>
          <a:ln w="12700">
            <a:solidFill>
              <a:srgbClr val="6B6E85"/>
            </a:solidFill>
            <a:prstDash val="solid"/>
          </a:ln>
        </p:spPr>
      </p:sp>
      <p:sp>
        <p:nvSpPr>
          <p:cNvPr id="23" name="Text 19"/>
          <p:cNvSpPr/>
          <p:nvPr/>
        </p:nvSpPr>
        <p:spPr>
          <a:xfrm>
            <a:off x="8730159" y="6281440"/>
            <a:ext cx="49791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E85"/>
                </a:solidFill>
                <a:latin typeface="Arial" pitchFamily="34" charset="0"/>
                <a:ea typeface="Arial" pitchFamily="34" charset="-122"/>
                <a:cs typeface="Arial" pitchFamily="34" charset="-120"/>
              </a:rPr>
              <a:t>Cierre</a:t>
            </a:r>
            <a:endParaRPr lang="en-US" sz="1200" dirty="0"/>
          </a:p>
        </p:txBody>
      </p:sp>
      <p:sp>
        <p:nvSpPr>
          <p:cNvPr id="24" name="Text 20"/>
          <p:cNvSpPr/>
          <p:nvPr/>
        </p:nvSpPr>
        <p:spPr>
          <a:xfrm>
            <a:off x="10921643" y="6281440"/>
            <a:ext cx="457557"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4E69"/>
                </a:solidFill>
                <a:latin typeface="Arial" pitchFamily="34" charset="0"/>
                <a:ea typeface="Arial" pitchFamily="34" charset="-122"/>
                <a:cs typeface="Arial" pitchFamily="34" charset="-120"/>
              </a:rPr>
              <a:t>4 / 12</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2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9501F"/>
                </a:solidFill>
                <a:latin typeface="Arial" pitchFamily="34" charset="0"/>
                <a:ea typeface="Arial" pitchFamily="34" charset="-122"/>
                <a:cs typeface="Arial" pitchFamily="34" charset="-120"/>
              </a:rPr>
              <a:t>04 · EXPERIMENTO DE PÉRDIDA: BCE → HINGE</a:t>
            </a:r>
            <a:endParaRPr lang="en-US" sz="1200" dirty="0"/>
          </a:p>
        </p:txBody>
      </p:sp>
      <p:sp>
        <p:nvSpPr>
          <p:cNvPr id="3" name="Text 1"/>
          <p:cNvSpPr/>
          <p:nvPr>
            <p:ph type="title"/>
          </p:nvPr>
        </p:nvSpPr>
        <p:spPr>
          <a:xfrm>
            <a:off x="812800" y="10769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F2238"/>
                </a:solidFill>
                <a:latin typeface="Arial" pitchFamily="34" charset="0"/>
                <a:ea typeface="Arial" pitchFamily="34" charset="-122"/>
                <a:cs typeface="Arial" pitchFamily="34" charset="-120"/>
              </a:rPr>
              <a:t>Cambio 1: una forma de puntuar más justa</a:t>
            </a:r>
            <a:endParaRPr lang="en-US" sz="3000" dirty="0"/>
          </a:p>
        </p:txBody>
      </p:sp>
      <p:pic>
        <p:nvPicPr>
          <p:cNvPr id="4" name="Image 0" descr="Rejilla de ruido fijo de la prueba hinge en ocho épocas">    </p:cNvPr>
          <p:cNvPicPr>
            <a:picLocks noChangeAspect="1"/>
          </p:cNvPicPr>
          <p:nvPr/>
        </p:nvPicPr>
        <p:blipFill>
          <a:blip r:embed="rId1"/>
          <a:srcRect l="0" r="0" t="-37" b="-37"/>
          <a:stretch/>
        </p:blipFill>
        <p:spPr>
          <a:xfrm>
            <a:off x="812800" y="1648420"/>
            <a:ext cx="10566400" cy="1562100"/>
          </a:xfrm>
          <a:prstGeom prst="roundRect">
            <a:avLst>
              <a:gd name="adj" fmla="val 4878"/>
            </a:avLst>
          </a:prstGeom>
        </p:spPr>
      </p:pic>
      <p:sp>
        <p:nvSpPr>
          <p:cNvPr id="5" name="Shape 2"/>
          <p:cNvSpPr/>
          <p:nvPr/>
        </p:nvSpPr>
        <p:spPr>
          <a:xfrm>
            <a:off x="812800" y="3362920"/>
            <a:ext cx="3394075" cy="2349500"/>
          </a:xfrm>
          <a:prstGeom prst="roundRect">
            <a:avLst>
              <a:gd name="adj" fmla="val 4324"/>
            </a:avLst>
          </a:prstGeom>
          <a:solidFill>
            <a:srgbClr val="FBFBF8"/>
          </a:solidFill>
          <a:ln/>
        </p:spPr>
      </p:sp>
      <p:sp>
        <p:nvSpPr>
          <p:cNvPr id="6" name="Shape 3"/>
          <p:cNvSpPr/>
          <p:nvPr/>
        </p:nvSpPr>
        <p:spPr>
          <a:xfrm>
            <a:off x="812800" y="3362920"/>
            <a:ext cx="3394075" cy="2349500"/>
          </a:xfrm>
          <a:custGeom>
            <a:avLst/>
            <a:gdLst/>
            <a:ahLst/>
            <a:cxnLst/>
            <a:rect l="l" t="t" r="r" b="b"/>
            <a:pathLst>
              <a:path w="3394075" h="2349500">
                <a:moveTo>
                  <a:pt x="101600" y="2349500"/>
                </a:moveTo>
                <a:lnTo>
                  <a:pt x="101600" y="2349500"/>
                </a:lnTo>
                <a:arcTo hR="101600" wR="101600" stAng="5400000" swAng="5400000"/>
                <a:lnTo>
                  <a:pt x="0" y="101600"/>
                </a:lnTo>
                <a:arcTo hR="101600" wR="101600" stAng="10800000" swAng="5400000"/>
                <a:lnTo>
                  <a:pt x="101600" y="0"/>
                </a:lnTo>
                <a:arcTo hR="101600" wR="50800" stAng="16200000" swAng="-5400000"/>
                <a:lnTo>
                  <a:pt x="50800" y="2247900"/>
                </a:lnTo>
                <a:arcTo hR="101600" wR="50800" stAng="10800000" swAng="-5400000"/>
                <a:close/>
              </a:path>
            </a:pathLst>
          </a:custGeom>
          <a:solidFill>
            <a:srgbClr val="E8763A"/>
          </a:solidFill>
          <a:ln/>
        </p:spPr>
      </p:sp>
      <p:sp>
        <p:nvSpPr>
          <p:cNvPr id="7" name="Text 4"/>
          <p:cNvSpPr/>
          <p:nvPr/>
        </p:nvSpPr>
        <p:spPr>
          <a:xfrm>
            <a:off x="1041400" y="3540720"/>
            <a:ext cx="3077305" cy="452041"/>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9501F"/>
                </a:solidFill>
                <a:latin typeface="Arial" pitchFamily="34" charset="0"/>
                <a:ea typeface="Arial" pitchFamily="34" charset="-122"/>
                <a:cs typeface="Arial" pitchFamily="34" charset="-120"/>
              </a:rPr>
              <a:t>SE ESPERABA (ANTES DE ENTRENAR)</a:t>
            </a:r>
            <a:endParaRPr lang="en-US" sz="1200" dirty="0"/>
          </a:p>
        </p:txBody>
      </p:sp>
      <p:sp>
        <p:nvSpPr>
          <p:cNvPr id="8" name="Text 5"/>
          <p:cNvSpPr/>
          <p:nvPr/>
        </p:nvSpPr>
        <p:spPr>
          <a:xfrm>
            <a:off x="1041400" y="4043561"/>
            <a:ext cx="3077305" cy="949722"/>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3D57"/>
                </a:solidFill>
                <a:latin typeface="Arial" pitchFamily="34" charset="0"/>
                <a:ea typeface="Arial" pitchFamily="34" charset="-122"/>
                <a:cs typeface="Arial" pitchFamily="34" charset="-120"/>
              </a:rPr>
              <a:t>Con hinge, el policía deja de esforzarse cuando ya acertó con margen. Se esperaban </a:t>
            </a:r>
            <a:r>
              <a:rPr lang="en-US" sz="1300" b="1" dirty="0">
                <a:solidFill>
                  <a:srgbClr val="3A3D57"/>
                </a:solidFill>
                <a:latin typeface="Arial" pitchFamily="34" charset="0"/>
                <a:ea typeface="Arial" pitchFamily="34" charset="-122"/>
                <a:cs typeface="Arial" pitchFamily="34" charset="-120"/>
              </a:rPr>
              <a:t>menos picos y mejor FID</a:t>
            </a:r>
            <a:r>
              <a:rPr lang="en-US" sz="1300" dirty="0">
                <a:solidFill>
                  <a:srgbClr val="3A3D57"/>
                </a:solidFill>
                <a:latin typeface="Arial" pitchFamily="34" charset="0"/>
                <a:ea typeface="Arial" pitchFamily="34" charset="-122"/>
                <a:cs typeface="Arial" pitchFamily="34" charset="-120"/>
              </a:rPr>
              <a:t>, sin perder variedad.</a:t>
            </a:r>
            <a:endParaRPr lang="en-US" sz="1300" dirty="0"/>
          </a:p>
        </p:txBody>
      </p:sp>
      <p:sp>
        <p:nvSpPr>
          <p:cNvPr id="9" name="Text 6"/>
          <p:cNvSpPr/>
          <p:nvPr/>
        </p:nvSpPr>
        <p:spPr>
          <a:xfrm>
            <a:off x="1041400" y="5044083"/>
            <a:ext cx="307730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E85"/>
                </a:solidFill>
                <a:latin typeface="Arial" pitchFamily="34" charset="0"/>
                <a:ea typeface="Arial" pitchFamily="34" charset="-122"/>
                <a:cs typeface="Arial" pitchFamily="34" charset="-120"/>
              </a:rPr>
              <a:t>Solo cambia la pérdida.</a:t>
            </a:r>
            <a:endParaRPr lang="en-US" sz="1200" dirty="0"/>
          </a:p>
        </p:txBody>
      </p:sp>
      <p:sp>
        <p:nvSpPr>
          <p:cNvPr id="10" name="Shape 7"/>
          <p:cNvSpPr/>
          <p:nvPr/>
        </p:nvSpPr>
        <p:spPr>
          <a:xfrm>
            <a:off x="4359275" y="3362920"/>
            <a:ext cx="3343275" cy="2349500"/>
          </a:xfrm>
          <a:prstGeom prst="roundRect">
            <a:avLst>
              <a:gd name="adj" fmla="val 4324"/>
            </a:avLst>
          </a:prstGeom>
          <a:solidFill>
            <a:srgbClr val="FBFBF8"/>
          </a:solidFill>
          <a:ln/>
        </p:spPr>
      </p:sp>
      <p:sp>
        <p:nvSpPr>
          <p:cNvPr id="11" name="Text 8"/>
          <p:cNvSpPr/>
          <p:nvPr/>
        </p:nvSpPr>
        <p:spPr>
          <a:xfrm>
            <a:off x="4537075" y="3540720"/>
            <a:ext cx="3077305"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7563"/>
                </a:solidFill>
                <a:latin typeface="Arial" pitchFamily="34" charset="0"/>
                <a:ea typeface="Arial" pitchFamily="34" charset="-122"/>
                <a:cs typeface="Arial" pitchFamily="34" charset="-120"/>
              </a:rPr>
              <a:t>LO QUE PASÓ</a:t>
            </a:r>
            <a:endParaRPr lang="en-US" sz="1200" dirty="0"/>
          </a:p>
        </p:txBody>
      </p:sp>
      <p:pic>
        <p:nvPicPr>
          <p:cNvPr id="12" name="Image 1" descr="Check">    </p:cNvPr>
          <p:cNvPicPr>
            <a:picLocks noChangeAspect="1"/>
          </p:cNvPicPr>
          <p:nvPr/>
        </p:nvPicPr>
        <p:blipFill>
          <a:blip r:embed="rId2"/>
          <a:srcRect l="0" r="0" t="-104" b="-104"/>
          <a:stretch/>
        </p:blipFill>
        <p:spPr>
          <a:xfrm>
            <a:off x="4537075" y="3842941"/>
            <a:ext cx="190103" cy="203200"/>
          </a:xfrm>
          <a:prstGeom prst="rect">
            <a:avLst/>
          </a:prstGeom>
        </p:spPr>
      </p:pic>
      <p:sp>
        <p:nvSpPr>
          <p:cNvPr id="13" name="Text 9"/>
          <p:cNvSpPr/>
          <p:nvPr/>
        </p:nvSpPr>
        <p:spPr>
          <a:xfrm>
            <a:off x="4803378" y="3842941"/>
            <a:ext cx="2803013"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A3D57"/>
                </a:solidFill>
                <a:latin typeface="Arial" pitchFamily="34" charset="0"/>
                <a:ea typeface="Arial" pitchFamily="34" charset="-122"/>
                <a:cs typeface="Arial" pitchFamily="34" charset="-120"/>
              </a:rPr>
              <a:t>Curvas más suaves, sin picos repetidos</a:t>
            </a:r>
            <a:endParaRPr lang="en-US" sz="1300" dirty="0"/>
          </a:p>
        </p:txBody>
      </p:sp>
      <p:pic>
        <p:nvPicPr>
          <p:cNvPr id="14" name="Image 2" descr="Check">    </p:cNvPr>
          <p:cNvPicPr>
            <a:picLocks noChangeAspect="1"/>
          </p:cNvPicPr>
          <p:nvPr/>
        </p:nvPicPr>
        <p:blipFill>
          <a:blip r:embed="rId3"/>
          <a:srcRect l="0" r="0" t="0" b="0"/>
          <a:stretch/>
        </p:blipFill>
        <p:spPr>
          <a:xfrm>
            <a:off x="4537075" y="4377531"/>
            <a:ext cx="203200" cy="203200"/>
          </a:xfrm>
          <a:prstGeom prst="rect">
            <a:avLst/>
          </a:prstGeom>
        </p:spPr>
      </p:pic>
      <p:sp>
        <p:nvSpPr>
          <p:cNvPr id="15" name="Text 10"/>
          <p:cNvSpPr/>
          <p:nvPr/>
        </p:nvSpPr>
        <p:spPr>
          <a:xfrm>
            <a:off x="4816475" y="4377531"/>
            <a:ext cx="2378869"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A3D57"/>
                </a:solidFill>
                <a:latin typeface="Arial" pitchFamily="34" charset="0"/>
                <a:ea typeface="Arial" pitchFamily="34" charset="-122"/>
                <a:cs typeface="Arial" pitchFamily="34" charset="-120"/>
              </a:rPr>
              <a:t>Más variedad: 0.97 → 0.99</a:t>
            </a:r>
            <a:endParaRPr lang="en-US" sz="1300" dirty="0"/>
          </a:p>
        </p:txBody>
      </p:sp>
      <p:pic>
        <p:nvPicPr>
          <p:cNvPr id="16" name="Image 3" descr="Warning">    </p:cNvPr>
          <p:cNvPicPr>
            <a:picLocks noChangeAspect="1"/>
          </p:cNvPicPr>
          <p:nvPr/>
        </p:nvPicPr>
        <p:blipFill>
          <a:blip r:embed="rId4"/>
          <a:srcRect l="0" r="0" t="0" b="0"/>
          <a:stretch/>
        </p:blipFill>
        <p:spPr>
          <a:xfrm>
            <a:off x="4537075" y="4689277"/>
            <a:ext cx="203200" cy="203200"/>
          </a:xfrm>
          <a:prstGeom prst="rect">
            <a:avLst/>
          </a:prstGeom>
        </p:spPr>
      </p:pic>
      <p:sp>
        <p:nvSpPr>
          <p:cNvPr id="17" name="Text 11"/>
          <p:cNvSpPr/>
          <p:nvPr/>
        </p:nvSpPr>
        <p:spPr>
          <a:xfrm>
            <a:off x="4816475" y="4689277"/>
            <a:ext cx="2665095"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A3D57"/>
                </a:solidFill>
                <a:latin typeface="Arial" pitchFamily="34" charset="0"/>
                <a:ea typeface="Arial" pitchFamily="34" charset="-122"/>
                <a:cs typeface="Arial" pitchFamily="34" charset="-120"/>
              </a:rPr>
              <a:t>FID 151.8 → 161.9: no mejoró</a:t>
            </a:r>
            <a:endParaRPr lang="en-US" sz="1300" dirty="0"/>
          </a:p>
        </p:txBody>
      </p:sp>
      <p:sp>
        <p:nvSpPr>
          <p:cNvPr id="18" name="Text 12"/>
          <p:cNvSpPr/>
          <p:nvPr/>
        </p:nvSpPr>
        <p:spPr>
          <a:xfrm>
            <a:off x="4537075" y="5001022"/>
            <a:ext cx="2987675" cy="289520"/>
          </a:xfrm>
          <a:prstGeom prst="roundRect">
            <a:avLst>
              <a:gd name="adj" fmla="val 17546"/>
            </a:avLst>
          </a:prstGeom>
          <a:solidFill>
            <a:srgbClr val="FFDFBF"/>
          </a:solidFill>
          <a:ln/>
        </p:spPr>
        <p:txBody>
          <a:bodyPr wrap="square" lIns="86721" tIns="23221" rIns="3187" bIns="0" rtlCol="0" anchor="t">
            <a:normAutofit/>
          </a:bodyPr>
          <a:lstStyle/>
          <a:p>
            <a:pPr algn="l" indent="0" marL="0">
              <a:lnSpc>
                <a:spcPts val="1680"/>
              </a:lnSpc>
              <a:buNone/>
            </a:pPr>
            <a:r>
              <a:rPr lang="en-US" sz="1200" b="1" dirty="0">
                <a:solidFill>
                  <a:srgbClr val="1F2238"/>
                </a:solidFill>
                <a:latin typeface="Arial" pitchFamily="34" charset="0"/>
                <a:ea typeface="Arial" pitchFamily="34" charset="-122"/>
                <a:cs typeface="Arial" pitchFamily="34" charset="-120"/>
              </a:rPr>
              <a:t>Se cumplió en parte</a:t>
            </a:r>
            <a:endParaRPr lang="en-US" sz="1200" dirty="0"/>
          </a:p>
        </p:txBody>
      </p:sp>
      <p:pic>
        <p:nvPicPr>
          <p:cNvPr id="19" name="Image 4" descr="Curvas de error de la prueba hinge">    </p:cNvPr>
          <p:cNvPicPr>
            <a:picLocks noChangeAspect="1"/>
          </p:cNvPicPr>
          <p:nvPr/>
        </p:nvPicPr>
        <p:blipFill>
          <a:blip r:embed="rId5"/>
          <a:srcRect l="0" r="0" t="0" b="0"/>
          <a:stretch/>
        </p:blipFill>
        <p:spPr>
          <a:xfrm>
            <a:off x="7854950" y="3362920"/>
            <a:ext cx="3524250" cy="2349500"/>
          </a:xfrm>
          <a:prstGeom prst="roundRect">
            <a:avLst>
              <a:gd name="adj" fmla="val 3243"/>
            </a:avLst>
          </a:prstGeom>
        </p:spPr>
      </p:pic>
      <p:sp>
        <p:nvSpPr>
          <p:cNvPr id="20" name="Text 13"/>
          <p:cNvSpPr/>
          <p:nvPr/>
        </p:nvSpPr>
        <p:spPr>
          <a:xfrm>
            <a:off x="812800" y="6281440"/>
            <a:ext cx="18501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E69"/>
                </a:solidFill>
                <a:latin typeface="Arial" pitchFamily="34" charset="0"/>
                <a:ea typeface="Arial" pitchFamily="34" charset="-122"/>
                <a:cs typeface="Arial" pitchFamily="34" charset="-120"/>
              </a:rPr>
              <a:t>Cubópolis · Proyecto 2</a:t>
            </a:r>
            <a:endParaRPr lang="en-US" sz="1200" dirty="0"/>
          </a:p>
        </p:txBody>
      </p:sp>
      <p:sp>
        <p:nvSpPr>
          <p:cNvPr id="21" name="Shape 14"/>
          <p:cNvSpPr/>
          <p:nvPr/>
        </p:nvSpPr>
        <p:spPr>
          <a:xfrm>
            <a:off x="4177903" y="6330950"/>
            <a:ext cx="114300" cy="114300"/>
          </a:xfrm>
          <a:prstGeom prst="rect">
            <a:avLst/>
          </a:prstGeom>
          <a:solidFill>
            <a:srgbClr val="E8763A"/>
          </a:solidFill>
          <a:ln/>
        </p:spPr>
      </p:sp>
      <p:sp>
        <p:nvSpPr>
          <p:cNvPr id="22" name="Text 15"/>
          <p:cNvSpPr/>
          <p:nvPr/>
        </p:nvSpPr>
        <p:spPr>
          <a:xfrm>
            <a:off x="4343003" y="6281440"/>
            <a:ext cx="72163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E69"/>
                </a:solidFill>
                <a:latin typeface="Arial" pitchFamily="34" charset="0"/>
                <a:ea typeface="Arial" pitchFamily="34" charset="-122"/>
                <a:cs typeface="Arial" pitchFamily="34" charset="-120"/>
              </a:rPr>
              <a:t>Universo</a:t>
            </a:r>
            <a:endParaRPr lang="en-US" sz="1200" dirty="0"/>
          </a:p>
        </p:txBody>
      </p:sp>
      <p:sp>
        <p:nvSpPr>
          <p:cNvPr id="23" name="Shape 16"/>
          <p:cNvSpPr/>
          <p:nvPr/>
        </p:nvSpPr>
        <p:spPr>
          <a:xfrm>
            <a:off x="5071368" y="6330950"/>
            <a:ext cx="114300" cy="114300"/>
          </a:xfrm>
          <a:prstGeom prst="rect">
            <a:avLst/>
          </a:prstGeom>
          <a:solidFill>
            <a:srgbClr val="E8763A"/>
          </a:solidFill>
          <a:ln/>
        </p:spPr>
      </p:sp>
      <p:sp>
        <p:nvSpPr>
          <p:cNvPr id="24" name="Text 17"/>
          <p:cNvSpPr/>
          <p:nvPr/>
        </p:nvSpPr>
        <p:spPr>
          <a:xfrm>
            <a:off x="5236468" y="6281440"/>
            <a:ext cx="59983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E69"/>
                </a:solidFill>
                <a:latin typeface="Arial" pitchFamily="34" charset="0"/>
                <a:ea typeface="Arial" pitchFamily="34" charset="-122"/>
                <a:cs typeface="Arial" pitchFamily="34" charset="-120"/>
              </a:rPr>
              <a:t>Modelo</a:t>
            </a:r>
            <a:endParaRPr lang="en-US" sz="1200" dirty="0"/>
          </a:p>
        </p:txBody>
      </p:sp>
      <p:sp>
        <p:nvSpPr>
          <p:cNvPr id="25" name="Shape 18"/>
          <p:cNvSpPr/>
          <p:nvPr/>
        </p:nvSpPr>
        <p:spPr>
          <a:xfrm>
            <a:off x="5863332" y="6330950"/>
            <a:ext cx="114300" cy="114300"/>
          </a:xfrm>
          <a:prstGeom prst="rect">
            <a:avLst/>
          </a:prstGeom>
          <a:solidFill>
            <a:srgbClr val="E8763A"/>
          </a:solidFill>
          <a:ln/>
        </p:spPr>
      </p:sp>
      <p:sp>
        <p:nvSpPr>
          <p:cNvPr id="26" name="Text 19"/>
          <p:cNvSpPr/>
          <p:nvPr/>
        </p:nvSpPr>
        <p:spPr>
          <a:xfrm>
            <a:off x="6028432" y="6281440"/>
            <a:ext cx="41683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E69"/>
                </a:solidFill>
                <a:latin typeface="Arial" pitchFamily="34" charset="0"/>
                <a:ea typeface="Arial" pitchFamily="34" charset="-122"/>
                <a:cs typeface="Arial" pitchFamily="34" charset="-120"/>
              </a:rPr>
              <a:t>Base</a:t>
            </a:r>
            <a:endParaRPr lang="en-US" sz="1200" dirty="0"/>
          </a:p>
        </p:txBody>
      </p:sp>
      <p:sp>
        <p:nvSpPr>
          <p:cNvPr id="27" name="Shape 20"/>
          <p:cNvSpPr/>
          <p:nvPr/>
        </p:nvSpPr>
        <p:spPr>
          <a:xfrm>
            <a:off x="6502797" y="6330950"/>
            <a:ext cx="114300" cy="114300"/>
          </a:xfrm>
          <a:prstGeom prst="rect">
            <a:avLst/>
          </a:prstGeom>
          <a:solidFill>
            <a:srgbClr val="1F2238"/>
          </a:solidFill>
          <a:ln/>
        </p:spPr>
      </p:sp>
      <p:sp>
        <p:nvSpPr>
          <p:cNvPr id="28" name="Text 21"/>
          <p:cNvSpPr/>
          <p:nvPr/>
        </p:nvSpPr>
        <p:spPr>
          <a:xfrm>
            <a:off x="6667897" y="6281440"/>
            <a:ext cx="113486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2238"/>
                </a:solidFill>
                <a:latin typeface="Arial" pitchFamily="34" charset="0"/>
                <a:ea typeface="Arial" pitchFamily="34" charset="-122"/>
                <a:cs typeface="Arial" pitchFamily="34" charset="-120"/>
              </a:rPr>
              <a:t>Experimentos</a:t>
            </a:r>
            <a:endParaRPr lang="en-US" sz="1200" dirty="0"/>
          </a:p>
        </p:txBody>
      </p:sp>
      <p:sp>
        <p:nvSpPr>
          <p:cNvPr id="29" name="Shape 22"/>
          <p:cNvSpPr/>
          <p:nvPr/>
        </p:nvSpPr>
        <p:spPr>
          <a:xfrm>
            <a:off x="7809111" y="6337300"/>
            <a:ext cx="101600" cy="101600"/>
          </a:xfrm>
          <a:prstGeom prst="rect">
            <a:avLst/>
          </a:prstGeom>
          <a:noFill/>
          <a:ln w="12700">
            <a:solidFill>
              <a:srgbClr val="6B6E85"/>
            </a:solidFill>
            <a:prstDash val="solid"/>
          </a:ln>
        </p:spPr>
      </p:sp>
      <p:sp>
        <p:nvSpPr>
          <p:cNvPr id="30" name="Text 23"/>
          <p:cNvSpPr/>
          <p:nvPr/>
        </p:nvSpPr>
        <p:spPr>
          <a:xfrm>
            <a:off x="7967861" y="6281440"/>
            <a:ext cx="5997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E85"/>
                </a:solidFill>
                <a:latin typeface="Arial" pitchFamily="34" charset="0"/>
                <a:ea typeface="Arial" pitchFamily="34" charset="-122"/>
                <a:cs typeface="Arial" pitchFamily="34" charset="-120"/>
              </a:rPr>
              <a:t>Galería</a:t>
            </a:r>
            <a:endParaRPr lang="en-US" sz="1200" dirty="0"/>
          </a:p>
        </p:txBody>
      </p:sp>
      <p:sp>
        <p:nvSpPr>
          <p:cNvPr id="31" name="Shape 24"/>
          <p:cNvSpPr/>
          <p:nvPr/>
        </p:nvSpPr>
        <p:spPr>
          <a:xfrm>
            <a:off x="8600976" y="6337300"/>
            <a:ext cx="101600" cy="101600"/>
          </a:xfrm>
          <a:prstGeom prst="rect">
            <a:avLst/>
          </a:prstGeom>
          <a:noFill/>
          <a:ln w="12700">
            <a:solidFill>
              <a:srgbClr val="6B6E85"/>
            </a:solidFill>
            <a:prstDash val="solid"/>
          </a:ln>
        </p:spPr>
      </p:sp>
      <p:sp>
        <p:nvSpPr>
          <p:cNvPr id="32" name="Text 25"/>
          <p:cNvSpPr/>
          <p:nvPr/>
        </p:nvSpPr>
        <p:spPr>
          <a:xfrm>
            <a:off x="8759726" y="6281440"/>
            <a:ext cx="49791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E85"/>
                </a:solidFill>
                <a:latin typeface="Arial" pitchFamily="34" charset="0"/>
                <a:ea typeface="Arial" pitchFamily="34" charset="-122"/>
                <a:cs typeface="Arial" pitchFamily="34" charset="-120"/>
              </a:rPr>
              <a:t>Cierre</a:t>
            </a:r>
            <a:endParaRPr lang="en-US" sz="1200" dirty="0"/>
          </a:p>
        </p:txBody>
      </p:sp>
      <p:sp>
        <p:nvSpPr>
          <p:cNvPr id="33" name="Text 26"/>
          <p:cNvSpPr/>
          <p:nvPr/>
        </p:nvSpPr>
        <p:spPr>
          <a:xfrm>
            <a:off x="10921643" y="6281440"/>
            <a:ext cx="457557"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4E69"/>
                </a:solidFill>
                <a:latin typeface="Arial" pitchFamily="34" charset="0"/>
                <a:ea typeface="Arial" pitchFamily="34" charset="-122"/>
                <a:cs typeface="Arial" pitchFamily="34" charset="-120"/>
              </a:rPr>
              <a:t>5 / 12</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2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9501F"/>
                </a:solidFill>
                <a:latin typeface="Arial" pitchFamily="34" charset="0"/>
                <a:ea typeface="Arial" pitchFamily="34" charset="-122"/>
                <a:cs typeface="Arial" pitchFamily="34" charset="-120"/>
              </a:rPr>
              <a:t>04 · EXPERIMENTO DE ESTABILIZACIÓN: NORMALIZACIÓN ESPECTRAL</a:t>
            </a:r>
            <a:endParaRPr lang="en-US" sz="1200" dirty="0"/>
          </a:p>
        </p:txBody>
      </p:sp>
      <p:sp>
        <p:nvSpPr>
          <p:cNvPr id="3" name="Text 1"/>
          <p:cNvSpPr/>
          <p:nvPr>
            <p:ph type="title"/>
          </p:nvPr>
        </p:nvSpPr>
        <p:spPr>
          <a:xfrm>
            <a:off x="812800" y="10769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F2238"/>
                </a:solidFill>
                <a:latin typeface="Arial" pitchFamily="34" charset="0"/>
                <a:ea typeface="Arial" pitchFamily="34" charset="-122"/>
                <a:cs typeface="Arial" pitchFamily="34" charset="-120"/>
              </a:rPr>
              <a:t>Cambio 2: frenar al policía… y colapsó</a:t>
            </a:r>
            <a:endParaRPr lang="en-US" sz="3000" dirty="0"/>
          </a:p>
        </p:txBody>
      </p:sp>
      <p:pic>
        <p:nvPicPr>
          <p:cNvPr id="4" name="Image 0" descr="Rejilla de ruido fijo de la prueba con normalización espectral: variada hasta la época 130, todos iguales en la 170 y ruido en la 200">    </p:cNvPr>
          <p:cNvPicPr>
            <a:picLocks noChangeAspect="1"/>
          </p:cNvPicPr>
          <p:nvPr/>
        </p:nvPicPr>
        <p:blipFill>
          <a:blip r:embed="rId1"/>
          <a:srcRect l="0" r="0" t="-37" b="-37"/>
          <a:stretch/>
        </p:blipFill>
        <p:spPr>
          <a:xfrm>
            <a:off x="812800" y="1648420"/>
            <a:ext cx="10566400" cy="1562100"/>
          </a:xfrm>
          <a:prstGeom prst="roundRect">
            <a:avLst>
              <a:gd name="adj" fmla="val 4878"/>
            </a:avLst>
          </a:prstGeom>
        </p:spPr>
      </p:pic>
      <p:sp>
        <p:nvSpPr>
          <p:cNvPr id="5" name="Shape 2"/>
          <p:cNvSpPr/>
          <p:nvPr/>
        </p:nvSpPr>
        <p:spPr>
          <a:xfrm>
            <a:off x="812800" y="3362920"/>
            <a:ext cx="3394075" cy="2349500"/>
          </a:xfrm>
          <a:prstGeom prst="roundRect">
            <a:avLst>
              <a:gd name="adj" fmla="val 4324"/>
            </a:avLst>
          </a:prstGeom>
          <a:solidFill>
            <a:srgbClr val="FBFBF8"/>
          </a:solidFill>
          <a:ln/>
        </p:spPr>
      </p:sp>
      <p:sp>
        <p:nvSpPr>
          <p:cNvPr id="6" name="Shape 3"/>
          <p:cNvSpPr/>
          <p:nvPr/>
        </p:nvSpPr>
        <p:spPr>
          <a:xfrm>
            <a:off x="812800" y="3362920"/>
            <a:ext cx="3394075" cy="2349500"/>
          </a:xfrm>
          <a:custGeom>
            <a:avLst/>
            <a:gdLst/>
            <a:ahLst/>
            <a:cxnLst/>
            <a:rect l="l" t="t" r="r" b="b"/>
            <a:pathLst>
              <a:path w="3394075" h="2349500">
                <a:moveTo>
                  <a:pt x="101600" y="2349500"/>
                </a:moveTo>
                <a:lnTo>
                  <a:pt x="101600" y="2349500"/>
                </a:lnTo>
                <a:arcTo hR="101600" wR="101600" stAng="5400000" swAng="5400000"/>
                <a:lnTo>
                  <a:pt x="0" y="101600"/>
                </a:lnTo>
                <a:arcTo hR="101600" wR="101600" stAng="10800000" swAng="5400000"/>
                <a:lnTo>
                  <a:pt x="101600" y="0"/>
                </a:lnTo>
                <a:arcTo hR="101600" wR="50800" stAng="16200000" swAng="-5400000"/>
                <a:lnTo>
                  <a:pt x="50800" y="2247900"/>
                </a:lnTo>
                <a:arcTo hR="101600" wR="50800" stAng="10800000" swAng="-5400000"/>
                <a:close/>
              </a:path>
            </a:pathLst>
          </a:custGeom>
          <a:solidFill>
            <a:srgbClr val="E8763A"/>
          </a:solidFill>
          <a:ln/>
        </p:spPr>
      </p:sp>
      <p:sp>
        <p:nvSpPr>
          <p:cNvPr id="7" name="Text 4"/>
          <p:cNvSpPr/>
          <p:nvPr/>
        </p:nvSpPr>
        <p:spPr>
          <a:xfrm>
            <a:off x="1041400" y="3540720"/>
            <a:ext cx="3077305" cy="452041"/>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9501F"/>
                </a:solidFill>
                <a:latin typeface="Arial" pitchFamily="34" charset="0"/>
                <a:ea typeface="Arial" pitchFamily="34" charset="-122"/>
                <a:cs typeface="Arial" pitchFamily="34" charset="-120"/>
              </a:rPr>
              <a:t>SE ESPERABA (ANTES DE ENTRENAR)</a:t>
            </a:r>
            <a:endParaRPr lang="en-US" sz="1200" dirty="0"/>
          </a:p>
        </p:txBody>
      </p:sp>
      <p:sp>
        <p:nvSpPr>
          <p:cNvPr id="8" name="Text 5"/>
          <p:cNvSpPr/>
          <p:nvPr/>
        </p:nvSpPr>
        <p:spPr>
          <a:xfrm>
            <a:off x="1041400" y="4043561"/>
            <a:ext cx="3077305" cy="949722"/>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3D57"/>
                </a:solidFill>
                <a:latin typeface="Arial" pitchFamily="34" charset="0"/>
                <a:ea typeface="Arial" pitchFamily="34" charset="-122"/>
                <a:cs typeface="Arial" pitchFamily="34" charset="-120"/>
              </a:rPr>
              <a:t>Esta técnica limita qué tan brusco reacciona el policía. Se esperaba que </a:t>
            </a:r>
            <a:r>
              <a:rPr lang="en-US" sz="1300" b="1" dirty="0">
                <a:solidFill>
                  <a:srgbClr val="3A3D57"/>
                </a:solidFill>
                <a:latin typeface="Arial" pitchFamily="34" charset="0"/>
                <a:ea typeface="Arial" pitchFamily="34" charset="-122"/>
                <a:cs typeface="Arial" pitchFamily="34" charset="-120"/>
              </a:rPr>
              <a:t>dejara de estar tan seguro</a:t>
            </a:r>
            <a:r>
              <a:rPr lang="en-US" sz="1300" dirty="0">
                <a:solidFill>
                  <a:srgbClr val="3A3D57"/>
                </a:solidFill>
                <a:latin typeface="Arial" pitchFamily="34" charset="0"/>
                <a:ea typeface="Arial" pitchFamily="34" charset="-122"/>
                <a:cs typeface="Arial" pitchFamily="34" charset="-120"/>
              </a:rPr>
              <a:t> y que el entrenamiento oscilara menos.</a:t>
            </a:r>
            <a:endParaRPr lang="en-US" sz="1300" dirty="0"/>
          </a:p>
        </p:txBody>
      </p:sp>
      <p:sp>
        <p:nvSpPr>
          <p:cNvPr id="9" name="Text 6"/>
          <p:cNvSpPr/>
          <p:nvPr/>
        </p:nvSpPr>
        <p:spPr>
          <a:xfrm>
            <a:off x="1041400" y="5044083"/>
            <a:ext cx="307730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E85"/>
                </a:solidFill>
                <a:latin typeface="Arial" pitchFamily="34" charset="0"/>
                <a:ea typeface="Arial" pitchFamily="34" charset="-122"/>
                <a:cs typeface="Arial" pitchFamily="34" charset="-120"/>
              </a:rPr>
              <a:t>Solo cambia el policía.</a:t>
            </a:r>
            <a:endParaRPr lang="en-US" sz="1200" dirty="0"/>
          </a:p>
        </p:txBody>
      </p:sp>
      <p:sp>
        <p:nvSpPr>
          <p:cNvPr id="10" name="Shape 7"/>
          <p:cNvSpPr/>
          <p:nvPr/>
        </p:nvSpPr>
        <p:spPr>
          <a:xfrm>
            <a:off x="4359275" y="3362920"/>
            <a:ext cx="3343275" cy="2349500"/>
          </a:xfrm>
          <a:prstGeom prst="roundRect">
            <a:avLst>
              <a:gd name="adj" fmla="val 4324"/>
            </a:avLst>
          </a:prstGeom>
          <a:solidFill>
            <a:srgbClr val="FBFBF8"/>
          </a:solidFill>
          <a:ln/>
        </p:spPr>
      </p:sp>
      <p:sp>
        <p:nvSpPr>
          <p:cNvPr id="11" name="Text 8"/>
          <p:cNvSpPr/>
          <p:nvPr/>
        </p:nvSpPr>
        <p:spPr>
          <a:xfrm>
            <a:off x="4537075" y="3540720"/>
            <a:ext cx="3077305"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9501F"/>
                </a:solidFill>
                <a:latin typeface="Arial" pitchFamily="34" charset="0"/>
                <a:ea typeface="Arial" pitchFamily="34" charset="-122"/>
                <a:cs typeface="Arial" pitchFamily="34" charset="-120"/>
              </a:rPr>
              <a:t>LO QUE PASÓ</a:t>
            </a:r>
            <a:endParaRPr lang="en-US" sz="1200" dirty="0"/>
          </a:p>
        </p:txBody>
      </p:sp>
      <p:pic>
        <p:nvPicPr>
          <p:cNvPr id="12" name="Image 1" descr="Warning">    </p:cNvPr>
          <p:cNvPicPr>
            <a:picLocks noChangeAspect="1"/>
          </p:cNvPicPr>
          <p:nvPr/>
        </p:nvPicPr>
        <p:blipFill>
          <a:blip r:embed="rId2"/>
          <a:srcRect l="0" r="0" t="-713" b="-713"/>
          <a:stretch/>
        </p:blipFill>
        <p:spPr>
          <a:xfrm>
            <a:off x="4537075" y="3842941"/>
            <a:ext cx="187821" cy="203200"/>
          </a:xfrm>
          <a:prstGeom prst="rect">
            <a:avLst/>
          </a:prstGeom>
        </p:spPr>
      </p:pic>
      <p:sp>
        <p:nvSpPr>
          <p:cNvPr id="13" name="Text 9"/>
          <p:cNvSpPr/>
          <p:nvPr/>
        </p:nvSpPr>
        <p:spPr>
          <a:xfrm>
            <a:off x="4801096" y="3842941"/>
            <a:ext cx="2805364"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A3D57"/>
                </a:solidFill>
                <a:latin typeface="Arial" pitchFamily="34" charset="0"/>
                <a:ea typeface="Arial" pitchFamily="34" charset="-122"/>
                <a:cs typeface="Arial" pitchFamily="34" charset="-120"/>
              </a:rPr>
              <a:t>Época 145: el policía gana por completo</a:t>
            </a:r>
            <a:endParaRPr lang="en-US" sz="1300" dirty="0"/>
          </a:p>
        </p:txBody>
      </p:sp>
      <p:pic>
        <p:nvPicPr>
          <p:cNvPr id="14" name="Image 2" descr="Warning">    </p:cNvPr>
          <p:cNvPicPr>
            <a:picLocks noChangeAspect="1"/>
          </p:cNvPicPr>
          <p:nvPr/>
        </p:nvPicPr>
        <p:blipFill>
          <a:blip r:embed="rId3"/>
          <a:srcRect l="-814" r="-814" t="0" b="0"/>
          <a:stretch/>
        </p:blipFill>
        <p:spPr>
          <a:xfrm>
            <a:off x="4537075" y="4377531"/>
            <a:ext cx="154880" cy="203200"/>
          </a:xfrm>
          <a:prstGeom prst="rect">
            <a:avLst/>
          </a:prstGeom>
        </p:spPr>
      </p:pic>
      <p:sp>
        <p:nvSpPr>
          <p:cNvPr id="15" name="Text 10"/>
          <p:cNvSpPr/>
          <p:nvPr/>
        </p:nvSpPr>
        <p:spPr>
          <a:xfrm>
            <a:off x="4768155" y="4377531"/>
            <a:ext cx="2839292"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A3D57"/>
                </a:solidFill>
                <a:latin typeface="Arial" pitchFamily="34" charset="0"/>
                <a:ea typeface="Arial" pitchFamily="34" charset="-122"/>
                <a:cs typeface="Arial" pitchFamily="34" charset="-120"/>
              </a:rPr>
              <a:t>Época 170: los 16 ruidos dan el mismo personaje</a:t>
            </a:r>
            <a:endParaRPr lang="en-US" sz="1300" dirty="0"/>
          </a:p>
        </p:txBody>
      </p:sp>
      <p:pic>
        <p:nvPicPr>
          <p:cNvPr id="16" name="Image 3" descr="Warning">    </p:cNvPr>
          <p:cNvPicPr>
            <a:picLocks noChangeAspect="1"/>
          </p:cNvPicPr>
          <p:nvPr/>
        </p:nvPicPr>
        <p:blipFill>
          <a:blip r:embed="rId4"/>
          <a:srcRect l="0" r="0" t="0" b="0"/>
          <a:stretch/>
        </p:blipFill>
        <p:spPr>
          <a:xfrm>
            <a:off x="4537075" y="4912122"/>
            <a:ext cx="203200" cy="203200"/>
          </a:xfrm>
          <a:prstGeom prst="rect">
            <a:avLst/>
          </a:prstGeom>
        </p:spPr>
      </p:pic>
      <p:sp>
        <p:nvSpPr>
          <p:cNvPr id="17" name="Text 11"/>
          <p:cNvSpPr/>
          <p:nvPr/>
        </p:nvSpPr>
        <p:spPr>
          <a:xfrm>
            <a:off x="4816475" y="4912122"/>
            <a:ext cx="2886075"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A3D57"/>
                </a:solidFill>
                <a:latin typeface="Arial" pitchFamily="34" charset="0"/>
                <a:ea typeface="Arial" pitchFamily="34" charset="-122"/>
                <a:cs typeface="Arial" pitchFamily="34" charset="-120"/>
              </a:rPr>
              <a:t>Época 200: solo ruido · FID 401.8</a:t>
            </a:r>
            <a:endParaRPr lang="en-US" sz="1300" dirty="0"/>
          </a:p>
        </p:txBody>
      </p:sp>
      <p:sp>
        <p:nvSpPr>
          <p:cNvPr id="18" name="Text 12"/>
          <p:cNvSpPr/>
          <p:nvPr/>
        </p:nvSpPr>
        <p:spPr>
          <a:xfrm>
            <a:off x="4537075" y="5223867"/>
            <a:ext cx="2987675" cy="289520"/>
          </a:xfrm>
          <a:prstGeom prst="roundRect">
            <a:avLst>
              <a:gd name="adj" fmla="val 17546"/>
            </a:avLst>
          </a:prstGeom>
          <a:solidFill>
            <a:srgbClr val="1F2238"/>
          </a:solidFill>
          <a:ln/>
        </p:spPr>
        <p:txBody>
          <a:bodyPr wrap="square" lIns="86721" tIns="23221" rIns="3187" bIns="0" rtlCol="0" anchor="t">
            <a:normAutofit/>
          </a:bodyPr>
          <a:lstStyle/>
          <a:p>
            <a:pPr algn="l" indent="0" marL="0">
              <a:lnSpc>
                <a:spcPts val="1680"/>
              </a:lnSpc>
              <a:buNone/>
            </a:pPr>
            <a:r>
              <a:rPr lang="en-US" sz="1200" b="1" dirty="0">
                <a:solidFill>
                  <a:srgbClr val="F5F2EA"/>
                </a:solidFill>
                <a:latin typeface="Arial" pitchFamily="34" charset="0"/>
                <a:ea typeface="Arial" pitchFamily="34" charset="-122"/>
                <a:cs typeface="Arial" pitchFamily="34" charset="-120"/>
              </a:rPr>
              <a:t>No se cumplió: colapso de modos</a:t>
            </a:r>
            <a:endParaRPr lang="en-US" sz="1200" dirty="0"/>
          </a:p>
        </p:txBody>
      </p:sp>
      <p:pic>
        <p:nvPicPr>
          <p:cNvPr id="19" name="Image 4" descr="Curvas de error de la prueba con normalización espectral: el policía gana por completo desde la época 145">    </p:cNvPr>
          <p:cNvPicPr>
            <a:picLocks noChangeAspect="1"/>
          </p:cNvPicPr>
          <p:nvPr/>
        </p:nvPicPr>
        <p:blipFill>
          <a:blip r:embed="rId5"/>
          <a:srcRect l="0" r="0" t="0" b="0"/>
          <a:stretch/>
        </p:blipFill>
        <p:spPr>
          <a:xfrm>
            <a:off x="7854950" y="3362920"/>
            <a:ext cx="3524250" cy="2349500"/>
          </a:xfrm>
          <a:prstGeom prst="roundRect">
            <a:avLst>
              <a:gd name="adj" fmla="val 3243"/>
            </a:avLst>
          </a:prstGeom>
        </p:spPr>
      </p:pic>
      <p:sp>
        <p:nvSpPr>
          <p:cNvPr id="20" name="Text 13"/>
          <p:cNvSpPr/>
          <p:nvPr/>
        </p:nvSpPr>
        <p:spPr>
          <a:xfrm>
            <a:off x="812800" y="6281440"/>
            <a:ext cx="18501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E69"/>
                </a:solidFill>
                <a:latin typeface="Arial" pitchFamily="34" charset="0"/>
                <a:ea typeface="Arial" pitchFamily="34" charset="-122"/>
                <a:cs typeface="Arial" pitchFamily="34" charset="-120"/>
              </a:rPr>
              <a:t>Cubópolis · Proyecto 2</a:t>
            </a:r>
            <a:endParaRPr lang="en-US" sz="1200" dirty="0"/>
          </a:p>
        </p:txBody>
      </p:sp>
      <p:sp>
        <p:nvSpPr>
          <p:cNvPr id="21" name="Shape 14"/>
          <p:cNvSpPr/>
          <p:nvPr/>
        </p:nvSpPr>
        <p:spPr>
          <a:xfrm>
            <a:off x="4177903" y="6330950"/>
            <a:ext cx="114300" cy="114300"/>
          </a:xfrm>
          <a:prstGeom prst="rect">
            <a:avLst/>
          </a:prstGeom>
          <a:solidFill>
            <a:srgbClr val="E8763A"/>
          </a:solidFill>
          <a:ln/>
        </p:spPr>
      </p:sp>
      <p:sp>
        <p:nvSpPr>
          <p:cNvPr id="22" name="Text 15"/>
          <p:cNvSpPr/>
          <p:nvPr/>
        </p:nvSpPr>
        <p:spPr>
          <a:xfrm>
            <a:off x="4343003" y="6281440"/>
            <a:ext cx="72163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E69"/>
                </a:solidFill>
                <a:latin typeface="Arial" pitchFamily="34" charset="0"/>
                <a:ea typeface="Arial" pitchFamily="34" charset="-122"/>
                <a:cs typeface="Arial" pitchFamily="34" charset="-120"/>
              </a:rPr>
              <a:t>Universo</a:t>
            </a:r>
            <a:endParaRPr lang="en-US" sz="1200" dirty="0"/>
          </a:p>
        </p:txBody>
      </p:sp>
      <p:sp>
        <p:nvSpPr>
          <p:cNvPr id="23" name="Shape 16"/>
          <p:cNvSpPr/>
          <p:nvPr/>
        </p:nvSpPr>
        <p:spPr>
          <a:xfrm>
            <a:off x="5071368" y="6330950"/>
            <a:ext cx="114300" cy="114300"/>
          </a:xfrm>
          <a:prstGeom prst="rect">
            <a:avLst/>
          </a:prstGeom>
          <a:solidFill>
            <a:srgbClr val="E8763A"/>
          </a:solidFill>
          <a:ln/>
        </p:spPr>
      </p:sp>
      <p:sp>
        <p:nvSpPr>
          <p:cNvPr id="24" name="Text 17"/>
          <p:cNvSpPr/>
          <p:nvPr/>
        </p:nvSpPr>
        <p:spPr>
          <a:xfrm>
            <a:off x="5236468" y="6281440"/>
            <a:ext cx="59983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E69"/>
                </a:solidFill>
                <a:latin typeface="Arial" pitchFamily="34" charset="0"/>
                <a:ea typeface="Arial" pitchFamily="34" charset="-122"/>
                <a:cs typeface="Arial" pitchFamily="34" charset="-120"/>
              </a:rPr>
              <a:t>Modelo</a:t>
            </a:r>
            <a:endParaRPr lang="en-US" sz="1200" dirty="0"/>
          </a:p>
        </p:txBody>
      </p:sp>
      <p:sp>
        <p:nvSpPr>
          <p:cNvPr id="25" name="Shape 18"/>
          <p:cNvSpPr/>
          <p:nvPr/>
        </p:nvSpPr>
        <p:spPr>
          <a:xfrm>
            <a:off x="5863332" y="6330950"/>
            <a:ext cx="114300" cy="114300"/>
          </a:xfrm>
          <a:prstGeom prst="rect">
            <a:avLst/>
          </a:prstGeom>
          <a:solidFill>
            <a:srgbClr val="E8763A"/>
          </a:solidFill>
          <a:ln/>
        </p:spPr>
      </p:sp>
      <p:sp>
        <p:nvSpPr>
          <p:cNvPr id="26" name="Text 19"/>
          <p:cNvSpPr/>
          <p:nvPr/>
        </p:nvSpPr>
        <p:spPr>
          <a:xfrm>
            <a:off x="6028432" y="6281440"/>
            <a:ext cx="41683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E69"/>
                </a:solidFill>
                <a:latin typeface="Arial" pitchFamily="34" charset="0"/>
                <a:ea typeface="Arial" pitchFamily="34" charset="-122"/>
                <a:cs typeface="Arial" pitchFamily="34" charset="-120"/>
              </a:rPr>
              <a:t>Base</a:t>
            </a:r>
            <a:endParaRPr lang="en-US" sz="1200" dirty="0"/>
          </a:p>
        </p:txBody>
      </p:sp>
      <p:sp>
        <p:nvSpPr>
          <p:cNvPr id="27" name="Shape 20"/>
          <p:cNvSpPr/>
          <p:nvPr/>
        </p:nvSpPr>
        <p:spPr>
          <a:xfrm>
            <a:off x="6502797" y="6330950"/>
            <a:ext cx="114300" cy="114300"/>
          </a:xfrm>
          <a:prstGeom prst="rect">
            <a:avLst/>
          </a:prstGeom>
          <a:solidFill>
            <a:srgbClr val="1F2238"/>
          </a:solidFill>
          <a:ln/>
        </p:spPr>
      </p:sp>
      <p:sp>
        <p:nvSpPr>
          <p:cNvPr id="28" name="Text 21"/>
          <p:cNvSpPr/>
          <p:nvPr/>
        </p:nvSpPr>
        <p:spPr>
          <a:xfrm>
            <a:off x="6667897" y="6281440"/>
            <a:ext cx="113486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2238"/>
                </a:solidFill>
                <a:latin typeface="Arial" pitchFamily="34" charset="0"/>
                <a:ea typeface="Arial" pitchFamily="34" charset="-122"/>
                <a:cs typeface="Arial" pitchFamily="34" charset="-120"/>
              </a:rPr>
              <a:t>Experimentos</a:t>
            </a:r>
            <a:endParaRPr lang="en-US" sz="1200" dirty="0"/>
          </a:p>
        </p:txBody>
      </p:sp>
      <p:sp>
        <p:nvSpPr>
          <p:cNvPr id="29" name="Shape 22"/>
          <p:cNvSpPr/>
          <p:nvPr/>
        </p:nvSpPr>
        <p:spPr>
          <a:xfrm>
            <a:off x="7809111" y="6337300"/>
            <a:ext cx="101600" cy="101600"/>
          </a:xfrm>
          <a:prstGeom prst="rect">
            <a:avLst/>
          </a:prstGeom>
          <a:noFill/>
          <a:ln w="12700">
            <a:solidFill>
              <a:srgbClr val="6B6E85"/>
            </a:solidFill>
            <a:prstDash val="solid"/>
          </a:ln>
        </p:spPr>
      </p:sp>
      <p:sp>
        <p:nvSpPr>
          <p:cNvPr id="30" name="Text 23"/>
          <p:cNvSpPr/>
          <p:nvPr/>
        </p:nvSpPr>
        <p:spPr>
          <a:xfrm>
            <a:off x="7967861" y="6281440"/>
            <a:ext cx="5997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E85"/>
                </a:solidFill>
                <a:latin typeface="Arial" pitchFamily="34" charset="0"/>
                <a:ea typeface="Arial" pitchFamily="34" charset="-122"/>
                <a:cs typeface="Arial" pitchFamily="34" charset="-120"/>
              </a:rPr>
              <a:t>Galería</a:t>
            </a:r>
            <a:endParaRPr lang="en-US" sz="1200" dirty="0"/>
          </a:p>
        </p:txBody>
      </p:sp>
      <p:sp>
        <p:nvSpPr>
          <p:cNvPr id="31" name="Shape 24"/>
          <p:cNvSpPr/>
          <p:nvPr/>
        </p:nvSpPr>
        <p:spPr>
          <a:xfrm>
            <a:off x="8600976" y="6337300"/>
            <a:ext cx="101600" cy="101600"/>
          </a:xfrm>
          <a:prstGeom prst="rect">
            <a:avLst/>
          </a:prstGeom>
          <a:noFill/>
          <a:ln w="12700">
            <a:solidFill>
              <a:srgbClr val="6B6E85"/>
            </a:solidFill>
            <a:prstDash val="solid"/>
          </a:ln>
        </p:spPr>
      </p:sp>
      <p:sp>
        <p:nvSpPr>
          <p:cNvPr id="32" name="Text 25"/>
          <p:cNvSpPr/>
          <p:nvPr/>
        </p:nvSpPr>
        <p:spPr>
          <a:xfrm>
            <a:off x="8759726" y="6281440"/>
            <a:ext cx="49791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E85"/>
                </a:solidFill>
                <a:latin typeface="Arial" pitchFamily="34" charset="0"/>
                <a:ea typeface="Arial" pitchFamily="34" charset="-122"/>
                <a:cs typeface="Arial" pitchFamily="34" charset="-120"/>
              </a:rPr>
              <a:t>Cierre</a:t>
            </a:r>
            <a:endParaRPr lang="en-US" sz="1200" dirty="0"/>
          </a:p>
        </p:txBody>
      </p:sp>
      <p:sp>
        <p:nvSpPr>
          <p:cNvPr id="33" name="Text 26"/>
          <p:cNvSpPr/>
          <p:nvPr/>
        </p:nvSpPr>
        <p:spPr>
          <a:xfrm>
            <a:off x="10921643" y="6281440"/>
            <a:ext cx="457557"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4E69"/>
                </a:solidFill>
                <a:latin typeface="Arial" pitchFamily="34" charset="0"/>
                <a:ea typeface="Arial" pitchFamily="34" charset="-122"/>
                <a:cs typeface="Arial" pitchFamily="34" charset="-120"/>
              </a:rPr>
              <a:t>6 / 12</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2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9501F"/>
                </a:solidFill>
                <a:latin typeface="Arial" pitchFamily="34" charset="0"/>
                <a:ea typeface="Arial" pitchFamily="34" charset="-122"/>
                <a:cs typeface="Arial" pitchFamily="34" charset="-120"/>
              </a:rPr>
              <a:t>04 · VERIFICACIÓN DEL COLAPSO</a:t>
            </a:r>
            <a:endParaRPr lang="en-US" sz="1200" dirty="0"/>
          </a:p>
        </p:txBody>
      </p:sp>
      <p:sp>
        <p:nvSpPr>
          <p:cNvPr id="3" name="Text 1"/>
          <p:cNvSpPr/>
          <p:nvPr>
            <p:ph type="title"/>
          </p:nvPr>
        </p:nvSpPr>
        <p:spPr>
          <a:xfrm>
            <a:off x="812800" y="10769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F2238"/>
                </a:solidFill>
                <a:latin typeface="Arial" pitchFamily="34" charset="0"/>
                <a:ea typeface="Arial" pitchFamily="34" charset="-122"/>
                <a:cs typeface="Arial" pitchFamily="34" charset="-120"/>
              </a:rPr>
              <a:t>¿Por qué falló? Estable, pero sin color</a:t>
            </a:r>
            <a:endParaRPr lang="en-US" sz="3000" dirty="0"/>
          </a:p>
        </p:txBody>
      </p:sp>
      <p:pic>
        <p:nvPicPr>
          <p:cNvPr id="4" name="Image 0" descr="Rejilla de ruido fijo de la prueba sin BatchNorm: personajes reconocibles pero deslavados">    </p:cNvPr>
          <p:cNvPicPr>
            <a:picLocks noChangeAspect="1"/>
          </p:cNvPicPr>
          <p:nvPr/>
        </p:nvPicPr>
        <p:blipFill>
          <a:blip r:embed="rId1"/>
          <a:srcRect l="0" r="0" t="-37" b="-37"/>
          <a:stretch/>
        </p:blipFill>
        <p:spPr>
          <a:xfrm>
            <a:off x="812800" y="1648420"/>
            <a:ext cx="10566400" cy="1562100"/>
          </a:xfrm>
          <a:prstGeom prst="roundRect">
            <a:avLst>
              <a:gd name="adj" fmla="val 4878"/>
            </a:avLst>
          </a:prstGeom>
        </p:spPr>
      </p:pic>
      <p:sp>
        <p:nvSpPr>
          <p:cNvPr id="5" name="Shape 2"/>
          <p:cNvSpPr/>
          <p:nvPr/>
        </p:nvSpPr>
        <p:spPr>
          <a:xfrm>
            <a:off x="812800" y="3362920"/>
            <a:ext cx="3394075" cy="2349500"/>
          </a:xfrm>
          <a:prstGeom prst="roundRect">
            <a:avLst>
              <a:gd name="adj" fmla="val 4324"/>
            </a:avLst>
          </a:prstGeom>
          <a:solidFill>
            <a:srgbClr val="FBFBF8"/>
          </a:solidFill>
          <a:ln/>
        </p:spPr>
      </p:sp>
      <p:sp>
        <p:nvSpPr>
          <p:cNvPr id="6" name="Shape 3"/>
          <p:cNvSpPr/>
          <p:nvPr/>
        </p:nvSpPr>
        <p:spPr>
          <a:xfrm>
            <a:off x="812800" y="3362920"/>
            <a:ext cx="3394075" cy="2349500"/>
          </a:xfrm>
          <a:custGeom>
            <a:avLst/>
            <a:gdLst/>
            <a:ahLst/>
            <a:cxnLst/>
            <a:rect l="l" t="t" r="r" b="b"/>
            <a:pathLst>
              <a:path w="3394075" h="2349500">
                <a:moveTo>
                  <a:pt x="101600" y="2349500"/>
                </a:moveTo>
                <a:lnTo>
                  <a:pt x="101600" y="2349500"/>
                </a:lnTo>
                <a:arcTo hR="101600" wR="101600" stAng="5400000" swAng="5400000"/>
                <a:lnTo>
                  <a:pt x="0" y="101600"/>
                </a:lnTo>
                <a:arcTo hR="101600" wR="101600" stAng="10800000" swAng="5400000"/>
                <a:lnTo>
                  <a:pt x="101600" y="0"/>
                </a:lnTo>
                <a:arcTo hR="101600" wR="50800" stAng="16200000" swAng="-5400000"/>
                <a:lnTo>
                  <a:pt x="50800" y="2247900"/>
                </a:lnTo>
                <a:arcTo hR="101600" wR="50800" stAng="10800000" swAng="-5400000"/>
                <a:close/>
              </a:path>
            </a:pathLst>
          </a:custGeom>
          <a:solidFill>
            <a:srgbClr val="E8763A"/>
          </a:solidFill>
          <a:ln/>
        </p:spPr>
      </p:sp>
      <p:sp>
        <p:nvSpPr>
          <p:cNvPr id="7" name="Text 4"/>
          <p:cNvSpPr/>
          <p:nvPr/>
        </p:nvSpPr>
        <p:spPr>
          <a:xfrm>
            <a:off x="1041400" y="3540720"/>
            <a:ext cx="3077305"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9501F"/>
                </a:solidFill>
                <a:latin typeface="Arial" pitchFamily="34" charset="0"/>
                <a:ea typeface="Arial" pitchFamily="34" charset="-122"/>
                <a:cs typeface="Arial" pitchFamily="34" charset="-120"/>
              </a:rPr>
              <a:t>LA EXPLICACIÓN</a:t>
            </a:r>
            <a:endParaRPr lang="en-US" sz="1200" dirty="0"/>
          </a:p>
        </p:txBody>
      </p:sp>
      <p:sp>
        <p:nvSpPr>
          <p:cNvPr id="8" name="Text 5"/>
          <p:cNvSpPr/>
          <p:nvPr/>
        </p:nvSpPr>
        <p:spPr>
          <a:xfrm>
            <a:off x="1041400" y="3830241"/>
            <a:ext cx="3077305" cy="949722"/>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3D57"/>
                </a:solidFill>
                <a:latin typeface="Arial" pitchFamily="34" charset="0"/>
                <a:ea typeface="Arial" pitchFamily="34" charset="-122"/>
                <a:cs typeface="Arial" pitchFamily="34" charset="-120"/>
              </a:rPr>
              <a:t>El policía tenía </a:t>
            </a:r>
            <a:r>
              <a:rPr lang="en-US" sz="1300" b="1" dirty="0">
                <a:solidFill>
                  <a:srgbClr val="3A3D57"/>
                </a:solidFill>
                <a:latin typeface="Arial" pitchFamily="34" charset="0"/>
                <a:ea typeface="Arial" pitchFamily="34" charset="-122"/>
                <a:cs typeface="Arial" pitchFamily="34" charset="-120"/>
              </a:rPr>
              <a:t>BatchNorm</a:t>
            </a:r>
            <a:r>
              <a:rPr lang="en-US" sz="1300" dirty="0">
                <a:solidFill>
                  <a:srgbClr val="3A3D57"/>
                </a:solidFill>
                <a:latin typeface="Arial" pitchFamily="34" charset="0"/>
                <a:ea typeface="Arial" pitchFamily="34" charset="-122"/>
                <a:cs typeface="Arial" pitchFamily="34" charset="-120"/>
              </a:rPr>
              <a:t> en cada capa, y eso deshacía el freno. El método original no lo usa, así que se repitió la prueba sin él.</a:t>
            </a:r>
            <a:endParaRPr lang="en-US" sz="1300" dirty="0"/>
          </a:p>
        </p:txBody>
      </p:sp>
      <p:sp>
        <p:nvSpPr>
          <p:cNvPr id="9" name="Text 6"/>
          <p:cNvSpPr/>
          <p:nvPr/>
        </p:nvSpPr>
        <p:spPr>
          <a:xfrm>
            <a:off x="1041400" y="4830763"/>
            <a:ext cx="307730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E85"/>
                </a:solidFill>
                <a:latin typeface="Arial" pitchFamily="34" charset="0"/>
                <a:ea typeface="Arial" pitchFamily="34" charset="-122"/>
                <a:cs typeface="Arial" pitchFamily="34" charset="-120"/>
              </a:rPr>
              <a:t>Solo cambia: se quita BatchNorm.</a:t>
            </a:r>
            <a:endParaRPr lang="en-US" sz="1200" dirty="0"/>
          </a:p>
        </p:txBody>
      </p:sp>
      <p:sp>
        <p:nvSpPr>
          <p:cNvPr id="10" name="Shape 7"/>
          <p:cNvSpPr/>
          <p:nvPr/>
        </p:nvSpPr>
        <p:spPr>
          <a:xfrm>
            <a:off x="4359275" y="3362920"/>
            <a:ext cx="3343275" cy="2349500"/>
          </a:xfrm>
          <a:prstGeom prst="roundRect">
            <a:avLst>
              <a:gd name="adj" fmla="val 4324"/>
            </a:avLst>
          </a:prstGeom>
          <a:solidFill>
            <a:srgbClr val="FBFBF8"/>
          </a:solidFill>
          <a:ln/>
        </p:spPr>
      </p:sp>
      <p:sp>
        <p:nvSpPr>
          <p:cNvPr id="11" name="Text 8"/>
          <p:cNvSpPr/>
          <p:nvPr/>
        </p:nvSpPr>
        <p:spPr>
          <a:xfrm>
            <a:off x="4537075" y="3540720"/>
            <a:ext cx="3077305"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7563"/>
                </a:solidFill>
                <a:latin typeface="Arial" pitchFamily="34" charset="0"/>
                <a:ea typeface="Arial" pitchFamily="34" charset="-122"/>
                <a:cs typeface="Arial" pitchFamily="34" charset="-120"/>
              </a:rPr>
              <a:t>LO QUE PASÓ</a:t>
            </a:r>
            <a:endParaRPr lang="en-US" sz="1200" dirty="0"/>
          </a:p>
        </p:txBody>
      </p:sp>
      <p:pic>
        <p:nvPicPr>
          <p:cNvPr id="12" name="Image 1" descr="Check">    </p:cNvPr>
          <p:cNvPicPr>
            <a:picLocks noChangeAspect="1"/>
          </p:cNvPicPr>
          <p:nvPr/>
        </p:nvPicPr>
        <p:blipFill>
          <a:blip r:embed="rId2"/>
          <a:srcRect l="0" r="0" t="-928" b="-928"/>
          <a:stretch/>
        </p:blipFill>
        <p:spPr>
          <a:xfrm>
            <a:off x="4537075" y="3842941"/>
            <a:ext cx="149622" cy="203200"/>
          </a:xfrm>
          <a:prstGeom prst="rect">
            <a:avLst/>
          </a:prstGeom>
        </p:spPr>
      </p:pic>
      <p:sp>
        <p:nvSpPr>
          <p:cNvPr id="13" name="Text 9"/>
          <p:cNvSpPr/>
          <p:nvPr/>
        </p:nvSpPr>
        <p:spPr>
          <a:xfrm>
            <a:off x="4762897" y="3842941"/>
            <a:ext cx="2844709"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A3D57"/>
                </a:solidFill>
                <a:latin typeface="Arial" pitchFamily="34" charset="0"/>
                <a:ea typeface="Arial" pitchFamily="34" charset="-122"/>
                <a:cs typeface="Arial" pitchFamily="34" charset="-120"/>
              </a:rPr>
              <a:t>Ya no colapsa: policía y falsificador quedan parejos</a:t>
            </a:r>
            <a:endParaRPr lang="en-US" sz="1300" dirty="0"/>
          </a:p>
        </p:txBody>
      </p:sp>
      <p:pic>
        <p:nvPicPr>
          <p:cNvPr id="14" name="Image 2" descr="Warning">    </p:cNvPr>
          <p:cNvPicPr>
            <a:picLocks noChangeAspect="1"/>
          </p:cNvPicPr>
          <p:nvPr/>
        </p:nvPicPr>
        <p:blipFill>
          <a:blip r:embed="rId3"/>
          <a:srcRect l="0" r="0" t="-90" b="-90"/>
          <a:stretch/>
        </p:blipFill>
        <p:spPr>
          <a:xfrm>
            <a:off x="4537075" y="4377531"/>
            <a:ext cx="164802" cy="203200"/>
          </a:xfrm>
          <a:prstGeom prst="rect">
            <a:avLst/>
          </a:prstGeom>
        </p:spPr>
      </p:pic>
      <p:sp>
        <p:nvSpPr>
          <p:cNvPr id="15" name="Text 10"/>
          <p:cNvSpPr/>
          <p:nvPr/>
        </p:nvSpPr>
        <p:spPr>
          <a:xfrm>
            <a:off x="4778077" y="4377531"/>
            <a:ext cx="2829073"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A3D57"/>
                </a:solidFill>
                <a:latin typeface="Arial" pitchFamily="34" charset="0"/>
                <a:ea typeface="Arial" pitchFamily="34" charset="-122"/>
                <a:cs typeface="Arial" pitchFamily="34" charset="-120"/>
              </a:rPr>
              <a:t>Imágenes deslavadas: 10 % del contraste real</a:t>
            </a:r>
            <a:endParaRPr lang="en-US" sz="1300" dirty="0"/>
          </a:p>
        </p:txBody>
      </p:sp>
      <p:pic>
        <p:nvPicPr>
          <p:cNvPr id="16" name="Image 3" descr="Warning">    </p:cNvPr>
          <p:cNvPicPr>
            <a:picLocks noChangeAspect="1"/>
          </p:cNvPicPr>
          <p:nvPr/>
        </p:nvPicPr>
        <p:blipFill>
          <a:blip r:embed="rId4"/>
          <a:srcRect l="0" r="0" t="0" b="0"/>
          <a:stretch/>
        </p:blipFill>
        <p:spPr>
          <a:xfrm>
            <a:off x="4537075" y="4912122"/>
            <a:ext cx="203200" cy="203200"/>
          </a:xfrm>
          <a:prstGeom prst="rect">
            <a:avLst/>
          </a:prstGeom>
        </p:spPr>
      </p:pic>
      <p:sp>
        <p:nvSpPr>
          <p:cNvPr id="17" name="Text 11"/>
          <p:cNvSpPr/>
          <p:nvPr/>
        </p:nvSpPr>
        <p:spPr>
          <a:xfrm>
            <a:off x="4816475" y="4912122"/>
            <a:ext cx="2886075"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A3D57"/>
                </a:solidFill>
                <a:latin typeface="Arial" pitchFamily="34" charset="0"/>
                <a:ea typeface="Arial" pitchFamily="34" charset="-122"/>
                <a:cs typeface="Arial" pitchFamily="34" charset="-120"/>
              </a:rPr>
              <a:t>FID 224.9: peor que el primer intento</a:t>
            </a:r>
            <a:endParaRPr lang="en-US" sz="1300" dirty="0"/>
          </a:p>
        </p:txBody>
      </p:sp>
      <p:sp>
        <p:nvSpPr>
          <p:cNvPr id="18" name="Text 12"/>
          <p:cNvSpPr/>
          <p:nvPr/>
        </p:nvSpPr>
        <p:spPr>
          <a:xfrm>
            <a:off x="4537075" y="5223867"/>
            <a:ext cx="2987675" cy="289520"/>
          </a:xfrm>
          <a:prstGeom prst="roundRect">
            <a:avLst>
              <a:gd name="adj" fmla="val 17546"/>
            </a:avLst>
          </a:prstGeom>
          <a:solidFill>
            <a:srgbClr val="FFDFBF"/>
          </a:solidFill>
          <a:ln/>
        </p:spPr>
        <p:txBody>
          <a:bodyPr wrap="square" lIns="86721" tIns="23221" rIns="3187" bIns="0" rtlCol="0" anchor="t">
            <a:normAutofit/>
          </a:bodyPr>
          <a:lstStyle/>
          <a:p>
            <a:pPr algn="l" indent="0" marL="0">
              <a:lnSpc>
                <a:spcPts val="1680"/>
              </a:lnSpc>
              <a:buNone/>
            </a:pPr>
            <a:r>
              <a:rPr lang="en-US" sz="1200" b="1" dirty="0">
                <a:solidFill>
                  <a:srgbClr val="1F2238"/>
                </a:solidFill>
                <a:latin typeface="Arial" pitchFamily="34" charset="0"/>
                <a:ea typeface="Arial" pitchFamily="34" charset="-122"/>
                <a:cs typeface="Arial" pitchFamily="34" charset="-120"/>
              </a:rPr>
              <a:t>Estable no es lo mismo que bueno</a:t>
            </a:r>
            <a:endParaRPr lang="en-US" sz="1200" dirty="0"/>
          </a:p>
        </p:txBody>
      </p:sp>
      <p:pic>
        <p:nvPicPr>
          <p:cNvPr id="19" name="Image 4" descr="Curvas de error de la prueba sin BatchNorm: ambos errores estables y parejos">    </p:cNvPr>
          <p:cNvPicPr>
            <a:picLocks noChangeAspect="1"/>
          </p:cNvPicPr>
          <p:nvPr/>
        </p:nvPicPr>
        <p:blipFill>
          <a:blip r:embed="rId5"/>
          <a:srcRect l="0" r="0" t="0" b="0"/>
          <a:stretch/>
        </p:blipFill>
        <p:spPr>
          <a:xfrm>
            <a:off x="7854950" y="3362920"/>
            <a:ext cx="3524250" cy="2349500"/>
          </a:xfrm>
          <a:prstGeom prst="roundRect">
            <a:avLst>
              <a:gd name="adj" fmla="val 3243"/>
            </a:avLst>
          </a:prstGeom>
        </p:spPr>
      </p:pic>
      <p:sp>
        <p:nvSpPr>
          <p:cNvPr id="20" name="Text 13"/>
          <p:cNvSpPr/>
          <p:nvPr/>
        </p:nvSpPr>
        <p:spPr>
          <a:xfrm>
            <a:off x="812800" y="6281440"/>
            <a:ext cx="18501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E69"/>
                </a:solidFill>
                <a:latin typeface="Arial" pitchFamily="34" charset="0"/>
                <a:ea typeface="Arial" pitchFamily="34" charset="-122"/>
                <a:cs typeface="Arial" pitchFamily="34" charset="-120"/>
              </a:rPr>
              <a:t>Cubópolis · Proyecto 2</a:t>
            </a:r>
            <a:endParaRPr lang="en-US" sz="1200" dirty="0"/>
          </a:p>
        </p:txBody>
      </p:sp>
      <p:sp>
        <p:nvSpPr>
          <p:cNvPr id="21" name="Shape 14"/>
          <p:cNvSpPr/>
          <p:nvPr/>
        </p:nvSpPr>
        <p:spPr>
          <a:xfrm>
            <a:off x="4177903" y="6330950"/>
            <a:ext cx="114300" cy="114300"/>
          </a:xfrm>
          <a:prstGeom prst="rect">
            <a:avLst/>
          </a:prstGeom>
          <a:solidFill>
            <a:srgbClr val="E8763A"/>
          </a:solidFill>
          <a:ln/>
        </p:spPr>
      </p:sp>
      <p:sp>
        <p:nvSpPr>
          <p:cNvPr id="22" name="Text 15"/>
          <p:cNvSpPr/>
          <p:nvPr/>
        </p:nvSpPr>
        <p:spPr>
          <a:xfrm>
            <a:off x="4343003" y="6281440"/>
            <a:ext cx="72163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E69"/>
                </a:solidFill>
                <a:latin typeface="Arial" pitchFamily="34" charset="0"/>
                <a:ea typeface="Arial" pitchFamily="34" charset="-122"/>
                <a:cs typeface="Arial" pitchFamily="34" charset="-120"/>
              </a:rPr>
              <a:t>Universo</a:t>
            </a:r>
            <a:endParaRPr lang="en-US" sz="1200" dirty="0"/>
          </a:p>
        </p:txBody>
      </p:sp>
      <p:sp>
        <p:nvSpPr>
          <p:cNvPr id="23" name="Shape 16"/>
          <p:cNvSpPr/>
          <p:nvPr/>
        </p:nvSpPr>
        <p:spPr>
          <a:xfrm>
            <a:off x="5071368" y="6330950"/>
            <a:ext cx="114300" cy="114300"/>
          </a:xfrm>
          <a:prstGeom prst="rect">
            <a:avLst/>
          </a:prstGeom>
          <a:solidFill>
            <a:srgbClr val="E8763A"/>
          </a:solidFill>
          <a:ln/>
        </p:spPr>
      </p:sp>
      <p:sp>
        <p:nvSpPr>
          <p:cNvPr id="24" name="Text 17"/>
          <p:cNvSpPr/>
          <p:nvPr/>
        </p:nvSpPr>
        <p:spPr>
          <a:xfrm>
            <a:off x="5236468" y="6281440"/>
            <a:ext cx="59983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E69"/>
                </a:solidFill>
                <a:latin typeface="Arial" pitchFamily="34" charset="0"/>
                <a:ea typeface="Arial" pitchFamily="34" charset="-122"/>
                <a:cs typeface="Arial" pitchFamily="34" charset="-120"/>
              </a:rPr>
              <a:t>Modelo</a:t>
            </a:r>
            <a:endParaRPr lang="en-US" sz="1200" dirty="0"/>
          </a:p>
        </p:txBody>
      </p:sp>
      <p:sp>
        <p:nvSpPr>
          <p:cNvPr id="25" name="Shape 18"/>
          <p:cNvSpPr/>
          <p:nvPr/>
        </p:nvSpPr>
        <p:spPr>
          <a:xfrm>
            <a:off x="5863332" y="6330950"/>
            <a:ext cx="114300" cy="114300"/>
          </a:xfrm>
          <a:prstGeom prst="rect">
            <a:avLst/>
          </a:prstGeom>
          <a:solidFill>
            <a:srgbClr val="E8763A"/>
          </a:solidFill>
          <a:ln/>
        </p:spPr>
      </p:sp>
      <p:sp>
        <p:nvSpPr>
          <p:cNvPr id="26" name="Text 19"/>
          <p:cNvSpPr/>
          <p:nvPr/>
        </p:nvSpPr>
        <p:spPr>
          <a:xfrm>
            <a:off x="6028432" y="6281440"/>
            <a:ext cx="41683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E69"/>
                </a:solidFill>
                <a:latin typeface="Arial" pitchFamily="34" charset="0"/>
                <a:ea typeface="Arial" pitchFamily="34" charset="-122"/>
                <a:cs typeface="Arial" pitchFamily="34" charset="-120"/>
              </a:rPr>
              <a:t>Base</a:t>
            </a:r>
            <a:endParaRPr lang="en-US" sz="1200" dirty="0"/>
          </a:p>
        </p:txBody>
      </p:sp>
      <p:sp>
        <p:nvSpPr>
          <p:cNvPr id="27" name="Shape 20"/>
          <p:cNvSpPr/>
          <p:nvPr/>
        </p:nvSpPr>
        <p:spPr>
          <a:xfrm>
            <a:off x="6502797" y="6330950"/>
            <a:ext cx="114300" cy="114300"/>
          </a:xfrm>
          <a:prstGeom prst="rect">
            <a:avLst/>
          </a:prstGeom>
          <a:solidFill>
            <a:srgbClr val="1F2238"/>
          </a:solidFill>
          <a:ln/>
        </p:spPr>
      </p:sp>
      <p:sp>
        <p:nvSpPr>
          <p:cNvPr id="28" name="Text 21"/>
          <p:cNvSpPr/>
          <p:nvPr/>
        </p:nvSpPr>
        <p:spPr>
          <a:xfrm>
            <a:off x="6667897" y="6281440"/>
            <a:ext cx="113486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2238"/>
                </a:solidFill>
                <a:latin typeface="Arial" pitchFamily="34" charset="0"/>
                <a:ea typeface="Arial" pitchFamily="34" charset="-122"/>
                <a:cs typeface="Arial" pitchFamily="34" charset="-120"/>
              </a:rPr>
              <a:t>Experimentos</a:t>
            </a:r>
            <a:endParaRPr lang="en-US" sz="1200" dirty="0"/>
          </a:p>
        </p:txBody>
      </p:sp>
      <p:sp>
        <p:nvSpPr>
          <p:cNvPr id="29" name="Shape 22"/>
          <p:cNvSpPr/>
          <p:nvPr/>
        </p:nvSpPr>
        <p:spPr>
          <a:xfrm>
            <a:off x="7809111" y="6337300"/>
            <a:ext cx="101600" cy="101600"/>
          </a:xfrm>
          <a:prstGeom prst="rect">
            <a:avLst/>
          </a:prstGeom>
          <a:noFill/>
          <a:ln w="12700">
            <a:solidFill>
              <a:srgbClr val="6B6E85"/>
            </a:solidFill>
            <a:prstDash val="solid"/>
          </a:ln>
        </p:spPr>
      </p:sp>
      <p:sp>
        <p:nvSpPr>
          <p:cNvPr id="30" name="Text 23"/>
          <p:cNvSpPr/>
          <p:nvPr/>
        </p:nvSpPr>
        <p:spPr>
          <a:xfrm>
            <a:off x="7967861" y="6281440"/>
            <a:ext cx="5997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E85"/>
                </a:solidFill>
                <a:latin typeface="Arial" pitchFamily="34" charset="0"/>
                <a:ea typeface="Arial" pitchFamily="34" charset="-122"/>
                <a:cs typeface="Arial" pitchFamily="34" charset="-120"/>
              </a:rPr>
              <a:t>Galería</a:t>
            </a:r>
            <a:endParaRPr lang="en-US" sz="1200" dirty="0"/>
          </a:p>
        </p:txBody>
      </p:sp>
      <p:sp>
        <p:nvSpPr>
          <p:cNvPr id="31" name="Shape 24"/>
          <p:cNvSpPr/>
          <p:nvPr/>
        </p:nvSpPr>
        <p:spPr>
          <a:xfrm>
            <a:off x="8600976" y="6337300"/>
            <a:ext cx="101600" cy="101600"/>
          </a:xfrm>
          <a:prstGeom prst="rect">
            <a:avLst/>
          </a:prstGeom>
          <a:noFill/>
          <a:ln w="12700">
            <a:solidFill>
              <a:srgbClr val="6B6E85"/>
            </a:solidFill>
            <a:prstDash val="solid"/>
          </a:ln>
        </p:spPr>
      </p:sp>
      <p:sp>
        <p:nvSpPr>
          <p:cNvPr id="32" name="Text 25"/>
          <p:cNvSpPr/>
          <p:nvPr/>
        </p:nvSpPr>
        <p:spPr>
          <a:xfrm>
            <a:off x="8759726" y="6281440"/>
            <a:ext cx="49791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E85"/>
                </a:solidFill>
                <a:latin typeface="Arial" pitchFamily="34" charset="0"/>
                <a:ea typeface="Arial" pitchFamily="34" charset="-122"/>
                <a:cs typeface="Arial" pitchFamily="34" charset="-120"/>
              </a:rPr>
              <a:t>Cierre</a:t>
            </a:r>
            <a:endParaRPr lang="en-US" sz="1200" dirty="0"/>
          </a:p>
        </p:txBody>
      </p:sp>
      <p:sp>
        <p:nvSpPr>
          <p:cNvPr id="33" name="Text 26"/>
          <p:cNvSpPr/>
          <p:nvPr/>
        </p:nvSpPr>
        <p:spPr>
          <a:xfrm>
            <a:off x="10921643" y="6281440"/>
            <a:ext cx="457557"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4E69"/>
                </a:solidFill>
                <a:latin typeface="Arial" pitchFamily="34" charset="0"/>
                <a:ea typeface="Arial" pitchFamily="34" charset="-122"/>
                <a:cs typeface="Arial" pitchFamily="34" charset="-120"/>
              </a:rPr>
              <a:t>7 / 12</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F2238"/>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10731500" y="698500"/>
            <a:ext cx="635000" cy="635000"/>
          </a:xfrm>
          <a:prstGeom prst="rect">
            <a:avLst/>
          </a:prstGeom>
        </p:spPr>
      </p:pic>
      <p:sp>
        <p:nvSpPr>
          <p:cNvPr id="3"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FDFBF"/>
                </a:solidFill>
                <a:latin typeface="Arial" pitchFamily="34" charset="0"/>
                <a:ea typeface="Arial" pitchFamily="34" charset="-122"/>
                <a:cs typeface="Arial" pitchFamily="34" charset="-120"/>
              </a:rPr>
              <a:t>05 · LA DECISIÓN</a:t>
            </a:r>
            <a:endParaRPr lang="en-US" sz="1200" dirty="0"/>
          </a:p>
        </p:txBody>
      </p:sp>
      <p:sp>
        <p:nvSpPr>
          <p:cNvPr id="4" name="Text 1"/>
          <p:cNvSpPr/>
          <p:nvPr>
            <p:ph type="title"/>
          </p:nvPr>
        </p:nvSpPr>
        <p:spPr>
          <a:xfrm>
            <a:off x="812800" y="10769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F5F2EA"/>
                </a:solidFill>
                <a:latin typeface="Arial" pitchFamily="34" charset="0"/>
                <a:ea typeface="Arial" pitchFamily="34" charset="-122"/>
                <a:cs typeface="Arial" pitchFamily="34" charset="-120"/>
              </a:rPr>
              <a:t>Cuatro pruebas, un modelo final</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11920"/>
          <a:ext cx="10553700" cy="1929805"/>
        </p:xfrm>
        <a:graphic>
          <a:graphicData uri="http://schemas.openxmlformats.org/drawingml/2006/table">
            <a:tbl>
              <a:tblPr/>
              <a:tblGrid>
                <a:gridCol w="1583055"/>
                <a:gridCol w="3166110"/>
                <a:gridCol w="1160907"/>
                <a:gridCol w="1477518"/>
                <a:gridCol w="3166110"/>
              </a:tblGrid>
              <a:tr h="385961">
                <a:tc>
                  <a:txBody>
                    <a:bodyPr/>
                    <a:lstStyle/>
                    <a:p>
                      <a:pPr indent="0" marL="0">
                        <a:lnSpc>
                          <a:spcPts val="1960"/>
                        </a:lnSpc>
                        <a:buNone/>
                      </a:pPr>
                      <a:r>
                        <a:rPr lang="en-US" sz="1400" b="1" dirty="0">
                          <a:solidFill>
                            <a:srgbClr val="E6E7F0"/>
                          </a:solidFill>
                          <a:latin typeface="Arial" pitchFamily="34" charset="0"/>
                          <a:ea typeface="Arial" pitchFamily="34" charset="-122"/>
                          <a:cs typeface="Arial" pitchFamily="34" charset="-120"/>
                        </a:rPr>
                        <a:t>Prueba</a:t>
                      </a:r>
                      <a:endParaRPr lang="en-US" sz="1400" dirty="0">
                        <a:latin typeface="Arial" charset="0"/>
                        <a:ea typeface="Arial" charset="0"/>
                        <a:cs typeface="Arial" charset="0"/>
                      </a:endParaRPr>
                    </a:p>
                  </a:txBody>
                  <a:tcPr marL="62230" marR="62230" marT="62230" marB="62230" anchor="t">
                    <a:lnL w="12700" cap="flat" cmpd="sng" algn="ctr">
                      <a:solidFill>
                        <a:srgbClr val="4F5162"/>
                      </a:solidFill>
                      <a:prstDash val="solid"/>
                      <a:round/>
                      <a:headEnd type="none" w="med" len="med"/>
                      <a:tailEnd type="none" w="med" len="med"/>
                    </a:lnL>
                    <a:lnR w="12700" cap="flat" cmpd="sng" algn="ctr">
                      <a:solidFill>
                        <a:srgbClr val="595D74"/>
                      </a:solidFill>
                      <a:prstDash val="solid"/>
                      <a:round/>
                      <a:headEnd type="none" w="med" len="med"/>
                      <a:tailEnd type="none" w="med" len="med"/>
                    </a:lnR>
                    <a:lnT w="12700" cap="flat" cmpd="sng" algn="ctr">
                      <a:solidFill>
                        <a:srgbClr val="4F5162"/>
                      </a:solidFill>
                      <a:prstDash val="solid"/>
                      <a:round/>
                      <a:headEnd type="none" w="med" len="med"/>
                      <a:tailEnd type="none" w="med" len="med"/>
                    </a:lnT>
                    <a:lnB w="12700" cap="flat" cmpd="sng" algn="ctr">
                      <a:solidFill>
                        <a:srgbClr val="595D74"/>
                      </a:solidFill>
                      <a:prstDash val="solid"/>
                      <a:round/>
                      <a:headEnd type="none" w="med" len="med"/>
                      <a:tailEnd type="none" w="med" len="med"/>
                    </a:lnB>
                    <a:solidFill>
                      <a:srgbClr val="2C3150"/>
                    </a:solidFill>
                  </a:tcPr>
                </a:tc>
                <a:tc>
                  <a:txBody>
                    <a:bodyPr/>
                    <a:lstStyle/>
                    <a:p>
                      <a:pPr indent="0" marL="0">
                        <a:lnSpc>
                          <a:spcPts val="1960"/>
                        </a:lnSpc>
                        <a:buNone/>
                      </a:pPr>
                      <a:r>
                        <a:rPr lang="en-US" sz="1400" b="1" dirty="0">
                          <a:solidFill>
                            <a:srgbClr val="E6E7F0"/>
                          </a:solidFill>
                          <a:latin typeface="Arial" pitchFamily="34" charset="0"/>
                          <a:ea typeface="Arial" pitchFamily="34" charset="-122"/>
                          <a:cs typeface="Arial" pitchFamily="34" charset="-120"/>
                        </a:rPr>
                        <a:t>Qué cambió</a:t>
                      </a:r>
                      <a:endParaRPr lang="en-US" sz="1400" dirty="0">
                        <a:latin typeface="Arial" charset="0"/>
                        <a:ea typeface="Arial" charset="0"/>
                        <a:cs typeface="Arial" charset="0"/>
                      </a:endParaRPr>
                    </a:p>
                  </a:txBody>
                  <a:tcPr marL="62230" marR="62230" marT="62230" marB="62230" anchor="t">
                    <a:lnL w="12700" cap="flat" cmpd="sng" algn="ctr">
                      <a:solidFill>
                        <a:srgbClr val="595D74"/>
                      </a:solidFill>
                      <a:prstDash val="solid"/>
                      <a:round/>
                      <a:headEnd type="none" w="med" len="med"/>
                      <a:tailEnd type="none" w="med" len="med"/>
                    </a:lnL>
                    <a:lnR w="12700" cap="flat" cmpd="sng" algn="ctr">
                      <a:solidFill>
                        <a:srgbClr val="595D74"/>
                      </a:solidFill>
                      <a:prstDash val="solid"/>
                      <a:round/>
                      <a:headEnd type="none" w="med" len="med"/>
                      <a:tailEnd type="none" w="med" len="med"/>
                    </a:lnR>
                    <a:lnT w="12700" cap="flat" cmpd="sng" algn="ctr">
                      <a:solidFill>
                        <a:srgbClr val="4F5162"/>
                      </a:solidFill>
                      <a:prstDash val="solid"/>
                      <a:round/>
                      <a:headEnd type="none" w="med" len="med"/>
                      <a:tailEnd type="none" w="med" len="med"/>
                    </a:lnT>
                    <a:lnB w="12700" cap="flat" cmpd="sng" algn="ctr">
                      <a:solidFill>
                        <a:srgbClr val="595D74"/>
                      </a:solidFill>
                      <a:prstDash val="solid"/>
                      <a:round/>
                      <a:headEnd type="none" w="med" len="med"/>
                      <a:tailEnd type="none" w="med" len="med"/>
                    </a:lnB>
                    <a:solidFill>
                      <a:srgbClr val="2C3150"/>
                    </a:solidFill>
                  </a:tcPr>
                </a:tc>
                <a:tc>
                  <a:txBody>
                    <a:bodyPr/>
                    <a:lstStyle/>
                    <a:p>
                      <a:pPr algn="r" indent="0" marL="0">
                        <a:lnSpc>
                          <a:spcPts val="1960"/>
                        </a:lnSpc>
                        <a:buNone/>
                      </a:pPr>
                      <a:r>
                        <a:rPr lang="en-US" sz="1400" b="1" dirty="0">
                          <a:solidFill>
                            <a:srgbClr val="E6E7F0"/>
                          </a:solidFill>
                          <a:latin typeface="Arial" pitchFamily="34" charset="0"/>
                          <a:ea typeface="Arial" pitchFamily="34" charset="-122"/>
                          <a:cs typeface="Arial" pitchFamily="34" charset="-120"/>
                        </a:rPr>
                        <a:t>FID</a:t>
                      </a:r>
                      <a:endParaRPr lang="en-US" sz="1400" dirty="0">
                        <a:latin typeface="Arial" charset="0"/>
                        <a:ea typeface="Arial" charset="0"/>
                        <a:cs typeface="Arial" charset="0"/>
                      </a:endParaRPr>
                    </a:p>
                  </a:txBody>
                  <a:tcPr marL="62230" marR="62230" marT="62230" marB="62230" anchor="t">
                    <a:lnL w="12700" cap="flat" cmpd="sng" algn="ctr">
                      <a:solidFill>
                        <a:srgbClr val="595D74"/>
                      </a:solidFill>
                      <a:prstDash val="solid"/>
                      <a:round/>
                      <a:headEnd type="none" w="med" len="med"/>
                      <a:tailEnd type="none" w="med" len="med"/>
                    </a:lnL>
                    <a:lnR w="12700" cap="flat" cmpd="sng" algn="ctr">
                      <a:solidFill>
                        <a:srgbClr val="595D74"/>
                      </a:solidFill>
                      <a:prstDash val="solid"/>
                      <a:round/>
                      <a:headEnd type="none" w="med" len="med"/>
                      <a:tailEnd type="none" w="med" len="med"/>
                    </a:lnR>
                    <a:lnT w="12700" cap="flat" cmpd="sng" algn="ctr">
                      <a:solidFill>
                        <a:srgbClr val="4F5162"/>
                      </a:solidFill>
                      <a:prstDash val="solid"/>
                      <a:round/>
                      <a:headEnd type="none" w="med" len="med"/>
                      <a:tailEnd type="none" w="med" len="med"/>
                    </a:lnT>
                    <a:lnB w="12700" cap="flat" cmpd="sng" algn="ctr">
                      <a:solidFill>
                        <a:srgbClr val="595D74"/>
                      </a:solidFill>
                      <a:prstDash val="solid"/>
                      <a:round/>
                      <a:headEnd type="none" w="med" len="med"/>
                      <a:tailEnd type="none" w="med" len="med"/>
                    </a:lnB>
                    <a:solidFill>
                      <a:srgbClr val="2C3150"/>
                    </a:solidFill>
                  </a:tcPr>
                </a:tc>
                <a:tc>
                  <a:txBody>
                    <a:bodyPr/>
                    <a:lstStyle/>
                    <a:p>
                      <a:pPr algn="r" indent="0" marL="0">
                        <a:lnSpc>
                          <a:spcPts val="1960"/>
                        </a:lnSpc>
                        <a:buNone/>
                      </a:pPr>
                      <a:r>
                        <a:rPr lang="en-US" sz="1400" b="1" dirty="0">
                          <a:solidFill>
                            <a:srgbClr val="E6E7F0"/>
                          </a:solidFill>
                          <a:latin typeface="Arial" pitchFamily="34" charset="0"/>
                          <a:ea typeface="Arial" pitchFamily="34" charset="-122"/>
                          <a:cs typeface="Arial" pitchFamily="34" charset="-120"/>
                        </a:rPr>
                        <a:t>Variedad</a:t>
                      </a:r>
                      <a:endParaRPr lang="en-US" sz="1400" dirty="0">
                        <a:latin typeface="Arial" charset="0"/>
                        <a:ea typeface="Arial" charset="0"/>
                        <a:cs typeface="Arial" charset="0"/>
                      </a:endParaRPr>
                    </a:p>
                  </a:txBody>
                  <a:tcPr marL="62230" marR="62230" marT="62230" marB="62230" anchor="t">
                    <a:lnL w="12700" cap="flat" cmpd="sng" algn="ctr">
                      <a:solidFill>
                        <a:srgbClr val="595D74"/>
                      </a:solidFill>
                      <a:prstDash val="solid"/>
                      <a:round/>
                      <a:headEnd type="none" w="med" len="med"/>
                      <a:tailEnd type="none" w="med" len="med"/>
                    </a:lnL>
                    <a:lnR w="12700" cap="flat" cmpd="sng" algn="ctr">
                      <a:solidFill>
                        <a:srgbClr val="595D74"/>
                      </a:solidFill>
                      <a:prstDash val="solid"/>
                      <a:round/>
                      <a:headEnd type="none" w="med" len="med"/>
                      <a:tailEnd type="none" w="med" len="med"/>
                    </a:lnR>
                    <a:lnT w="12700" cap="flat" cmpd="sng" algn="ctr">
                      <a:solidFill>
                        <a:srgbClr val="4F5162"/>
                      </a:solidFill>
                      <a:prstDash val="solid"/>
                      <a:round/>
                      <a:headEnd type="none" w="med" len="med"/>
                      <a:tailEnd type="none" w="med" len="med"/>
                    </a:lnT>
                    <a:lnB w="12700" cap="flat" cmpd="sng" algn="ctr">
                      <a:solidFill>
                        <a:srgbClr val="595D74"/>
                      </a:solidFill>
                      <a:prstDash val="solid"/>
                      <a:round/>
                      <a:headEnd type="none" w="med" len="med"/>
                      <a:tailEnd type="none" w="med" len="med"/>
                    </a:lnB>
                    <a:solidFill>
                      <a:srgbClr val="2C3150"/>
                    </a:solidFill>
                  </a:tcPr>
                </a:tc>
                <a:tc>
                  <a:txBody>
                    <a:bodyPr/>
                    <a:lstStyle/>
                    <a:p>
                      <a:pPr indent="0" marL="0">
                        <a:lnSpc>
                          <a:spcPts val="1960"/>
                        </a:lnSpc>
                        <a:buNone/>
                      </a:pPr>
                      <a:r>
                        <a:rPr lang="en-US" sz="1400" b="1" dirty="0">
                          <a:solidFill>
                            <a:srgbClr val="E6E7F0"/>
                          </a:solidFill>
                          <a:latin typeface="Arial" pitchFamily="34" charset="0"/>
                          <a:ea typeface="Arial" pitchFamily="34" charset="-122"/>
                          <a:cs typeface="Arial" pitchFamily="34" charset="-120"/>
                        </a:rPr>
                        <a:t>Resultado</a:t>
                      </a:r>
                      <a:endParaRPr lang="en-US" sz="1400" dirty="0">
                        <a:latin typeface="Arial" charset="0"/>
                        <a:ea typeface="Arial" charset="0"/>
                        <a:cs typeface="Arial" charset="0"/>
                      </a:endParaRPr>
                    </a:p>
                  </a:txBody>
                  <a:tcPr marL="62230" marR="62230" marT="62230" marB="62230" anchor="t">
                    <a:lnL w="12700" cap="flat" cmpd="sng" algn="ctr">
                      <a:solidFill>
                        <a:srgbClr val="595D74"/>
                      </a:solidFill>
                      <a:prstDash val="solid"/>
                      <a:round/>
                      <a:headEnd type="none" w="med" len="med"/>
                      <a:tailEnd type="none" w="med" len="med"/>
                    </a:lnL>
                    <a:lnR w="12700" cap="flat" cmpd="sng" algn="ctr">
                      <a:solidFill>
                        <a:srgbClr val="595D74"/>
                      </a:solidFill>
                      <a:prstDash val="solid"/>
                      <a:round/>
                      <a:headEnd type="none" w="med" len="med"/>
                      <a:tailEnd type="none" w="med" len="med"/>
                    </a:lnR>
                    <a:lnT w="12700" cap="flat" cmpd="sng" algn="ctr">
                      <a:solidFill>
                        <a:srgbClr val="4F5162"/>
                      </a:solidFill>
                      <a:prstDash val="solid"/>
                      <a:round/>
                      <a:headEnd type="none" w="med" len="med"/>
                      <a:tailEnd type="none" w="med" len="med"/>
                    </a:lnT>
                    <a:lnB w="12700" cap="flat" cmpd="sng" algn="ctr">
                      <a:solidFill>
                        <a:srgbClr val="595D74"/>
                      </a:solidFill>
                      <a:prstDash val="solid"/>
                      <a:round/>
                      <a:headEnd type="none" w="med" len="med"/>
                      <a:tailEnd type="none" w="med" len="med"/>
                    </a:lnB>
                    <a:solidFill>
                      <a:srgbClr val="2C3150"/>
                    </a:solidFill>
                  </a:tcPr>
                </a:tc>
              </a:tr>
              <a:tr h="385961">
                <a:tc>
                  <a:txBody>
                    <a:bodyPr/>
                    <a:lstStyle/>
                    <a:p>
                      <a:pPr indent="0" marL="0">
                        <a:lnSpc>
                          <a:spcPts val="1960"/>
                        </a:lnSpc>
                        <a:buNone/>
                      </a:pPr>
                      <a:r>
                        <a:rPr lang="en-US" sz="1400" dirty="0">
                          <a:solidFill>
                            <a:srgbClr val="E6E7F0"/>
                          </a:solidFill>
                          <a:latin typeface="Arial" pitchFamily="34" charset="0"/>
                          <a:ea typeface="Arial" pitchFamily="34" charset="-122"/>
                          <a:cs typeface="Arial" pitchFamily="34" charset="-120"/>
                        </a:rPr>
                        <a:t>base</a:t>
                      </a:r>
                      <a:endParaRPr lang="en-US" sz="1400" dirty="0">
                        <a:latin typeface="Arial" charset="0"/>
                        <a:ea typeface="Arial" charset="0"/>
                        <a:cs typeface="Arial" charset="0"/>
                      </a:endParaRPr>
                    </a:p>
                  </a:txBody>
                  <a:tcPr marL="62230" marR="62230" marT="62230" marB="62230" anchor="t">
                    <a:lnL w="12700" cap="flat" cmpd="sng" algn="ctr">
                      <a:solidFill>
                        <a:srgbClr val="4F5162"/>
                      </a:solidFill>
                      <a:prstDash val="solid"/>
                      <a:round/>
                      <a:headEnd type="none" w="med" len="med"/>
                      <a:tailEnd type="none" w="med" len="med"/>
                    </a:lnL>
                    <a:lnR w="12700" cap="flat" cmpd="sng" algn="ctr">
                      <a:solidFill>
                        <a:srgbClr val="4F5162"/>
                      </a:solidFill>
                      <a:prstDash val="solid"/>
                      <a:round/>
                      <a:headEnd type="none" w="med" len="med"/>
                      <a:tailEnd type="none" w="med" len="med"/>
                    </a:lnR>
                    <a:lnT w="12700" cap="flat" cmpd="sng" algn="ctr">
                      <a:solidFill>
                        <a:srgbClr val="595D74"/>
                      </a:solidFill>
                      <a:prstDash val="solid"/>
                      <a:round/>
                      <a:headEnd type="none" w="med" len="med"/>
                      <a:tailEnd type="none" w="med" len="med"/>
                    </a:lnT>
                    <a:lnB w="12700" cap="flat" cmpd="sng" algn="ctr">
                      <a:solidFill>
                        <a:srgbClr val="4F5162"/>
                      </a:solidFill>
                      <a:prstDash val="solid"/>
                      <a:round/>
                      <a:headEnd type="none" w="med" len="med"/>
                      <a:tailEnd type="none" w="med" len="med"/>
                    </a:lnB>
                  </a:tcPr>
                </a:tc>
                <a:tc>
                  <a:txBody>
                    <a:bodyPr/>
                    <a:lstStyle/>
                    <a:p>
                      <a:pPr indent="0" marL="0">
                        <a:lnSpc>
                          <a:spcPts val="1960"/>
                        </a:lnSpc>
                        <a:buNone/>
                      </a:pPr>
                      <a:r>
                        <a:rPr lang="en-US" sz="1400" dirty="0">
                          <a:solidFill>
                            <a:srgbClr val="E6E7F0"/>
                          </a:solidFill>
                          <a:latin typeface="Arial" pitchFamily="34" charset="0"/>
                          <a:ea typeface="Arial" pitchFamily="34" charset="-122"/>
                          <a:cs typeface="Arial" pitchFamily="34" charset="-120"/>
                        </a:rPr>
                        <a:t>Nada: punto de partida</a:t>
                      </a:r>
                      <a:endParaRPr lang="en-US" sz="1400" dirty="0">
                        <a:latin typeface="Arial" charset="0"/>
                        <a:ea typeface="Arial" charset="0"/>
                        <a:cs typeface="Arial" charset="0"/>
                      </a:endParaRPr>
                    </a:p>
                  </a:txBody>
                  <a:tcPr marL="62230" marR="62230" marT="62230" marB="62230" anchor="t">
                    <a:lnL w="12700" cap="flat" cmpd="sng" algn="ctr">
                      <a:solidFill>
                        <a:srgbClr val="4F5162"/>
                      </a:solidFill>
                      <a:prstDash val="solid"/>
                      <a:round/>
                      <a:headEnd type="none" w="med" len="med"/>
                      <a:tailEnd type="none" w="med" len="med"/>
                    </a:lnL>
                    <a:lnR w="12700" cap="flat" cmpd="sng" algn="ctr">
                      <a:solidFill>
                        <a:srgbClr val="4F5162"/>
                      </a:solidFill>
                      <a:prstDash val="solid"/>
                      <a:round/>
                      <a:headEnd type="none" w="med" len="med"/>
                      <a:tailEnd type="none" w="med" len="med"/>
                    </a:lnR>
                    <a:lnT w="12700" cap="flat" cmpd="sng" algn="ctr">
                      <a:solidFill>
                        <a:srgbClr val="595D74"/>
                      </a:solidFill>
                      <a:prstDash val="solid"/>
                      <a:round/>
                      <a:headEnd type="none" w="med" len="med"/>
                      <a:tailEnd type="none" w="med" len="med"/>
                    </a:lnT>
                    <a:lnB w="12700" cap="flat" cmpd="sng" algn="ctr">
                      <a:solidFill>
                        <a:srgbClr val="4F5162"/>
                      </a:solidFill>
                      <a:prstDash val="solid"/>
                      <a:round/>
                      <a:headEnd type="none" w="med" len="med"/>
                      <a:tailEnd type="none" w="med" len="med"/>
                    </a:lnB>
                  </a:tcPr>
                </a:tc>
                <a:tc>
                  <a:txBody>
                    <a:bodyPr/>
                    <a:lstStyle/>
                    <a:p>
                      <a:pPr algn="r" indent="0" marL="0">
                        <a:lnSpc>
                          <a:spcPts val="1960"/>
                        </a:lnSpc>
                        <a:buNone/>
                      </a:pPr>
                      <a:r>
                        <a:rPr lang="en-US" sz="1400" dirty="0">
                          <a:solidFill>
                            <a:srgbClr val="E6E7F0"/>
                          </a:solidFill>
                          <a:latin typeface="Arial" pitchFamily="34" charset="0"/>
                          <a:ea typeface="Arial" pitchFamily="34" charset="-122"/>
                          <a:cs typeface="Arial" pitchFamily="34" charset="-120"/>
                        </a:rPr>
                        <a:t>151.8</a:t>
                      </a:r>
                      <a:endParaRPr lang="en-US" sz="1400" dirty="0">
                        <a:latin typeface="Arial" charset="0"/>
                        <a:ea typeface="Arial" charset="0"/>
                        <a:cs typeface="Arial" charset="0"/>
                      </a:endParaRPr>
                    </a:p>
                  </a:txBody>
                  <a:tcPr marL="62230" marR="62230" marT="62230" marB="62230" anchor="t">
                    <a:lnL w="12700" cap="flat" cmpd="sng" algn="ctr">
                      <a:solidFill>
                        <a:srgbClr val="4F5162"/>
                      </a:solidFill>
                      <a:prstDash val="solid"/>
                      <a:round/>
                      <a:headEnd type="none" w="med" len="med"/>
                      <a:tailEnd type="none" w="med" len="med"/>
                    </a:lnL>
                    <a:lnR w="12700" cap="flat" cmpd="sng" algn="ctr">
                      <a:solidFill>
                        <a:srgbClr val="4F5162"/>
                      </a:solidFill>
                      <a:prstDash val="solid"/>
                      <a:round/>
                      <a:headEnd type="none" w="med" len="med"/>
                      <a:tailEnd type="none" w="med" len="med"/>
                    </a:lnR>
                    <a:lnT w="12700" cap="flat" cmpd="sng" algn="ctr">
                      <a:solidFill>
                        <a:srgbClr val="595D74"/>
                      </a:solidFill>
                      <a:prstDash val="solid"/>
                      <a:round/>
                      <a:headEnd type="none" w="med" len="med"/>
                      <a:tailEnd type="none" w="med" len="med"/>
                    </a:lnT>
                    <a:lnB w="12700" cap="flat" cmpd="sng" algn="ctr">
                      <a:solidFill>
                        <a:srgbClr val="4F5162"/>
                      </a:solidFill>
                      <a:prstDash val="solid"/>
                      <a:round/>
                      <a:headEnd type="none" w="med" len="med"/>
                      <a:tailEnd type="none" w="med" len="med"/>
                    </a:lnB>
                  </a:tcPr>
                </a:tc>
                <a:tc>
                  <a:txBody>
                    <a:bodyPr/>
                    <a:lstStyle/>
                    <a:p>
                      <a:pPr algn="r" indent="0" marL="0">
                        <a:lnSpc>
                          <a:spcPts val="1960"/>
                        </a:lnSpc>
                        <a:buNone/>
                      </a:pPr>
                      <a:r>
                        <a:rPr lang="en-US" sz="1400" dirty="0">
                          <a:solidFill>
                            <a:srgbClr val="E6E7F0"/>
                          </a:solidFill>
                          <a:latin typeface="Arial" pitchFamily="34" charset="0"/>
                          <a:ea typeface="Arial" pitchFamily="34" charset="-122"/>
                          <a:cs typeface="Arial" pitchFamily="34" charset="-120"/>
                        </a:rPr>
                        <a:t>0.97</a:t>
                      </a:r>
                      <a:endParaRPr lang="en-US" sz="1400" dirty="0">
                        <a:latin typeface="Arial" charset="0"/>
                        <a:ea typeface="Arial" charset="0"/>
                        <a:cs typeface="Arial" charset="0"/>
                      </a:endParaRPr>
                    </a:p>
                  </a:txBody>
                  <a:tcPr marL="62230" marR="62230" marT="62230" marB="62230" anchor="t">
                    <a:lnL w="12700" cap="flat" cmpd="sng" algn="ctr">
                      <a:solidFill>
                        <a:srgbClr val="4F5162"/>
                      </a:solidFill>
                      <a:prstDash val="solid"/>
                      <a:round/>
                      <a:headEnd type="none" w="med" len="med"/>
                      <a:tailEnd type="none" w="med" len="med"/>
                    </a:lnL>
                    <a:lnR w="12700" cap="flat" cmpd="sng" algn="ctr">
                      <a:solidFill>
                        <a:srgbClr val="4F5162"/>
                      </a:solidFill>
                      <a:prstDash val="solid"/>
                      <a:round/>
                      <a:headEnd type="none" w="med" len="med"/>
                      <a:tailEnd type="none" w="med" len="med"/>
                    </a:lnR>
                    <a:lnT w="12700" cap="flat" cmpd="sng" algn="ctr">
                      <a:solidFill>
                        <a:srgbClr val="595D74"/>
                      </a:solidFill>
                      <a:prstDash val="solid"/>
                      <a:round/>
                      <a:headEnd type="none" w="med" len="med"/>
                      <a:tailEnd type="none" w="med" len="med"/>
                    </a:lnT>
                    <a:lnB w="12700" cap="flat" cmpd="sng" algn="ctr">
                      <a:solidFill>
                        <a:srgbClr val="4F5162"/>
                      </a:solidFill>
                      <a:prstDash val="solid"/>
                      <a:round/>
                      <a:headEnd type="none" w="med" len="med"/>
                      <a:tailEnd type="none" w="med" len="med"/>
                    </a:lnB>
                  </a:tcPr>
                </a:tc>
                <a:tc>
                  <a:txBody>
                    <a:bodyPr/>
                    <a:lstStyle/>
                    <a:p>
                      <a:pPr indent="0" marL="0">
                        <a:lnSpc>
                          <a:spcPts val="1960"/>
                        </a:lnSpc>
                        <a:buNone/>
                      </a:pPr>
                      <a:r>
                        <a:rPr lang="en-US" sz="1400" dirty="0">
                          <a:solidFill>
                            <a:srgbClr val="E6E7F0"/>
                          </a:solidFill>
                          <a:latin typeface="Arial" pitchFamily="34" charset="0"/>
                          <a:ea typeface="Arial" pitchFamily="34" charset="-122"/>
                          <a:cs typeface="Arial" pitchFamily="34" charset="-120"/>
                        </a:rPr>
                        <a:t>Mejor FID, pero repite rasgos</a:t>
                      </a:r>
                      <a:endParaRPr lang="en-US" sz="1400" dirty="0">
                        <a:latin typeface="Arial" charset="0"/>
                        <a:ea typeface="Arial" charset="0"/>
                        <a:cs typeface="Arial" charset="0"/>
                      </a:endParaRPr>
                    </a:p>
                  </a:txBody>
                  <a:tcPr marL="62230" marR="62230" marT="62230" marB="62230" anchor="t">
                    <a:lnL w="12700" cap="flat" cmpd="sng" algn="ctr">
                      <a:solidFill>
                        <a:srgbClr val="4F5162"/>
                      </a:solidFill>
                      <a:prstDash val="solid"/>
                      <a:round/>
                      <a:headEnd type="none" w="med" len="med"/>
                      <a:tailEnd type="none" w="med" len="med"/>
                    </a:lnL>
                    <a:lnR w="12700" cap="flat" cmpd="sng" algn="ctr">
                      <a:solidFill>
                        <a:srgbClr val="4F5162"/>
                      </a:solidFill>
                      <a:prstDash val="solid"/>
                      <a:round/>
                      <a:headEnd type="none" w="med" len="med"/>
                      <a:tailEnd type="none" w="med" len="med"/>
                    </a:lnR>
                    <a:lnT w="12700" cap="flat" cmpd="sng" algn="ctr">
                      <a:solidFill>
                        <a:srgbClr val="595D74"/>
                      </a:solidFill>
                      <a:prstDash val="solid"/>
                      <a:round/>
                      <a:headEnd type="none" w="med" len="med"/>
                      <a:tailEnd type="none" w="med" len="med"/>
                    </a:lnT>
                    <a:lnB w="12700" cap="flat" cmpd="sng" algn="ctr">
                      <a:solidFill>
                        <a:srgbClr val="4F5162"/>
                      </a:solidFill>
                      <a:prstDash val="solid"/>
                      <a:round/>
                      <a:headEnd type="none" w="med" len="med"/>
                      <a:tailEnd type="none" w="med" len="med"/>
                    </a:lnB>
                  </a:tcPr>
                </a:tc>
              </a:tr>
              <a:tr h="385961">
                <a:tc>
                  <a:txBody>
                    <a:bodyPr/>
                    <a:lstStyle/>
                    <a:p>
                      <a:pPr indent="0" marL="0">
                        <a:lnSpc>
                          <a:spcPts val="1960"/>
                        </a:lnSpc>
                        <a:buNone/>
                      </a:pPr>
                      <a:r>
                        <a:rPr lang="en-US" sz="1400" dirty="0">
                          <a:solidFill>
                            <a:srgbClr val="E6E7F0"/>
                          </a:solidFill>
                          <a:latin typeface="Arial" pitchFamily="34" charset="0"/>
                          <a:ea typeface="Arial" pitchFamily="34" charset="-122"/>
                          <a:cs typeface="Arial" pitchFamily="34" charset="-120"/>
                        </a:rPr>
                        <a:t>hinge</a:t>
                      </a:r>
                      <a:endParaRPr lang="en-US" sz="1400" dirty="0">
                        <a:latin typeface="Arial" charset="0"/>
                        <a:ea typeface="Arial" charset="0"/>
                        <a:cs typeface="Arial" charset="0"/>
                      </a:endParaRPr>
                    </a:p>
                  </a:txBody>
                  <a:tcPr marL="62230" marR="62230" marT="62230" marB="62230" anchor="t">
                    <a:lnL w="12700" cap="flat" cmpd="sng" algn="ctr">
                      <a:solidFill>
                        <a:srgbClr val="4F5162"/>
                      </a:solidFill>
                      <a:prstDash val="solid"/>
                      <a:round/>
                      <a:headEnd type="none" w="med" len="med"/>
                      <a:tailEnd type="none" w="med" len="med"/>
                    </a:lnL>
                    <a:lnR w="12700" cap="flat" cmpd="sng" algn="ctr">
                      <a:solidFill>
                        <a:srgbClr val="716052"/>
                      </a:solidFill>
                      <a:prstDash val="solid"/>
                      <a:round/>
                      <a:headEnd type="none" w="med" len="med"/>
                      <a:tailEnd type="none" w="med" len="med"/>
                    </a:lnR>
                    <a:lnT w="12700" cap="flat" cmpd="sng" algn="ctr">
                      <a:solidFill>
                        <a:srgbClr val="4F5162"/>
                      </a:solidFill>
                      <a:prstDash val="solid"/>
                      <a:round/>
                      <a:headEnd type="none" w="med" len="med"/>
                      <a:tailEnd type="none" w="med" len="med"/>
                    </a:lnT>
                    <a:lnB w="12700" cap="flat" cmpd="sng" algn="ctr">
                      <a:solidFill>
                        <a:srgbClr val="716052"/>
                      </a:solidFill>
                      <a:prstDash val="solid"/>
                      <a:round/>
                      <a:headEnd type="none" w="med" len="med"/>
                      <a:tailEnd type="none" w="med" len="med"/>
                    </a:lnB>
                    <a:solidFill>
                      <a:srgbClr val="4A3524"/>
                    </a:solidFill>
                  </a:tcPr>
                </a:tc>
                <a:tc>
                  <a:txBody>
                    <a:bodyPr/>
                    <a:lstStyle/>
                    <a:p>
                      <a:pPr indent="0" marL="0">
                        <a:lnSpc>
                          <a:spcPts val="1960"/>
                        </a:lnSpc>
                        <a:buNone/>
                      </a:pPr>
                      <a:r>
                        <a:rPr lang="en-US" sz="1400" dirty="0">
                          <a:solidFill>
                            <a:srgbClr val="E6E7F0"/>
                          </a:solidFill>
                          <a:latin typeface="Arial" pitchFamily="34" charset="0"/>
                          <a:ea typeface="Arial" pitchFamily="34" charset="-122"/>
                          <a:cs typeface="Arial" pitchFamily="34" charset="-120"/>
                        </a:rPr>
                        <a:t>Forma de puntuar</a:t>
                      </a:r>
                      <a:endParaRPr lang="en-US" sz="1400" dirty="0">
                        <a:latin typeface="Arial" charset="0"/>
                        <a:ea typeface="Arial" charset="0"/>
                        <a:cs typeface="Arial" charset="0"/>
                      </a:endParaRPr>
                    </a:p>
                  </a:txBody>
                  <a:tcPr marL="62230" marR="62230" marT="62230" marB="62230" anchor="t">
                    <a:lnL w="12700" cap="flat" cmpd="sng" algn="ctr">
                      <a:solidFill>
                        <a:srgbClr val="716052"/>
                      </a:solidFill>
                      <a:prstDash val="solid"/>
                      <a:round/>
                      <a:headEnd type="none" w="med" len="med"/>
                      <a:tailEnd type="none" w="med" len="med"/>
                    </a:lnL>
                    <a:lnR w="12700" cap="flat" cmpd="sng" algn="ctr">
                      <a:solidFill>
                        <a:srgbClr val="716052"/>
                      </a:solidFill>
                      <a:prstDash val="solid"/>
                      <a:round/>
                      <a:headEnd type="none" w="med" len="med"/>
                      <a:tailEnd type="none" w="med" len="med"/>
                    </a:lnR>
                    <a:lnT w="12700" cap="flat" cmpd="sng" algn="ctr">
                      <a:solidFill>
                        <a:srgbClr val="4F5162"/>
                      </a:solidFill>
                      <a:prstDash val="solid"/>
                      <a:round/>
                      <a:headEnd type="none" w="med" len="med"/>
                      <a:tailEnd type="none" w="med" len="med"/>
                    </a:lnT>
                    <a:lnB w="12700" cap="flat" cmpd="sng" algn="ctr">
                      <a:solidFill>
                        <a:srgbClr val="716052"/>
                      </a:solidFill>
                      <a:prstDash val="solid"/>
                      <a:round/>
                      <a:headEnd type="none" w="med" len="med"/>
                      <a:tailEnd type="none" w="med" len="med"/>
                    </a:lnB>
                    <a:solidFill>
                      <a:srgbClr val="4A3524"/>
                    </a:solidFill>
                  </a:tcPr>
                </a:tc>
                <a:tc>
                  <a:txBody>
                    <a:bodyPr/>
                    <a:lstStyle/>
                    <a:p>
                      <a:pPr algn="r" indent="0" marL="0">
                        <a:lnSpc>
                          <a:spcPts val="1960"/>
                        </a:lnSpc>
                        <a:buNone/>
                      </a:pPr>
                      <a:r>
                        <a:rPr lang="en-US" sz="1400" dirty="0">
                          <a:solidFill>
                            <a:srgbClr val="E6E7F0"/>
                          </a:solidFill>
                          <a:latin typeface="Arial" pitchFamily="34" charset="0"/>
                          <a:ea typeface="Arial" pitchFamily="34" charset="-122"/>
                          <a:cs typeface="Arial" pitchFamily="34" charset="-120"/>
                        </a:rPr>
                        <a:t>161.9</a:t>
                      </a:r>
                      <a:endParaRPr lang="en-US" sz="1400" dirty="0">
                        <a:latin typeface="Arial" charset="0"/>
                        <a:ea typeface="Arial" charset="0"/>
                        <a:cs typeface="Arial" charset="0"/>
                      </a:endParaRPr>
                    </a:p>
                  </a:txBody>
                  <a:tcPr marL="62230" marR="62230" marT="62230" marB="62230" anchor="t">
                    <a:lnL w="12700" cap="flat" cmpd="sng" algn="ctr">
                      <a:solidFill>
                        <a:srgbClr val="716052"/>
                      </a:solidFill>
                      <a:prstDash val="solid"/>
                      <a:round/>
                      <a:headEnd type="none" w="med" len="med"/>
                      <a:tailEnd type="none" w="med" len="med"/>
                    </a:lnL>
                    <a:lnR w="12700" cap="flat" cmpd="sng" algn="ctr">
                      <a:solidFill>
                        <a:srgbClr val="716052"/>
                      </a:solidFill>
                      <a:prstDash val="solid"/>
                      <a:round/>
                      <a:headEnd type="none" w="med" len="med"/>
                      <a:tailEnd type="none" w="med" len="med"/>
                    </a:lnR>
                    <a:lnT w="12700" cap="flat" cmpd="sng" algn="ctr">
                      <a:solidFill>
                        <a:srgbClr val="4F5162"/>
                      </a:solidFill>
                      <a:prstDash val="solid"/>
                      <a:round/>
                      <a:headEnd type="none" w="med" len="med"/>
                      <a:tailEnd type="none" w="med" len="med"/>
                    </a:lnT>
                    <a:lnB w="12700" cap="flat" cmpd="sng" algn="ctr">
                      <a:solidFill>
                        <a:srgbClr val="716052"/>
                      </a:solidFill>
                      <a:prstDash val="solid"/>
                      <a:round/>
                      <a:headEnd type="none" w="med" len="med"/>
                      <a:tailEnd type="none" w="med" len="med"/>
                    </a:lnB>
                    <a:solidFill>
                      <a:srgbClr val="4A3524"/>
                    </a:solidFill>
                  </a:tcPr>
                </a:tc>
                <a:tc>
                  <a:txBody>
                    <a:bodyPr/>
                    <a:lstStyle/>
                    <a:p>
                      <a:pPr algn="r" indent="0" marL="0">
                        <a:lnSpc>
                          <a:spcPts val="1960"/>
                        </a:lnSpc>
                        <a:buNone/>
                      </a:pPr>
                      <a:r>
                        <a:rPr lang="en-US" sz="1400" dirty="0">
                          <a:solidFill>
                            <a:srgbClr val="E6E7F0"/>
                          </a:solidFill>
                          <a:latin typeface="Arial" pitchFamily="34" charset="0"/>
                          <a:ea typeface="Arial" pitchFamily="34" charset="-122"/>
                          <a:cs typeface="Arial" pitchFamily="34" charset="-120"/>
                        </a:rPr>
                        <a:t>0.99</a:t>
                      </a:r>
                      <a:endParaRPr lang="en-US" sz="1400" dirty="0">
                        <a:latin typeface="Arial" charset="0"/>
                        <a:ea typeface="Arial" charset="0"/>
                        <a:cs typeface="Arial" charset="0"/>
                      </a:endParaRPr>
                    </a:p>
                  </a:txBody>
                  <a:tcPr marL="62230" marR="62230" marT="62230" marB="62230" anchor="t">
                    <a:lnL w="12700" cap="flat" cmpd="sng" algn="ctr">
                      <a:solidFill>
                        <a:srgbClr val="716052"/>
                      </a:solidFill>
                      <a:prstDash val="solid"/>
                      <a:round/>
                      <a:headEnd type="none" w="med" len="med"/>
                      <a:tailEnd type="none" w="med" len="med"/>
                    </a:lnL>
                    <a:lnR w="12700" cap="flat" cmpd="sng" algn="ctr">
                      <a:solidFill>
                        <a:srgbClr val="716052"/>
                      </a:solidFill>
                      <a:prstDash val="solid"/>
                      <a:round/>
                      <a:headEnd type="none" w="med" len="med"/>
                      <a:tailEnd type="none" w="med" len="med"/>
                    </a:lnR>
                    <a:lnT w="12700" cap="flat" cmpd="sng" algn="ctr">
                      <a:solidFill>
                        <a:srgbClr val="4F5162"/>
                      </a:solidFill>
                      <a:prstDash val="solid"/>
                      <a:round/>
                      <a:headEnd type="none" w="med" len="med"/>
                      <a:tailEnd type="none" w="med" len="med"/>
                    </a:lnT>
                    <a:lnB w="12700" cap="flat" cmpd="sng" algn="ctr">
                      <a:solidFill>
                        <a:srgbClr val="716052"/>
                      </a:solidFill>
                      <a:prstDash val="solid"/>
                      <a:round/>
                      <a:headEnd type="none" w="med" len="med"/>
                      <a:tailEnd type="none" w="med" len="med"/>
                    </a:lnB>
                    <a:solidFill>
                      <a:srgbClr val="4A3524"/>
                    </a:solidFill>
                  </a:tcPr>
                </a:tc>
                <a:tc>
                  <a:txBody>
                    <a:bodyPr/>
                    <a:lstStyle/>
                    <a:p>
                      <a:pPr indent="0" marL="0">
                        <a:lnSpc>
                          <a:spcPts val="1960"/>
                        </a:lnSpc>
                        <a:buNone/>
                      </a:pPr>
                      <a:r>
                        <a:rPr lang="en-US" sz="1400" dirty="0">
                          <a:solidFill>
                            <a:srgbClr val="E6E7F0"/>
                          </a:solidFill>
                          <a:latin typeface="Arial" pitchFamily="34" charset="0"/>
                          <a:ea typeface="Arial" pitchFamily="34" charset="-122"/>
                          <a:cs typeface="Arial" pitchFamily="34" charset="-120"/>
                        </a:rPr>
                        <a:t>Modelo final: la más variada</a:t>
                      </a:r>
                      <a:endParaRPr lang="en-US" sz="1400" dirty="0">
                        <a:latin typeface="Arial" charset="0"/>
                        <a:ea typeface="Arial" charset="0"/>
                        <a:cs typeface="Arial" charset="0"/>
                      </a:endParaRPr>
                    </a:p>
                  </a:txBody>
                  <a:tcPr marL="62230" marR="62230" marT="62230" marB="62230" anchor="t">
                    <a:lnL w="12700" cap="flat" cmpd="sng" algn="ctr">
                      <a:solidFill>
                        <a:srgbClr val="716052"/>
                      </a:solidFill>
                      <a:prstDash val="solid"/>
                      <a:round/>
                      <a:headEnd type="none" w="med" len="med"/>
                      <a:tailEnd type="none" w="med" len="med"/>
                    </a:lnL>
                    <a:lnR w="12700" cap="flat" cmpd="sng" algn="ctr">
                      <a:solidFill>
                        <a:srgbClr val="716052"/>
                      </a:solidFill>
                      <a:prstDash val="solid"/>
                      <a:round/>
                      <a:headEnd type="none" w="med" len="med"/>
                      <a:tailEnd type="none" w="med" len="med"/>
                    </a:lnR>
                    <a:lnT w="12700" cap="flat" cmpd="sng" algn="ctr">
                      <a:solidFill>
                        <a:srgbClr val="4F5162"/>
                      </a:solidFill>
                      <a:prstDash val="solid"/>
                      <a:round/>
                      <a:headEnd type="none" w="med" len="med"/>
                      <a:tailEnd type="none" w="med" len="med"/>
                    </a:lnT>
                    <a:lnB w="12700" cap="flat" cmpd="sng" algn="ctr">
                      <a:solidFill>
                        <a:srgbClr val="716052"/>
                      </a:solidFill>
                      <a:prstDash val="solid"/>
                      <a:round/>
                      <a:headEnd type="none" w="med" len="med"/>
                      <a:tailEnd type="none" w="med" len="med"/>
                    </a:lnB>
                    <a:solidFill>
                      <a:srgbClr val="4A3524"/>
                    </a:solidFill>
                  </a:tcPr>
                </a:tc>
              </a:tr>
              <a:tr h="385961">
                <a:tc>
                  <a:txBody>
                    <a:bodyPr/>
                    <a:lstStyle/>
                    <a:p>
                      <a:pPr indent="0" marL="0">
                        <a:lnSpc>
                          <a:spcPts val="1960"/>
                        </a:lnSpc>
                        <a:buNone/>
                      </a:pPr>
                      <a:r>
                        <a:rPr lang="en-US" sz="1400" dirty="0">
                          <a:solidFill>
                            <a:srgbClr val="E6E7F0"/>
                          </a:solidFill>
                          <a:latin typeface="Arial" pitchFamily="34" charset="0"/>
                          <a:ea typeface="Arial" pitchFamily="34" charset="-122"/>
                          <a:cs typeface="Arial" pitchFamily="34" charset="-120"/>
                        </a:rPr>
                        <a:t>sn</a:t>
                      </a:r>
                      <a:endParaRPr lang="en-US" sz="1400" dirty="0">
                        <a:latin typeface="Arial" charset="0"/>
                        <a:ea typeface="Arial" charset="0"/>
                        <a:cs typeface="Arial" charset="0"/>
                      </a:endParaRPr>
                    </a:p>
                  </a:txBody>
                  <a:tcPr marL="62230" marR="62230" marT="62230" marB="62230" anchor="t">
                    <a:lnL w="12700" cap="flat" cmpd="sng" algn="ctr">
                      <a:solidFill>
                        <a:srgbClr val="4F5162"/>
                      </a:solidFill>
                      <a:prstDash val="solid"/>
                      <a:round/>
                      <a:headEnd type="none" w="med" len="med"/>
                      <a:tailEnd type="none" w="med" len="med"/>
                    </a:lnL>
                    <a:lnR w="12700" cap="flat" cmpd="sng" algn="ctr">
                      <a:solidFill>
                        <a:srgbClr val="4F5162"/>
                      </a:solidFill>
                      <a:prstDash val="solid"/>
                      <a:round/>
                      <a:headEnd type="none" w="med" len="med"/>
                      <a:tailEnd type="none" w="med" len="med"/>
                    </a:lnR>
                    <a:lnT w="12700" cap="flat" cmpd="sng" algn="ctr">
                      <a:solidFill>
                        <a:srgbClr val="716052"/>
                      </a:solidFill>
                      <a:prstDash val="solid"/>
                      <a:round/>
                      <a:headEnd type="none" w="med" len="med"/>
                      <a:tailEnd type="none" w="med" len="med"/>
                    </a:lnT>
                    <a:lnB w="12700" cap="flat" cmpd="sng" algn="ctr">
                      <a:solidFill>
                        <a:srgbClr val="4F5162"/>
                      </a:solidFill>
                      <a:prstDash val="solid"/>
                      <a:round/>
                      <a:headEnd type="none" w="med" len="med"/>
                      <a:tailEnd type="none" w="med" len="med"/>
                    </a:lnB>
                  </a:tcPr>
                </a:tc>
                <a:tc>
                  <a:txBody>
                    <a:bodyPr/>
                    <a:lstStyle/>
                    <a:p>
                      <a:pPr indent="0" marL="0">
                        <a:lnSpc>
                          <a:spcPts val="1960"/>
                        </a:lnSpc>
                        <a:buNone/>
                      </a:pPr>
                      <a:r>
                        <a:rPr lang="en-US" sz="1400" dirty="0">
                          <a:solidFill>
                            <a:srgbClr val="E6E7F0"/>
                          </a:solidFill>
                          <a:latin typeface="Arial" pitchFamily="34" charset="0"/>
                          <a:ea typeface="Arial" pitchFamily="34" charset="-122"/>
                          <a:cs typeface="Arial" pitchFamily="34" charset="-120"/>
                        </a:rPr>
                        <a:t>Freno al policía</a:t>
                      </a:r>
                      <a:endParaRPr lang="en-US" sz="1400" dirty="0">
                        <a:latin typeface="Arial" charset="0"/>
                        <a:ea typeface="Arial" charset="0"/>
                        <a:cs typeface="Arial" charset="0"/>
                      </a:endParaRPr>
                    </a:p>
                  </a:txBody>
                  <a:tcPr marL="62230" marR="62230" marT="62230" marB="62230" anchor="t">
                    <a:lnL w="12700" cap="flat" cmpd="sng" algn="ctr">
                      <a:solidFill>
                        <a:srgbClr val="4F5162"/>
                      </a:solidFill>
                      <a:prstDash val="solid"/>
                      <a:round/>
                      <a:headEnd type="none" w="med" len="med"/>
                      <a:tailEnd type="none" w="med" len="med"/>
                    </a:lnL>
                    <a:lnR w="12700" cap="flat" cmpd="sng" algn="ctr">
                      <a:solidFill>
                        <a:srgbClr val="4F5162"/>
                      </a:solidFill>
                      <a:prstDash val="solid"/>
                      <a:round/>
                      <a:headEnd type="none" w="med" len="med"/>
                      <a:tailEnd type="none" w="med" len="med"/>
                    </a:lnR>
                    <a:lnT w="12700" cap="flat" cmpd="sng" algn="ctr">
                      <a:solidFill>
                        <a:srgbClr val="716052"/>
                      </a:solidFill>
                      <a:prstDash val="solid"/>
                      <a:round/>
                      <a:headEnd type="none" w="med" len="med"/>
                      <a:tailEnd type="none" w="med" len="med"/>
                    </a:lnT>
                    <a:lnB w="12700" cap="flat" cmpd="sng" algn="ctr">
                      <a:solidFill>
                        <a:srgbClr val="4F5162"/>
                      </a:solidFill>
                      <a:prstDash val="solid"/>
                      <a:round/>
                      <a:headEnd type="none" w="med" len="med"/>
                      <a:tailEnd type="none" w="med" len="med"/>
                    </a:lnB>
                  </a:tcPr>
                </a:tc>
                <a:tc>
                  <a:txBody>
                    <a:bodyPr/>
                    <a:lstStyle/>
                    <a:p>
                      <a:pPr algn="r" indent="0" marL="0">
                        <a:lnSpc>
                          <a:spcPts val="1960"/>
                        </a:lnSpc>
                        <a:buNone/>
                      </a:pPr>
                      <a:r>
                        <a:rPr lang="en-US" sz="1400" dirty="0">
                          <a:solidFill>
                            <a:srgbClr val="E6E7F0"/>
                          </a:solidFill>
                          <a:latin typeface="Arial" pitchFamily="34" charset="0"/>
                          <a:ea typeface="Arial" pitchFamily="34" charset="-122"/>
                          <a:cs typeface="Arial" pitchFamily="34" charset="-120"/>
                        </a:rPr>
                        <a:t>401.8</a:t>
                      </a:r>
                      <a:endParaRPr lang="en-US" sz="1400" dirty="0">
                        <a:latin typeface="Arial" charset="0"/>
                        <a:ea typeface="Arial" charset="0"/>
                        <a:cs typeface="Arial" charset="0"/>
                      </a:endParaRPr>
                    </a:p>
                  </a:txBody>
                  <a:tcPr marL="62230" marR="62230" marT="62230" marB="62230" anchor="t">
                    <a:lnL w="12700" cap="flat" cmpd="sng" algn="ctr">
                      <a:solidFill>
                        <a:srgbClr val="4F5162"/>
                      </a:solidFill>
                      <a:prstDash val="solid"/>
                      <a:round/>
                      <a:headEnd type="none" w="med" len="med"/>
                      <a:tailEnd type="none" w="med" len="med"/>
                    </a:lnL>
                    <a:lnR w="12700" cap="flat" cmpd="sng" algn="ctr">
                      <a:solidFill>
                        <a:srgbClr val="4F5162"/>
                      </a:solidFill>
                      <a:prstDash val="solid"/>
                      <a:round/>
                      <a:headEnd type="none" w="med" len="med"/>
                      <a:tailEnd type="none" w="med" len="med"/>
                    </a:lnR>
                    <a:lnT w="12700" cap="flat" cmpd="sng" algn="ctr">
                      <a:solidFill>
                        <a:srgbClr val="716052"/>
                      </a:solidFill>
                      <a:prstDash val="solid"/>
                      <a:round/>
                      <a:headEnd type="none" w="med" len="med"/>
                      <a:tailEnd type="none" w="med" len="med"/>
                    </a:lnT>
                    <a:lnB w="12700" cap="flat" cmpd="sng" algn="ctr">
                      <a:solidFill>
                        <a:srgbClr val="4F5162"/>
                      </a:solidFill>
                      <a:prstDash val="solid"/>
                      <a:round/>
                      <a:headEnd type="none" w="med" len="med"/>
                      <a:tailEnd type="none" w="med" len="med"/>
                    </a:lnB>
                  </a:tcPr>
                </a:tc>
                <a:tc>
                  <a:txBody>
                    <a:bodyPr/>
                    <a:lstStyle/>
                    <a:p>
                      <a:pPr algn="r" indent="0" marL="0">
                        <a:lnSpc>
                          <a:spcPts val="1960"/>
                        </a:lnSpc>
                        <a:buNone/>
                      </a:pPr>
                      <a:r>
                        <a:rPr lang="en-US" sz="1400" dirty="0">
                          <a:solidFill>
                            <a:srgbClr val="E6E7F0"/>
                          </a:solidFill>
                          <a:latin typeface="Arial" pitchFamily="34" charset="0"/>
                          <a:ea typeface="Arial" pitchFamily="34" charset="-122"/>
                          <a:cs typeface="Arial" pitchFamily="34" charset="-120"/>
                        </a:rPr>
                        <a:t>0.09</a:t>
                      </a:r>
                      <a:endParaRPr lang="en-US" sz="1400" dirty="0">
                        <a:latin typeface="Arial" charset="0"/>
                        <a:ea typeface="Arial" charset="0"/>
                        <a:cs typeface="Arial" charset="0"/>
                      </a:endParaRPr>
                    </a:p>
                  </a:txBody>
                  <a:tcPr marL="62230" marR="62230" marT="62230" marB="62230" anchor="t">
                    <a:lnL w="12700" cap="flat" cmpd="sng" algn="ctr">
                      <a:solidFill>
                        <a:srgbClr val="4F5162"/>
                      </a:solidFill>
                      <a:prstDash val="solid"/>
                      <a:round/>
                      <a:headEnd type="none" w="med" len="med"/>
                      <a:tailEnd type="none" w="med" len="med"/>
                    </a:lnL>
                    <a:lnR w="12700" cap="flat" cmpd="sng" algn="ctr">
                      <a:solidFill>
                        <a:srgbClr val="4F5162"/>
                      </a:solidFill>
                      <a:prstDash val="solid"/>
                      <a:round/>
                      <a:headEnd type="none" w="med" len="med"/>
                      <a:tailEnd type="none" w="med" len="med"/>
                    </a:lnR>
                    <a:lnT w="12700" cap="flat" cmpd="sng" algn="ctr">
                      <a:solidFill>
                        <a:srgbClr val="716052"/>
                      </a:solidFill>
                      <a:prstDash val="solid"/>
                      <a:round/>
                      <a:headEnd type="none" w="med" len="med"/>
                      <a:tailEnd type="none" w="med" len="med"/>
                    </a:lnT>
                    <a:lnB w="12700" cap="flat" cmpd="sng" algn="ctr">
                      <a:solidFill>
                        <a:srgbClr val="4F5162"/>
                      </a:solidFill>
                      <a:prstDash val="solid"/>
                      <a:round/>
                      <a:headEnd type="none" w="med" len="med"/>
                      <a:tailEnd type="none" w="med" len="med"/>
                    </a:lnB>
                  </a:tcPr>
                </a:tc>
                <a:tc>
                  <a:txBody>
                    <a:bodyPr/>
                    <a:lstStyle/>
                    <a:p>
                      <a:pPr indent="0" marL="0">
                        <a:lnSpc>
                          <a:spcPts val="1960"/>
                        </a:lnSpc>
                        <a:buNone/>
                      </a:pPr>
                      <a:r>
                        <a:rPr lang="en-US" sz="1400" dirty="0">
                          <a:solidFill>
                            <a:srgbClr val="E6E7F0"/>
                          </a:solidFill>
                          <a:latin typeface="Arial" pitchFamily="34" charset="0"/>
                          <a:ea typeface="Arial" pitchFamily="34" charset="-122"/>
                          <a:cs typeface="Arial" pitchFamily="34" charset="-120"/>
                        </a:rPr>
                        <a:t>Colapsó</a:t>
                      </a:r>
                      <a:endParaRPr lang="en-US" sz="1400" dirty="0">
                        <a:latin typeface="Arial" charset="0"/>
                        <a:ea typeface="Arial" charset="0"/>
                        <a:cs typeface="Arial" charset="0"/>
                      </a:endParaRPr>
                    </a:p>
                  </a:txBody>
                  <a:tcPr marL="62230" marR="62230" marT="62230" marB="62230" anchor="t">
                    <a:lnL w="12700" cap="flat" cmpd="sng" algn="ctr">
                      <a:solidFill>
                        <a:srgbClr val="4F5162"/>
                      </a:solidFill>
                      <a:prstDash val="solid"/>
                      <a:round/>
                      <a:headEnd type="none" w="med" len="med"/>
                      <a:tailEnd type="none" w="med" len="med"/>
                    </a:lnL>
                    <a:lnR w="12700" cap="flat" cmpd="sng" algn="ctr">
                      <a:solidFill>
                        <a:srgbClr val="4F5162"/>
                      </a:solidFill>
                      <a:prstDash val="solid"/>
                      <a:round/>
                      <a:headEnd type="none" w="med" len="med"/>
                      <a:tailEnd type="none" w="med" len="med"/>
                    </a:lnR>
                    <a:lnT w="12700" cap="flat" cmpd="sng" algn="ctr">
                      <a:solidFill>
                        <a:srgbClr val="716052"/>
                      </a:solidFill>
                      <a:prstDash val="solid"/>
                      <a:round/>
                      <a:headEnd type="none" w="med" len="med"/>
                      <a:tailEnd type="none" w="med" len="med"/>
                    </a:lnT>
                    <a:lnB w="12700" cap="flat" cmpd="sng" algn="ctr">
                      <a:solidFill>
                        <a:srgbClr val="4F5162"/>
                      </a:solidFill>
                      <a:prstDash val="solid"/>
                      <a:round/>
                      <a:headEnd type="none" w="med" len="med"/>
                      <a:tailEnd type="none" w="med" len="med"/>
                    </a:lnB>
                  </a:tcPr>
                </a:tc>
              </a:tr>
              <a:tr h="385961">
                <a:tc>
                  <a:txBody>
                    <a:bodyPr/>
                    <a:lstStyle/>
                    <a:p>
                      <a:pPr indent="0" marL="0">
                        <a:lnSpc>
                          <a:spcPts val="1960"/>
                        </a:lnSpc>
                        <a:buNone/>
                      </a:pPr>
                      <a:r>
                        <a:rPr lang="en-US" sz="1400" dirty="0">
                          <a:solidFill>
                            <a:srgbClr val="E6E7F0"/>
                          </a:solidFill>
                          <a:latin typeface="Arial" pitchFamily="34" charset="0"/>
                          <a:ea typeface="Arial" pitchFamily="34" charset="-122"/>
                          <a:cs typeface="Arial" pitchFamily="34" charset="-120"/>
                        </a:rPr>
                        <a:t>sn_nobn</a:t>
                      </a:r>
                      <a:endParaRPr lang="en-US" sz="1400" dirty="0">
                        <a:latin typeface="Arial" charset="0"/>
                        <a:ea typeface="Arial" charset="0"/>
                        <a:cs typeface="Arial" charset="0"/>
                      </a:endParaRPr>
                    </a:p>
                  </a:txBody>
                  <a:tcPr marL="62230" marR="62230" marT="62230" marB="62230" anchor="t">
                    <a:lnL w="12700" cap="flat" cmpd="sng" algn="ctr">
                      <a:solidFill>
                        <a:srgbClr val="4F5162"/>
                      </a:solidFill>
                      <a:prstDash val="solid"/>
                      <a:round/>
                      <a:headEnd type="none" w="med" len="med"/>
                      <a:tailEnd type="none" w="med" len="med"/>
                    </a:lnL>
                    <a:lnR w="12700" cap="flat" cmpd="sng" algn="ctr">
                      <a:solidFill>
                        <a:srgbClr val="4F5162"/>
                      </a:solidFill>
                      <a:prstDash val="solid"/>
                      <a:round/>
                      <a:headEnd type="none" w="med" len="med"/>
                      <a:tailEnd type="none" w="med" len="med"/>
                    </a:lnR>
                    <a:lnT w="12700" cap="flat" cmpd="sng" algn="ctr">
                      <a:solidFill>
                        <a:srgbClr val="4F5162"/>
                      </a:solidFill>
                      <a:prstDash val="solid"/>
                      <a:round/>
                      <a:headEnd type="none" w="med" len="med"/>
                      <a:tailEnd type="none" w="med" len="med"/>
                    </a:lnT>
                    <a:lnB w="12700" cap="flat" cmpd="sng" algn="ctr">
                      <a:solidFill>
                        <a:srgbClr val="4F5162"/>
                      </a:solidFill>
                      <a:prstDash val="solid"/>
                      <a:round/>
                      <a:headEnd type="none" w="med" len="med"/>
                      <a:tailEnd type="none" w="med" len="med"/>
                    </a:lnB>
                  </a:tcPr>
                </a:tc>
                <a:tc>
                  <a:txBody>
                    <a:bodyPr/>
                    <a:lstStyle/>
                    <a:p>
                      <a:pPr indent="0" marL="0">
                        <a:lnSpc>
                          <a:spcPts val="1960"/>
                        </a:lnSpc>
                        <a:buNone/>
                      </a:pPr>
                      <a:r>
                        <a:rPr lang="en-US" sz="1400" dirty="0">
                          <a:solidFill>
                            <a:srgbClr val="E6E7F0"/>
                          </a:solidFill>
                          <a:latin typeface="Arial" pitchFamily="34" charset="0"/>
                          <a:ea typeface="Arial" pitchFamily="34" charset="-122"/>
                          <a:cs typeface="Arial" pitchFamily="34" charset="-120"/>
                        </a:rPr>
                        <a:t>Freno sin BatchNorm</a:t>
                      </a:r>
                      <a:endParaRPr lang="en-US" sz="1400" dirty="0">
                        <a:latin typeface="Arial" charset="0"/>
                        <a:ea typeface="Arial" charset="0"/>
                        <a:cs typeface="Arial" charset="0"/>
                      </a:endParaRPr>
                    </a:p>
                  </a:txBody>
                  <a:tcPr marL="62230" marR="62230" marT="62230" marB="62230" anchor="t">
                    <a:lnL w="12700" cap="flat" cmpd="sng" algn="ctr">
                      <a:solidFill>
                        <a:srgbClr val="4F5162"/>
                      </a:solidFill>
                      <a:prstDash val="solid"/>
                      <a:round/>
                      <a:headEnd type="none" w="med" len="med"/>
                      <a:tailEnd type="none" w="med" len="med"/>
                    </a:lnL>
                    <a:lnR w="12700" cap="flat" cmpd="sng" algn="ctr">
                      <a:solidFill>
                        <a:srgbClr val="4F5162"/>
                      </a:solidFill>
                      <a:prstDash val="solid"/>
                      <a:round/>
                      <a:headEnd type="none" w="med" len="med"/>
                      <a:tailEnd type="none" w="med" len="med"/>
                    </a:lnR>
                    <a:lnT w="12700" cap="flat" cmpd="sng" algn="ctr">
                      <a:solidFill>
                        <a:srgbClr val="4F5162"/>
                      </a:solidFill>
                      <a:prstDash val="solid"/>
                      <a:round/>
                      <a:headEnd type="none" w="med" len="med"/>
                      <a:tailEnd type="none" w="med" len="med"/>
                    </a:lnT>
                    <a:lnB w="12700" cap="flat" cmpd="sng" algn="ctr">
                      <a:solidFill>
                        <a:srgbClr val="4F5162"/>
                      </a:solidFill>
                      <a:prstDash val="solid"/>
                      <a:round/>
                      <a:headEnd type="none" w="med" len="med"/>
                      <a:tailEnd type="none" w="med" len="med"/>
                    </a:lnB>
                  </a:tcPr>
                </a:tc>
                <a:tc>
                  <a:txBody>
                    <a:bodyPr/>
                    <a:lstStyle/>
                    <a:p>
                      <a:pPr algn="r" indent="0" marL="0">
                        <a:lnSpc>
                          <a:spcPts val="1960"/>
                        </a:lnSpc>
                        <a:buNone/>
                      </a:pPr>
                      <a:r>
                        <a:rPr lang="en-US" sz="1400" dirty="0">
                          <a:solidFill>
                            <a:srgbClr val="E6E7F0"/>
                          </a:solidFill>
                          <a:latin typeface="Arial" pitchFamily="34" charset="0"/>
                          <a:ea typeface="Arial" pitchFamily="34" charset="-122"/>
                          <a:cs typeface="Arial" pitchFamily="34" charset="-120"/>
                        </a:rPr>
                        <a:t>224.9</a:t>
                      </a:r>
                      <a:endParaRPr lang="en-US" sz="1400" dirty="0">
                        <a:latin typeface="Arial" charset="0"/>
                        <a:ea typeface="Arial" charset="0"/>
                        <a:cs typeface="Arial" charset="0"/>
                      </a:endParaRPr>
                    </a:p>
                  </a:txBody>
                  <a:tcPr marL="62230" marR="62230" marT="62230" marB="62230" anchor="t">
                    <a:lnL w="12700" cap="flat" cmpd="sng" algn="ctr">
                      <a:solidFill>
                        <a:srgbClr val="4F5162"/>
                      </a:solidFill>
                      <a:prstDash val="solid"/>
                      <a:round/>
                      <a:headEnd type="none" w="med" len="med"/>
                      <a:tailEnd type="none" w="med" len="med"/>
                    </a:lnL>
                    <a:lnR w="12700" cap="flat" cmpd="sng" algn="ctr">
                      <a:solidFill>
                        <a:srgbClr val="4F5162"/>
                      </a:solidFill>
                      <a:prstDash val="solid"/>
                      <a:round/>
                      <a:headEnd type="none" w="med" len="med"/>
                      <a:tailEnd type="none" w="med" len="med"/>
                    </a:lnR>
                    <a:lnT w="12700" cap="flat" cmpd="sng" algn="ctr">
                      <a:solidFill>
                        <a:srgbClr val="4F5162"/>
                      </a:solidFill>
                      <a:prstDash val="solid"/>
                      <a:round/>
                      <a:headEnd type="none" w="med" len="med"/>
                      <a:tailEnd type="none" w="med" len="med"/>
                    </a:lnT>
                    <a:lnB w="12700" cap="flat" cmpd="sng" algn="ctr">
                      <a:solidFill>
                        <a:srgbClr val="4F5162"/>
                      </a:solidFill>
                      <a:prstDash val="solid"/>
                      <a:round/>
                      <a:headEnd type="none" w="med" len="med"/>
                      <a:tailEnd type="none" w="med" len="med"/>
                    </a:lnB>
                  </a:tcPr>
                </a:tc>
                <a:tc>
                  <a:txBody>
                    <a:bodyPr/>
                    <a:lstStyle/>
                    <a:p>
                      <a:pPr algn="r" indent="0" marL="0">
                        <a:lnSpc>
                          <a:spcPts val="1960"/>
                        </a:lnSpc>
                        <a:buNone/>
                      </a:pPr>
                      <a:r>
                        <a:rPr lang="en-US" sz="1400" dirty="0">
                          <a:solidFill>
                            <a:srgbClr val="E6E7F0"/>
                          </a:solidFill>
                          <a:latin typeface="Arial" pitchFamily="34" charset="0"/>
                          <a:ea typeface="Arial" pitchFamily="34" charset="-122"/>
                          <a:cs typeface="Arial" pitchFamily="34" charset="-120"/>
                        </a:rPr>
                        <a:t>0.81</a:t>
                      </a:r>
                      <a:endParaRPr lang="en-US" sz="1400" dirty="0">
                        <a:latin typeface="Arial" charset="0"/>
                        <a:ea typeface="Arial" charset="0"/>
                        <a:cs typeface="Arial" charset="0"/>
                      </a:endParaRPr>
                    </a:p>
                  </a:txBody>
                  <a:tcPr marL="62230" marR="62230" marT="62230" marB="62230" anchor="t">
                    <a:lnL w="12700" cap="flat" cmpd="sng" algn="ctr">
                      <a:solidFill>
                        <a:srgbClr val="4F5162"/>
                      </a:solidFill>
                      <a:prstDash val="solid"/>
                      <a:round/>
                      <a:headEnd type="none" w="med" len="med"/>
                      <a:tailEnd type="none" w="med" len="med"/>
                    </a:lnL>
                    <a:lnR w="12700" cap="flat" cmpd="sng" algn="ctr">
                      <a:solidFill>
                        <a:srgbClr val="4F5162"/>
                      </a:solidFill>
                      <a:prstDash val="solid"/>
                      <a:round/>
                      <a:headEnd type="none" w="med" len="med"/>
                      <a:tailEnd type="none" w="med" len="med"/>
                    </a:lnR>
                    <a:lnT w="12700" cap="flat" cmpd="sng" algn="ctr">
                      <a:solidFill>
                        <a:srgbClr val="4F5162"/>
                      </a:solidFill>
                      <a:prstDash val="solid"/>
                      <a:round/>
                      <a:headEnd type="none" w="med" len="med"/>
                      <a:tailEnd type="none" w="med" len="med"/>
                    </a:lnT>
                    <a:lnB w="12700" cap="flat" cmpd="sng" algn="ctr">
                      <a:solidFill>
                        <a:srgbClr val="4F5162"/>
                      </a:solidFill>
                      <a:prstDash val="solid"/>
                      <a:round/>
                      <a:headEnd type="none" w="med" len="med"/>
                      <a:tailEnd type="none" w="med" len="med"/>
                    </a:lnB>
                  </a:tcPr>
                </a:tc>
                <a:tc>
                  <a:txBody>
                    <a:bodyPr/>
                    <a:lstStyle/>
                    <a:p>
                      <a:pPr indent="0" marL="0">
                        <a:lnSpc>
                          <a:spcPts val="1960"/>
                        </a:lnSpc>
                        <a:buNone/>
                      </a:pPr>
                      <a:r>
                        <a:rPr lang="en-US" sz="1400" dirty="0">
                          <a:solidFill>
                            <a:srgbClr val="E6E7F0"/>
                          </a:solidFill>
                          <a:latin typeface="Arial" pitchFamily="34" charset="0"/>
                          <a:ea typeface="Arial" pitchFamily="34" charset="-122"/>
                          <a:cs typeface="Arial" pitchFamily="34" charset="-120"/>
                        </a:rPr>
                        <a:t>Estable pero deslavada</a:t>
                      </a:r>
                      <a:endParaRPr lang="en-US" sz="1400" dirty="0">
                        <a:latin typeface="Arial" charset="0"/>
                        <a:ea typeface="Arial" charset="0"/>
                        <a:cs typeface="Arial" charset="0"/>
                      </a:endParaRPr>
                    </a:p>
                  </a:txBody>
                  <a:tcPr marL="62230" marR="62230" marT="62230" marB="62230" anchor="t">
                    <a:lnL w="12700" cap="flat" cmpd="sng" algn="ctr">
                      <a:solidFill>
                        <a:srgbClr val="4F5162"/>
                      </a:solidFill>
                      <a:prstDash val="solid"/>
                      <a:round/>
                      <a:headEnd type="none" w="med" len="med"/>
                      <a:tailEnd type="none" w="med" len="med"/>
                    </a:lnL>
                    <a:lnR w="12700" cap="flat" cmpd="sng" algn="ctr">
                      <a:solidFill>
                        <a:srgbClr val="4F5162"/>
                      </a:solidFill>
                      <a:prstDash val="solid"/>
                      <a:round/>
                      <a:headEnd type="none" w="med" len="med"/>
                      <a:tailEnd type="none" w="med" len="med"/>
                    </a:lnR>
                    <a:lnT w="12700" cap="flat" cmpd="sng" algn="ctr">
                      <a:solidFill>
                        <a:srgbClr val="4F5162"/>
                      </a:solidFill>
                      <a:prstDash val="solid"/>
                      <a:round/>
                      <a:headEnd type="none" w="med" len="med"/>
                      <a:tailEnd type="none" w="med" len="med"/>
                    </a:lnT>
                    <a:lnB w="12700" cap="flat" cmpd="sng" algn="ctr">
                      <a:solidFill>
                        <a:srgbClr val="4F5162"/>
                      </a:solidFill>
                      <a:prstDash val="solid"/>
                      <a:round/>
                      <a:headEnd type="none" w="med" len="med"/>
                      <a:tailEnd type="none" w="med" len="med"/>
                    </a:lnB>
                  </a:tcPr>
                </a:tc>
              </a:tr>
            </a:tbl>
          </a:graphicData>
        </a:graphic>
      </p:graphicFrame>
      <p:sp>
        <p:nvSpPr>
          <p:cNvPr id="6" name="Text 2"/>
          <p:cNvSpPr/>
          <p:nvPr/>
        </p:nvSpPr>
        <p:spPr>
          <a:xfrm>
            <a:off x="812800" y="3844925"/>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9CBE0"/>
                </a:solidFill>
                <a:latin typeface="Arial" pitchFamily="34" charset="0"/>
                <a:ea typeface="Arial" pitchFamily="34" charset="-122"/>
                <a:cs typeface="Arial" pitchFamily="34" charset="-120"/>
              </a:rPr>
              <a:t>FID:</a:t>
            </a:r>
            <a:r>
              <a:rPr lang="en-US" sz="1200" dirty="0">
                <a:solidFill>
                  <a:srgbClr val="C9CBE0"/>
                </a:solidFill>
                <a:latin typeface="Arial" pitchFamily="34" charset="0"/>
                <a:ea typeface="Arial" pitchFamily="34" charset="-122"/>
                <a:cs typeface="Arial" pitchFamily="34" charset="-120"/>
              </a:rPr>
              <a:t> qué tan parecidas son las imágenes al dataset (menor es mejor). </a:t>
            </a:r>
            <a:r>
              <a:rPr lang="en-US" sz="1200" b="1" dirty="0">
                <a:solidFill>
                  <a:srgbClr val="C9CBE0"/>
                </a:solidFill>
                <a:latin typeface="Arial" pitchFamily="34" charset="0"/>
                <a:ea typeface="Arial" pitchFamily="34" charset="-122"/>
                <a:cs typeface="Arial" pitchFamily="34" charset="-120"/>
              </a:rPr>
              <a:t>Variedad:</a:t>
            </a:r>
            <a:r>
              <a:rPr lang="en-US" sz="1200" dirty="0">
                <a:solidFill>
                  <a:srgbClr val="C9CBE0"/>
                </a:solidFill>
                <a:latin typeface="Arial" pitchFamily="34" charset="0"/>
                <a:ea typeface="Arial" pitchFamily="34" charset="-122"/>
                <a:cs typeface="Arial" pitchFamily="34" charset="-120"/>
              </a:rPr>
              <a:t> 1 significa tan variado como el dataset.</a:t>
            </a:r>
            <a:endParaRPr lang="en-US" sz="1200" dirty="0"/>
          </a:p>
        </p:txBody>
      </p:sp>
      <p:sp>
        <p:nvSpPr>
          <p:cNvPr id="7" name="Text 3"/>
          <p:cNvSpPr/>
          <p:nvPr/>
        </p:nvSpPr>
        <p:spPr>
          <a:xfrm>
            <a:off x="812800" y="4261445"/>
            <a:ext cx="9810750" cy="909141"/>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F5F2EA"/>
                </a:solidFill>
                <a:latin typeface="Arial" pitchFamily="34" charset="0"/>
                <a:ea typeface="Arial" pitchFamily="34" charset="-122"/>
                <a:cs typeface="Arial" pitchFamily="34" charset="-120"/>
              </a:rPr>
              <a:t>Se eligió </a:t>
            </a:r>
            <a:r>
              <a:rPr lang="en-US" sz="1600" b="1" dirty="0">
                <a:solidFill>
                  <a:srgbClr val="F5F2EA"/>
                </a:solidFill>
                <a:latin typeface="Arial" pitchFamily="34" charset="0"/>
                <a:ea typeface="Arial" pitchFamily="34" charset="-122"/>
                <a:cs typeface="Arial" pitchFamily="34" charset="-120"/>
              </a:rPr>
              <a:t>hinge</a:t>
            </a:r>
            <a:r>
              <a:rPr lang="en-US" sz="1600" dirty="0">
                <a:solidFill>
                  <a:srgbClr val="F5F2EA"/>
                </a:solidFill>
                <a:latin typeface="Arial" pitchFamily="34" charset="0"/>
                <a:ea typeface="Arial" pitchFamily="34" charset="-122"/>
                <a:cs typeface="Arial" pitchFamily="34" charset="-120"/>
              </a:rPr>
              <a:t> porque el proyecto pregunta si los personajes son </a:t>
            </a:r>
            <a:r>
              <a:rPr lang="en-US" sz="1600" b="1" dirty="0">
                <a:solidFill>
                  <a:srgbClr val="F5F2EA"/>
                </a:solidFill>
                <a:latin typeface="Arial" pitchFamily="34" charset="0"/>
                <a:ea typeface="Arial" pitchFamily="34" charset="-122"/>
                <a:cs typeface="Arial" pitchFamily="34" charset="-120"/>
              </a:rPr>
              <a:t>nuevos y variados</a:t>
            </a:r>
            <a:r>
              <a:rPr lang="en-US" sz="1600" dirty="0">
                <a:solidFill>
                  <a:srgbClr val="F5F2EA"/>
                </a:solidFill>
                <a:latin typeface="Arial" pitchFamily="34" charset="0"/>
                <a:ea typeface="Arial" pitchFamily="34" charset="-122"/>
                <a:cs typeface="Arial" pitchFamily="34" charset="-120"/>
              </a:rPr>
              <a:t>, y es la prueba con más variedad. El primer intento tiene mejor FID, pero con una sola repetición esa diferencia podría ser casualidad.</a:t>
            </a:r>
            <a:endParaRPr lang="en-US" sz="1600" dirty="0"/>
          </a:p>
        </p:txBody>
      </p:sp>
      <p:sp>
        <p:nvSpPr>
          <p:cNvPr id="8" name="Text 4"/>
          <p:cNvSpPr/>
          <p:nvPr/>
        </p:nvSpPr>
        <p:spPr>
          <a:xfrm>
            <a:off x="812800" y="6281440"/>
            <a:ext cx="18501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CBE0"/>
                </a:solidFill>
                <a:latin typeface="Arial" pitchFamily="34" charset="0"/>
                <a:ea typeface="Arial" pitchFamily="34" charset="-122"/>
                <a:cs typeface="Arial" pitchFamily="34" charset="-120"/>
              </a:rPr>
              <a:t>Cubópolis · Proyecto 2</a:t>
            </a:r>
            <a:endParaRPr lang="en-US" sz="1200" dirty="0"/>
          </a:p>
        </p:txBody>
      </p:sp>
      <p:sp>
        <p:nvSpPr>
          <p:cNvPr id="9" name="Shape 5"/>
          <p:cNvSpPr/>
          <p:nvPr/>
        </p:nvSpPr>
        <p:spPr>
          <a:xfrm>
            <a:off x="4207371" y="6330950"/>
            <a:ext cx="114300" cy="114300"/>
          </a:xfrm>
          <a:prstGeom prst="rect">
            <a:avLst/>
          </a:prstGeom>
          <a:solidFill>
            <a:srgbClr val="E8763A"/>
          </a:solidFill>
          <a:ln/>
        </p:spPr>
      </p:sp>
      <p:sp>
        <p:nvSpPr>
          <p:cNvPr id="10" name="Text 6"/>
          <p:cNvSpPr/>
          <p:nvPr/>
        </p:nvSpPr>
        <p:spPr>
          <a:xfrm>
            <a:off x="4372471" y="6281440"/>
            <a:ext cx="72163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CBE0"/>
                </a:solidFill>
                <a:latin typeface="Arial" pitchFamily="34" charset="0"/>
                <a:ea typeface="Arial" pitchFamily="34" charset="-122"/>
                <a:cs typeface="Arial" pitchFamily="34" charset="-120"/>
              </a:rPr>
              <a:t>Universo</a:t>
            </a:r>
            <a:endParaRPr lang="en-US" sz="1200" dirty="0"/>
          </a:p>
        </p:txBody>
      </p:sp>
      <p:sp>
        <p:nvSpPr>
          <p:cNvPr id="11" name="Shape 7"/>
          <p:cNvSpPr/>
          <p:nvPr/>
        </p:nvSpPr>
        <p:spPr>
          <a:xfrm>
            <a:off x="5100836" y="6330950"/>
            <a:ext cx="114300" cy="114300"/>
          </a:xfrm>
          <a:prstGeom prst="rect">
            <a:avLst/>
          </a:prstGeom>
          <a:solidFill>
            <a:srgbClr val="E8763A"/>
          </a:solidFill>
          <a:ln/>
        </p:spPr>
      </p:sp>
      <p:sp>
        <p:nvSpPr>
          <p:cNvPr id="12" name="Text 8"/>
          <p:cNvSpPr/>
          <p:nvPr/>
        </p:nvSpPr>
        <p:spPr>
          <a:xfrm>
            <a:off x="5265936" y="6281440"/>
            <a:ext cx="59983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CBE0"/>
                </a:solidFill>
                <a:latin typeface="Arial" pitchFamily="34" charset="0"/>
                <a:ea typeface="Arial" pitchFamily="34" charset="-122"/>
                <a:cs typeface="Arial" pitchFamily="34" charset="-120"/>
              </a:rPr>
              <a:t>Modelo</a:t>
            </a:r>
            <a:endParaRPr lang="en-US" sz="1200" dirty="0"/>
          </a:p>
        </p:txBody>
      </p:sp>
      <p:sp>
        <p:nvSpPr>
          <p:cNvPr id="13" name="Shape 9"/>
          <p:cNvSpPr/>
          <p:nvPr/>
        </p:nvSpPr>
        <p:spPr>
          <a:xfrm>
            <a:off x="5892800" y="6330950"/>
            <a:ext cx="114300" cy="114300"/>
          </a:xfrm>
          <a:prstGeom prst="rect">
            <a:avLst/>
          </a:prstGeom>
          <a:solidFill>
            <a:srgbClr val="E8763A"/>
          </a:solidFill>
          <a:ln/>
        </p:spPr>
      </p:sp>
      <p:sp>
        <p:nvSpPr>
          <p:cNvPr id="14" name="Text 10"/>
          <p:cNvSpPr/>
          <p:nvPr/>
        </p:nvSpPr>
        <p:spPr>
          <a:xfrm>
            <a:off x="6057900" y="6281440"/>
            <a:ext cx="41683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CBE0"/>
                </a:solidFill>
                <a:latin typeface="Arial" pitchFamily="34" charset="0"/>
                <a:ea typeface="Arial" pitchFamily="34" charset="-122"/>
                <a:cs typeface="Arial" pitchFamily="34" charset="-120"/>
              </a:rPr>
              <a:t>Base</a:t>
            </a:r>
            <a:endParaRPr lang="en-US" sz="1200" dirty="0"/>
          </a:p>
        </p:txBody>
      </p:sp>
      <p:sp>
        <p:nvSpPr>
          <p:cNvPr id="15" name="Shape 11"/>
          <p:cNvSpPr/>
          <p:nvPr/>
        </p:nvSpPr>
        <p:spPr>
          <a:xfrm>
            <a:off x="6532265" y="6330950"/>
            <a:ext cx="114300" cy="114300"/>
          </a:xfrm>
          <a:prstGeom prst="rect">
            <a:avLst/>
          </a:prstGeom>
          <a:solidFill>
            <a:srgbClr val="E8763A"/>
          </a:solidFill>
          <a:ln/>
        </p:spPr>
      </p:sp>
      <p:sp>
        <p:nvSpPr>
          <p:cNvPr id="16" name="Text 12"/>
          <p:cNvSpPr/>
          <p:nvPr/>
        </p:nvSpPr>
        <p:spPr>
          <a:xfrm>
            <a:off x="6697365" y="6281440"/>
            <a:ext cx="105876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CBE0"/>
                </a:solidFill>
                <a:latin typeface="Arial" pitchFamily="34" charset="0"/>
                <a:ea typeface="Arial" pitchFamily="34" charset="-122"/>
                <a:cs typeface="Arial" pitchFamily="34" charset="-120"/>
              </a:rPr>
              <a:t>Experimentos</a:t>
            </a:r>
            <a:endParaRPr lang="en-US" sz="1200" dirty="0"/>
          </a:p>
        </p:txBody>
      </p:sp>
      <p:sp>
        <p:nvSpPr>
          <p:cNvPr id="17" name="Shape 13"/>
          <p:cNvSpPr/>
          <p:nvPr/>
        </p:nvSpPr>
        <p:spPr>
          <a:xfrm>
            <a:off x="7756128" y="6330950"/>
            <a:ext cx="114300" cy="114300"/>
          </a:xfrm>
          <a:prstGeom prst="rect">
            <a:avLst/>
          </a:prstGeom>
          <a:solidFill>
            <a:srgbClr val="F5F2EA"/>
          </a:solidFill>
          <a:ln/>
        </p:spPr>
      </p:sp>
      <p:sp>
        <p:nvSpPr>
          <p:cNvPr id="18" name="Text 14"/>
          <p:cNvSpPr/>
          <p:nvPr/>
        </p:nvSpPr>
        <p:spPr>
          <a:xfrm>
            <a:off x="7921228" y="6281440"/>
            <a:ext cx="62019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5F2EA"/>
                </a:solidFill>
                <a:latin typeface="Arial" pitchFamily="34" charset="0"/>
                <a:ea typeface="Arial" pitchFamily="34" charset="-122"/>
                <a:cs typeface="Arial" pitchFamily="34" charset="-120"/>
              </a:rPr>
              <a:t>Galería</a:t>
            </a:r>
            <a:endParaRPr lang="en-US" sz="1200" dirty="0"/>
          </a:p>
        </p:txBody>
      </p:sp>
      <p:sp>
        <p:nvSpPr>
          <p:cNvPr id="19" name="Shape 15"/>
          <p:cNvSpPr/>
          <p:nvPr/>
        </p:nvSpPr>
        <p:spPr>
          <a:xfrm>
            <a:off x="8571409" y="6337300"/>
            <a:ext cx="101600" cy="101600"/>
          </a:xfrm>
          <a:prstGeom prst="rect">
            <a:avLst/>
          </a:prstGeom>
          <a:noFill/>
          <a:ln w="12700">
            <a:solidFill>
              <a:srgbClr val="A9ACC4"/>
            </a:solidFill>
            <a:prstDash val="solid"/>
          </a:ln>
        </p:spPr>
      </p:sp>
      <p:sp>
        <p:nvSpPr>
          <p:cNvPr id="20" name="Text 16"/>
          <p:cNvSpPr/>
          <p:nvPr/>
        </p:nvSpPr>
        <p:spPr>
          <a:xfrm>
            <a:off x="8730159" y="6281440"/>
            <a:ext cx="49791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CC4"/>
                </a:solidFill>
                <a:latin typeface="Arial" pitchFamily="34" charset="0"/>
                <a:ea typeface="Arial" pitchFamily="34" charset="-122"/>
                <a:cs typeface="Arial" pitchFamily="34" charset="-120"/>
              </a:rPr>
              <a:t>Cierre</a:t>
            </a:r>
            <a:endParaRPr lang="en-US" sz="1200" dirty="0"/>
          </a:p>
        </p:txBody>
      </p:sp>
      <p:sp>
        <p:nvSpPr>
          <p:cNvPr id="21" name="Text 17"/>
          <p:cNvSpPr/>
          <p:nvPr/>
        </p:nvSpPr>
        <p:spPr>
          <a:xfrm>
            <a:off x="10921643" y="6281440"/>
            <a:ext cx="457557"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C9CBE0"/>
                </a:solidFill>
                <a:latin typeface="Arial" pitchFamily="34" charset="0"/>
                <a:ea typeface="Arial" pitchFamily="34" charset="-122"/>
                <a:cs typeface="Arial" pitchFamily="34" charset="-120"/>
              </a:rPr>
              <a:t>8 / 12</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8EEF6"/>
        </a:solidFill>
      </p:bgPr>
    </p:bg>
    <p:spTree>
      <p:nvGrpSpPr>
        <p:cNvPr id="1" name=""/>
        <p:cNvGrpSpPr/>
        <p:nvPr/>
      </p:nvGrpSpPr>
      <p:grpSpPr>
        <a:xfrm>
          <a:off x="0" y="0"/>
          <a:ext cx="0" cy="0"/>
          <a:chOff x="0" y="0"/>
          <a:chExt cx="0" cy="0"/>
        </a:xfrm>
      </p:grpSpPr>
      <p:sp>
        <p:nvSpPr>
          <p:cNvPr id="2" name="Shape 0"/>
          <p:cNvSpPr/>
          <p:nvPr/>
        </p:nvSpPr>
        <p:spPr>
          <a:xfrm>
            <a:off x="8585200" y="711200"/>
            <a:ext cx="2794000" cy="751780"/>
          </a:xfrm>
          <a:prstGeom prst="roundRect">
            <a:avLst>
              <a:gd name="adj" fmla="val 13515"/>
            </a:avLst>
          </a:prstGeom>
          <a:solidFill>
            <a:srgbClr val="1F2238"/>
          </a:solidFill>
          <a:ln/>
        </p:spPr>
      </p:sp>
      <p:sp>
        <p:nvSpPr>
          <p:cNvPr id="3" name="Text 1"/>
          <p:cNvSpPr/>
          <p:nvPr/>
        </p:nvSpPr>
        <p:spPr>
          <a:xfrm>
            <a:off x="8737600" y="825500"/>
            <a:ext cx="256387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FDFBF"/>
                </a:solidFill>
                <a:latin typeface="Arial" pitchFamily="34" charset="0"/>
                <a:ea typeface="Arial" pitchFamily="34" charset="-122"/>
                <a:cs typeface="Arial" pitchFamily="34" charset="-120"/>
              </a:rPr>
              <a:t>TASA DE SELECCIÓN</a:t>
            </a:r>
            <a:endParaRPr lang="en-US" sz="1200" dirty="0"/>
          </a:p>
        </p:txBody>
      </p:sp>
      <p:sp>
        <p:nvSpPr>
          <p:cNvPr id="4" name="Text 2"/>
          <p:cNvSpPr/>
          <p:nvPr/>
        </p:nvSpPr>
        <p:spPr>
          <a:xfrm>
            <a:off x="8737600" y="1064220"/>
            <a:ext cx="2563876"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5F2EA"/>
                </a:solidFill>
                <a:latin typeface="Arial" pitchFamily="34" charset="0"/>
                <a:ea typeface="Arial" pitchFamily="34" charset="-122"/>
                <a:cs typeface="Arial" pitchFamily="34" charset="-120"/>
              </a:rPr>
              <a:t>10 de 200 (5 %)</a:t>
            </a:r>
            <a:endParaRPr lang="en-US" sz="1600" dirty="0"/>
          </a:p>
        </p:txBody>
      </p:sp>
      <p:sp>
        <p:nvSpPr>
          <p:cNvPr id="5" name="Text 3"/>
          <p:cNvSpPr/>
          <p:nvPr/>
        </p:nvSpPr>
        <p:spPr>
          <a:xfrm>
            <a:off x="812800" y="6281440"/>
            <a:ext cx="18501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E69"/>
                </a:solidFill>
                <a:latin typeface="Arial" pitchFamily="34" charset="0"/>
                <a:ea typeface="Arial" pitchFamily="34" charset="-122"/>
                <a:cs typeface="Arial" pitchFamily="34" charset="-120"/>
              </a:rPr>
              <a:t>Cubópolis · Proyecto 2</a:t>
            </a:r>
            <a:endParaRPr lang="en-US" sz="1200" dirty="0"/>
          </a:p>
        </p:txBody>
      </p:sp>
      <p:sp>
        <p:nvSpPr>
          <p:cNvPr id="6" name="Shape 4"/>
          <p:cNvSpPr/>
          <p:nvPr/>
        </p:nvSpPr>
        <p:spPr>
          <a:xfrm>
            <a:off x="4207371" y="6330950"/>
            <a:ext cx="114300" cy="114300"/>
          </a:xfrm>
          <a:prstGeom prst="rect">
            <a:avLst/>
          </a:prstGeom>
          <a:solidFill>
            <a:srgbClr val="E8763A"/>
          </a:solidFill>
          <a:ln/>
        </p:spPr>
      </p:sp>
      <p:sp>
        <p:nvSpPr>
          <p:cNvPr id="7" name="Text 5"/>
          <p:cNvSpPr/>
          <p:nvPr/>
        </p:nvSpPr>
        <p:spPr>
          <a:xfrm>
            <a:off x="4372471" y="6281440"/>
            <a:ext cx="72163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E69"/>
                </a:solidFill>
                <a:latin typeface="Arial" pitchFamily="34" charset="0"/>
                <a:ea typeface="Arial" pitchFamily="34" charset="-122"/>
                <a:cs typeface="Arial" pitchFamily="34" charset="-120"/>
              </a:rPr>
              <a:t>Universo</a:t>
            </a:r>
            <a:endParaRPr lang="en-US" sz="1200" dirty="0"/>
          </a:p>
        </p:txBody>
      </p:sp>
      <p:sp>
        <p:nvSpPr>
          <p:cNvPr id="8" name="Shape 6"/>
          <p:cNvSpPr/>
          <p:nvPr/>
        </p:nvSpPr>
        <p:spPr>
          <a:xfrm>
            <a:off x="5100836" y="6330950"/>
            <a:ext cx="114300" cy="114300"/>
          </a:xfrm>
          <a:prstGeom prst="rect">
            <a:avLst/>
          </a:prstGeom>
          <a:solidFill>
            <a:srgbClr val="E8763A"/>
          </a:solidFill>
          <a:ln/>
        </p:spPr>
      </p:sp>
      <p:sp>
        <p:nvSpPr>
          <p:cNvPr id="9" name="Text 7"/>
          <p:cNvSpPr/>
          <p:nvPr/>
        </p:nvSpPr>
        <p:spPr>
          <a:xfrm>
            <a:off x="5265936" y="6281440"/>
            <a:ext cx="59983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E69"/>
                </a:solidFill>
                <a:latin typeface="Arial" pitchFamily="34" charset="0"/>
                <a:ea typeface="Arial" pitchFamily="34" charset="-122"/>
                <a:cs typeface="Arial" pitchFamily="34" charset="-120"/>
              </a:rPr>
              <a:t>Modelo</a:t>
            </a:r>
            <a:endParaRPr lang="en-US" sz="1200" dirty="0"/>
          </a:p>
        </p:txBody>
      </p:sp>
      <p:sp>
        <p:nvSpPr>
          <p:cNvPr id="10" name="Shape 8"/>
          <p:cNvSpPr/>
          <p:nvPr/>
        </p:nvSpPr>
        <p:spPr>
          <a:xfrm>
            <a:off x="5892800" y="6330950"/>
            <a:ext cx="114300" cy="114300"/>
          </a:xfrm>
          <a:prstGeom prst="rect">
            <a:avLst/>
          </a:prstGeom>
          <a:solidFill>
            <a:srgbClr val="E8763A"/>
          </a:solidFill>
          <a:ln/>
        </p:spPr>
      </p:sp>
      <p:sp>
        <p:nvSpPr>
          <p:cNvPr id="11" name="Text 9"/>
          <p:cNvSpPr/>
          <p:nvPr/>
        </p:nvSpPr>
        <p:spPr>
          <a:xfrm>
            <a:off x="6057900" y="6281440"/>
            <a:ext cx="41683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E69"/>
                </a:solidFill>
                <a:latin typeface="Arial" pitchFamily="34" charset="0"/>
                <a:ea typeface="Arial" pitchFamily="34" charset="-122"/>
                <a:cs typeface="Arial" pitchFamily="34" charset="-120"/>
              </a:rPr>
              <a:t>Base</a:t>
            </a:r>
            <a:endParaRPr lang="en-US" sz="1200" dirty="0"/>
          </a:p>
        </p:txBody>
      </p:sp>
      <p:sp>
        <p:nvSpPr>
          <p:cNvPr id="12" name="Shape 10"/>
          <p:cNvSpPr/>
          <p:nvPr/>
        </p:nvSpPr>
        <p:spPr>
          <a:xfrm>
            <a:off x="6532265" y="6330950"/>
            <a:ext cx="114300" cy="114300"/>
          </a:xfrm>
          <a:prstGeom prst="rect">
            <a:avLst/>
          </a:prstGeom>
          <a:solidFill>
            <a:srgbClr val="E8763A"/>
          </a:solidFill>
          <a:ln/>
        </p:spPr>
      </p:sp>
      <p:sp>
        <p:nvSpPr>
          <p:cNvPr id="13" name="Text 11"/>
          <p:cNvSpPr/>
          <p:nvPr/>
        </p:nvSpPr>
        <p:spPr>
          <a:xfrm>
            <a:off x="6697365" y="6281440"/>
            <a:ext cx="105876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E69"/>
                </a:solidFill>
                <a:latin typeface="Arial" pitchFamily="34" charset="0"/>
                <a:ea typeface="Arial" pitchFamily="34" charset="-122"/>
                <a:cs typeface="Arial" pitchFamily="34" charset="-120"/>
              </a:rPr>
              <a:t>Experimentos</a:t>
            </a:r>
            <a:endParaRPr lang="en-US" sz="1200" dirty="0"/>
          </a:p>
        </p:txBody>
      </p:sp>
      <p:sp>
        <p:nvSpPr>
          <p:cNvPr id="14" name="Shape 12"/>
          <p:cNvSpPr/>
          <p:nvPr/>
        </p:nvSpPr>
        <p:spPr>
          <a:xfrm>
            <a:off x="7756128" y="6330950"/>
            <a:ext cx="114300" cy="114300"/>
          </a:xfrm>
          <a:prstGeom prst="rect">
            <a:avLst/>
          </a:prstGeom>
          <a:solidFill>
            <a:srgbClr val="1F2238"/>
          </a:solidFill>
          <a:ln/>
        </p:spPr>
      </p:sp>
      <p:sp>
        <p:nvSpPr>
          <p:cNvPr id="15" name="Text 13"/>
          <p:cNvSpPr/>
          <p:nvPr/>
        </p:nvSpPr>
        <p:spPr>
          <a:xfrm>
            <a:off x="7921228" y="6281440"/>
            <a:ext cx="62019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2238"/>
                </a:solidFill>
                <a:latin typeface="Arial" pitchFamily="34" charset="0"/>
                <a:ea typeface="Arial" pitchFamily="34" charset="-122"/>
                <a:cs typeface="Arial" pitchFamily="34" charset="-120"/>
              </a:rPr>
              <a:t>Galería</a:t>
            </a:r>
            <a:endParaRPr lang="en-US" sz="1200" dirty="0"/>
          </a:p>
        </p:txBody>
      </p:sp>
      <p:sp>
        <p:nvSpPr>
          <p:cNvPr id="16" name="Shape 14"/>
          <p:cNvSpPr/>
          <p:nvPr/>
        </p:nvSpPr>
        <p:spPr>
          <a:xfrm>
            <a:off x="8571409" y="6337300"/>
            <a:ext cx="101600" cy="101600"/>
          </a:xfrm>
          <a:prstGeom prst="rect">
            <a:avLst/>
          </a:prstGeom>
          <a:noFill/>
          <a:ln w="12700">
            <a:solidFill>
              <a:srgbClr val="6B6E85"/>
            </a:solidFill>
            <a:prstDash val="solid"/>
          </a:ln>
        </p:spPr>
      </p:sp>
      <p:sp>
        <p:nvSpPr>
          <p:cNvPr id="17" name="Text 15"/>
          <p:cNvSpPr/>
          <p:nvPr/>
        </p:nvSpPr>
        <p:spPr>
          <a:xfrm>
            <a:off x="8730159" y="6281440"/>
            <a:ext cx="49791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E85"/>
                </a:solidFill>
                <a:latin typeface="Arial" pitchFamily="34" charset="0"/>
                <a:ea typeface="Arial" pitchFamily="34" charset="-122"/>
                <a:cs typeface="Arial" pitchFamily="34" charset="-120"/>
              </a:rPr>
              <a:t>Cierre</a:t>
            </a:r>
            <a:endParaRPr lang="en-US" sz="1200" dirty="0"/>
          </a:p>
        </p:txBody>
      </p:sp>
      <p:sp>
        <p:nvSpPr>
          <p:cNvPr id="18" name="Text 16"/>
          <p:cNvSpPr/>
          <p:nvPr/>
        </p:nvSpPr>
        <p:spPr>
          <a:xfrm>
            <a:off x="10921643" y="6281440"/>
            <a:ext cx="457557"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4E69"/>
                </a:solidFill>
                <a:latin typeface="Arial" pitchFamily="34" charset="0"/>
                <a:ea typeface="Arial" pitchFamily="34" charset="-122"/>
                <a:cs typeface="Arial" pitchFamily="34" charset="-120"/>
              </a:rPr>
              <a:t>9 / 12</a:t>
            </a:r>
            <a:endParaRPr lang="en-US" sz="1200" dirty="0"/>
          </a:p>
        </p:txBody>
      </p:sp>
      <p:sp>
        <p:nvSpPr>
          <p:cNvPr id="19" name="Text 17"/>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9501F"/>
                </a:solidFill>
                <a:latin typeface="Arial" pitchFamily="34" charset="0"/>
                <a:ea typeface="Arial" pitchFamily="34" charset="-122"/>
                <a:cs typeface="Arial" pitchFamily="34" charset="-120"/>
              </a:rPr>
              <a:t>05 · GALERÍA</a:t>
            </a:r>
            <a:endParaRPr lang="en-US" sz="1200" dirty="0"/>
          </a:p>
        </p:txBody>
      </p:sp>
      <p:sp>
        <p:nvSpPr>
          <p:cNvPr id="20" name="Text 18"/>
          <p:cNvSpPr/>
          <p:nvPr>
            <p:ph type="title"/>
          </p:nvPr>
        </p:nvSpPr>
        <p:spPr>
          <a:xfrm>
            <a:off x="812800" y="10769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F2238"/>
                </a:solidFill>
                <a:latin typeface="Arial" pitchFamily="34" charset="0"/>
                <a:ea typeface="Arial" pitchFamily="34" charset="-122"/>
                <a:cs typeface="Arial" pitchFamily="34" charset="-120"/>
              </a:rPr>
              <a:t>Los 10 habitantes de Cubópolis</a:t>
            </a:r>
            <a:endParaRPr lang="en-US" sz="3000" dirty="0"/>
          </a:p>
        </p:txBody>
      </p:sp>
      <p:sp>
        <p:nvSpPr>
          <p:cNvPr id="21" name="Shape 19"/>
          <p:cNvSpPr/>
          <p:nvPr/>
        </p:nvSpPr>
        <p:spPr>
          <a:xfrm>
            <a:off x="812800" y="1651000"/>
            <a:ext cx="2011660" cy="1835150"/>
          </a:xfrm>
          <a:prstGeom prst="roundRect">
            <a:avLst>
              <a:gd name="adj" fmla="val 5536"/>
            </a:avLst>
          </a:prstGeom>
          <a:solidFill>
            <a:srgbClr val="C0AEDE"/>
          </a:solidFill>
          <a:ln/>
        </p:spPr>
      </p:sp>
      <p:pic>
        <p:nvPicPr>
          <p:cNvPr id="22" name="Image 0" descr="Personaje 01">    </p:cNvPr>
          <p:cNvPicPr>
            <a:picLocks noChangeAspect="1"/>
          </p:cNvPicPr>
          <p:nvPr/>
        </p:nvPicPr>
        <p:blipFill>
          <a:blip r:embed="rId1"/>
          <a:srcRect l="0" r="0" t="0" b="0"/>
          <a:stretch/>
        </p:blipFill>
        <p:spPr>
          <a:xfrm>
            <a:off x="1278830" y="1739900"/>
            <a:ext cx="1079500" cy="1079500"/>
          </a:xfrm>
          <a:prstGeom prst="roundRect">
            <a:avLst>
              <a:gd name="adj" fmla="val 4706"/>
            </a:avLst>
          </a:prstGeom>
        </p:spPr>
      </p:pic>
      <p:sp>
        <p:nvSpPr>
          <p:cNvPr id="23" name="Text 20"/>
          <p:cNvSpPr/>
          <p:nvPr/>
        </p:nvSpPr>
        <p:spPr>
          <a:xfrm>
            <a:off x="1351012" y="2857500"/>
            <a:ext cx="935236"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F2238"/>
                </a:solidFill>
                <a:latin typeface="Arial" pitchFamily="34" charset="0"/>
                <a:ea typeface="Arial" pitchFamily="34" charset="-122"/>
                <a:cs typeface="Arial" pitchFamily="34" charset="-120"/>
              </a:rPr>
              <a:t>Nae Basalt</a:t>
            </a:r>
            <a:endParaRPr lang="en-US" sz="1200" dirty="0"/>
          </a:p>
        </p:txBody>
      </p:sp>
      <p:sp>
        <p:nvSpPr>
          <p:cNvPr id="24" name="Text 21"/>
          <p:cNvSpPr/>
          <p:nvPr/>
        </p:nvSpPr>
        <p:spPr>
          <a:xfrm>
            <a:off x="1320532" y="3108920"/>
            <a:ext cx="996196"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2E3150"/>
                </a:solidFill>
                <a:latin typeface="Arial" pitchFamily="34" charset="0"/>
                <a:ea typeface="Arial" pitchFamily="34" charset="-122"/>
                <a:cs typeface="Arial" pitchFamily="34" charset="-120"/>
              </a:rPr>
              <a:t>Bibliotecaria</a:t>
            </a:r>
            <a:endParaRPr lang="en-US" sz="1200" dirty="0"/>
          </a:p>
        </p:txBody>
      </p:sp>
      <p:sp>
        <p:nvSpPr>
          <p:cNvPr id="25" name="Shape 22"/>
          <p:cNvSpPr/>
          <p:nvPr/>
        </p:nvSpPr>
        <p:spPr>
          <a:xfrm>
            <a:off x="2951460" y="1651000"/>
            <a:ext cx="2011660" cy="1835150"/>
          </a:xfrm>
          <a:prstGeom prst="roundRect">
            <a:avLst>
              <a:gd name="adj" fmla="val 5536"/>
            </a:avLst>
          </a:prstGeom>
          <a:solidFill>
            <a:srgbClr val="B6E3F4"/>
          </a:solidFill>
          <a:ln/>
        </p:spPr>
      </p:sp>
      <p:pic>
        <p:nvPicPr>
          <p:cNvPr id="26" name="Image 1" descr="Personaje 02">    </p:cNvPr>
          <p:cNvPicPr>
            <a:picLocks noChangeAspect="1"/>
          </p:cNvPicPr>
          <p:nvPr/>
        </p:nvPicPr>
        <p:blipFill>
          <a:blip r:embed="rId2"/>
          <a:srcRect l="0" r="0" t="0" b="0"/>
          <a:stretch/>
        </p:blipFill>
        <p:spPr>
          <a:xfrm>
            <a:off x="3417491" y="1739900"/>
            <a:ext cx="1079500" cy="1079500"/>
          </a:xfrm>
          <a:prstGeom prst="roundRect">
            <a:avLst>
              <a:gd name="adj" fmla="val 4706"/>
            </a:avLst>
          </a:prstGeom>
        </p:spPr>
      </p:pic>
      <p:sp>
        <p:nvSpPr>
          <p:cNvPr id="27" name="Text 23"/>
          <p:cNvSpPr/>
          <p:nvPr/>
        </p:nvSpPr>
        <p:spPr>
          <a:xfrm>
            <a:off x="3576003" y="2857500"/>
            <a:ext cx="762476"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F2238"/>
                </a:solidFill>
                <a:latin typeface="Arial" pitchFamily="34" charset="0"/>
                <a:ea typeface="Arial" pitchFamily="34" charset="-122"/>
                <a:cs typeface="Arial" pitchFamily="34" charset="-120"/>
              </a:rPr>
              <a:t>Lía Prisa</a:t>
            </a:r>
            <a:endParaRPr lang="en-US" sz="1200" dirty="0"/>
          </a:p>
        </p:txBody>
      </p:sp>
      <p:sp>
        <p:nvSpPr>
          <p:cNvPr id="28" name="Text 24"/>
          <p:cNvSpPr/>
          <p:nvPr/>
        </p:nvSpPr>
        <p:spPr>
          <a:xfrm>
            <a:off x="3667552" y="3108920"/>
            <a:ext cx="579477"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2E3150"/>
                </a:solidFill>
                <a:latin typeface="Arial" pitchFamily="34" charset="0"/>
                <a:ea typeface="Arial" pitchFamily="34" charset="-122"/>
                <a:cs typeface="Arial" pitchFamily="34" charset="-120"/>
              </a:rPr>
              <a:t>Pintora</a:t>
            </a:r>
            <a:endParaRPr lang="en-US" sz="1200" dirty="0"/>
          </a:p>
        </p:txBody>
      </p:sp>
      <p:sp>
        <p:nvSpPr>
          <p:cNvPr id="29" name="Shape 25"/>
          <p:cNvSpPr/>
          <p:nvPr/>
        </p:nvSpPr>
        <p:spPr>
          <a:xfrm>
            <a:off x="5090120" y="1651000"/>
            <a:ext cx="2011660" cy="1835150"/>
          </a:xfrm>
          <a:prstGeom prst="roundRect">
            <a:avLst>
              <a:gd name="adj" fmla="val 5536"/>
            </a:avLst>
          </a:prstGeom>
          <a:solidFill>
            <a:srgbClr val="FFDFBF"/>
          </a:solidFill>
          <a:ln/>
        </p:spPr>
      </p:sp>
      <p:pic>
        <p:nvPicPr>
          <p:cNvPr id="30" name="Image 2" descr="Personaje 03">    </p:cNvPr>
          <p:cNvPicPr>
            <a:picLocks noChangeAspect="1"/>
          </p:cNvPicPr>
          <p:nvPr/>
        </p:nvPicPr>
        <p:blipFill>
          <a:blip r:embed="rId3"/>
          <a:srcRect l="0" r="0" t="0" b="0"/>
          <a:stretch/>
        </p:blipFill>
        <p:spPr>
          <a:xfrm>
            <a:off x="5556151" y="1739900"/>
            <a:ext cx="1079500" cy="1079500"/>
          </a:xfrm>
          <a:prstGeom prst="roundRect">
            <a:avLst>
              <a:gd name="adj" fmla="val 4706"/>
            </a:avLst>
          </a:prstGeom>
        </p:spPr>
      </p:pic>
      <p:sp>
        <p:nvSpPr>
          <p:cNvPr id="31" name="Text 26"/>
          <p:cNvSpPr/>
          <p:nvPr/>
        </p:nvSpPr>
        <p:spPr>
          <a:xfrm>
            <a:off x="5620127" y="2857500"/>
            <a:ext cx="951548"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F2238"/>
                </a:solidFill>
                <a:latin typeface="Arial" pitchFamily="34" charset="0"/>
                <a:ea typeface="Arial" pitchFamily="34" charset="-122"/>
                <a:cs typeface="Arial" pitchFamily="34" charset="-120"/>
              </a:rPr>
              <a:t>Teo Musgo</a:t>
            </a:r>
            <a:endParaRPr lang="en-US" sz="1200" dirty="0"/>
          </a:p>
        </p:txBody>
      </p:sp>
      <p:sp>
        <p:nvSpPr>
          <p:cNvPr id="32" name="Text 27"/>
          <p:cNvSpPr/>
          <p:nvPr/>
        </p:nvSpPr>
        <p:spPr>
          <a:xfrm>
            <a:off x="5740023" y="3108920"/>
            <a:ext cx="711756"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2E3150"/>
                </a:solidFill>
                <a:latin typeface="Arial" pitchFamily="34" charset="0"/>
                <a:ea typeface="Arial" pitchFamily="34" charset="-122"/>
                <a:cs typeface="Arial" pitchFamily="34" charset="-120"/>
              </a:rPr>
              <a:t>Botánico</a:t>
            </a:r>
            <a:endParaRPr lang="en-US" sz="1200" dirty="0"/>
          </a:p>
        </p:txBody>
      </p:sp>
      <p:sp>
        <p:nvSpPr>
          <p:cNvPr id="33" name="Shape 28"/>
          <p:cNvSpPr/>
          <p:nvPr/>
        </p:nvSpPr>
        <p:spPr>
          <a:xfrm>
            <a:off x="7228780" y="1651000"/>
            <a:ext cx="2011660" cy="1835150"/>
          </a:xfrm>
          <a:prstGeom prst="roundRect">
            <a:avLst>
              <a:gd name="adj" fmla="val 5536"/>
            </a:avLst>
          </a:prstGeom>
          <a:solidFill>
            <a:srgbClr val="FFD5DC"/>
          </a:solidFill>
          <a:ln/>
        </p:spPr>
      </p:sp>
      <p:pic>
        <p:nvPicPr>
          <p:cNvPr id="34" name="Image 3" descr="Personaje 04">    </p:cNvPr>
          <p:cNvPicPr>
            <a:picLocks noChangeAspect="1"/>
          </p:cNvPicPr>
          <p:nvPr/>
        </p:nvPicPr>
        <p:blipFill>
          <a:blip r:embed="rId4"/>
          <a:srcRect l="0" r="0" t="0" b="0"/>
          <a:stretch/>
        </p:blipFill>
        <p:spPr>
          <a:xfrm>
            <a:off x="7694811" y="1739900"/>
            <a:ext cx="1079500" cy="1079500"/>
          </a:xfrm>
          <a:prstGeom prst="roundRect">
            <a:avLst>
              <a:gd name="adj" fmla="val 4706"/>
            </a:avLst>
          </a:prstGeom>
        </p:spPr>
      </p:pic>
      <p:sp>
        <p:nvSpPr>
          <p:cNvPr id="35" name="Text 29"/>
          <p:cNvSpPr/>
          <p:nvPr/>
        </p:nvSpPr>
        <p:spPr>
          <a:xfrm>
            <a:off x="7599482" y="2857500"/>
            <a:ext cx="1270159"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F2238"/>
                </a:solidFill>
                <a:latin typeface="Arial" pitchFamily="34" charset="0"/>
                <a:ea typeface="Arial" pitchFamily="34" charset="-122"/>
                <a:cs typeface="Arial" pitchFamily="34" charset="-120"/>
              </a:rPr>
              <a:t>Bruno Damero</a:t>
            </a:r>
            <a:endParaRPr lang="en-US" sz="1200" dirty="0"/>
          </a:p>
        </p:txBody>
      </p:sp>
      <p:sp>
        <p:nvSpPr>
          <p:cNvPr id="36" name="Text 30"/>
          <p:cNvSpPr/>
          <p:nvPr/>
        </p:nvSpPr>
        <p:spPr>
          <a:xfrm>
            <a:off x="7690793" y="3108920"/>
            <a:ext cx="1087636"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2E3150"/>
                </a:solidFill>
                <a:latin typeface="Arial" pitchFamily="34" charset="0"/>
                <a:ea typeface="Arial" pitchFamily="34" charset="-122"/>
                <a:cs typeface="Arial" pitchFamily="34" charset="-120"/>
              </a:rPr>
              <a:t>Comerciante </a:t>
            </a:r>
            <a:endParaRPr lang="en-US" sz="1200" dirty="0"/>
          </a:p>
        </p:txBody>
      </p:sp>
      <p:sp>
        <p:nvSpPr>
          <p:cNvPr id="37" name="Shape 31"/>
          <p:cNvSpPr/>
          <p:nvPr/>
        </p:nvSpPr>
        <p:spPr>
          <a:xfrm>
            <a:off x="9367441" y="1651000"/>
            <a:ext cx="2011660" cy="1835150"/>
          </a:xfrm>
          <a:prstGeom prst="roundRect">
            <a:avLst>
              <a:gd name="adj" fmla="val 5536"/>
            </a:avLst>
          </a:prstGeom>
          <a:solidFill>
            <a:srgbClr val="C0AEDE"/>
          </a:solidFill>
          <a:ln/>
        </p:spPr>
      </p:sp>
      <p:pic>
        <p:nvPicPr>
          <p:cNvPr id="38" name="Image 4" descr="Personaje 05">    </p:cNvPr>
          <p:cNvPicPr>
            <a:picLocks noChangeAspect="1"/>
          </p:cNvPicPr>
          <p:nvPr/>
        </p:nvPicPr>
        <p:blipFill>
          <a:blip r:embed="rId5"/>
          <a:srcRect l="0" r="0" t="0" b="0"/>
          <a:stretch/>
        </p:blipFill>
        <p:spPr>
          <a:xfrm>
            <a:off x="9833471" y="1739900"/>
            <a:ext cx="1079500" cy="1079500"/>
          </a:xfrm>
          <a:prstGeom prst="roundRect">
            <a:avLst>
              <a:gd name="adj" fmla="val 4706"/>
            </a:avLst>
          </a:prstGeom>
        </p:spPr>
      </p:pic>
      <p:sp>
        <p:nvSpPr>
          <p:cNvPr id="39" name="Text 32"/>
          <p:cNvSpPr/>
          <p:nvPr/>
        </p:nvSpPr>
        <p:spPr>
          <a:xfrm>
            <a:off x="9824224" y="2857500"/>
            <a:ext cx="1097994"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F2238"/>
                </a:solidFill>
                <a:latin typeface="Arial" pitchFamily="34" charset="0"/>
                <a:ea typeface="Arial" pitchFamily="34" charset="-122"/>
                <a:cs typeface="Arial" pitchFamily="34" charset="-120"/>
              </a:rPr>
              <a:t>Estela Brasa</a:t>
            </a:r>
            <a:endParaRPr lang="en-US" sz="1200" dirty="0"/>
          </a:p>
        </p:txBody>
      </p:sp>
      <p:sp>
        <p:nvSpPr>
          <p:cNvPr id="40" name="Text 33"/>
          <p:cNvSpPr/>
          <p:nvPr/>
        </p:nvSpPr>
        <p:spPr>
          <a:xfrm>
            <a:off x="10042932" y="3108920"/>
            <a:ext cx="660678"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2E3150"/>
                </a:solidFill>
                <a:latin typeface="Arial" pitchFamily="34" charset="0"/>
                <a:ea typeface="Arial" pitchFamily="34" charset="-122"/>
                <a:cs typeface="Arial" pitchFamily="34" charset="-120"/>
              </a:rPr>
              <a:t>Maestra</a:t>
            </a:r>
            <a:endParaRPr lang="en-US" sz="1200" dirty="0"/>
          </a:p>
        </p:txBody>
      </p:sp>
      <p:sp>
        <p:nvSpPr>
          <p:cNvPr id="41" name="Shape 34"/>
          <p:cNvSpPr/>
          <p:nvPr/>
        </p:nvSpPr>
        <p:spPr>
          <a:xfrm>
            <a:off x="812800" y="3613150"/>
            <a:ext cx="2011660" cy="1835150"/>
          </a:xfrm>
          <a:prstGeom prst="roundRect">
            <a:avLst>
              <a:gd name="adj" fmla="val 5536"/>
            </a:avLst>
          </a:prstGeom>
          <a:solidFill>
            <a:srgbClr val="B6E3F4"/>
          </a:solidFill>
          <a:ln/>
        </p:spPr>
      </p:sp>
      <p:pic>
        <p:nvPicPr>
          <p:cNvPr id="42" name="Image 5" descr="Personaje 06">    </p:cNvPr>
          <p:cNvPicPr>
            <a:picLocks noChangeAspect="1"/>
          </p:cNvPicPr>
          <p:nvPr/>
        </p:nvPicPr>
        <p:blipFill>
          <a:blip r:embed="rId6"/>
          <a:srcRect l="0" r="0" t="0" b="0"/>
          <a:stretch/>
        </p:blipFill>
        <p:spPr>
          <a:xfrm>
            <a:off x="1278830" y="3702050"/>
            <a:ext cx="1079500" cy="1079500"/>
          </a:xfrm>
          <a:prstGeom prst="roundRect">
            <a:avLst>
              <a:gd name="adj" fmla="val 4706"/>
            </a:avLst>
          </a:prstGeom>
        </p:spPr>
      </p:pic>
      <p:sp>
        <p:nvSpPr>
          <p:cNvPr id="43" name="Text 35"/>
          <p:cNvSpPr/>
          <p:nvPr/>
        </p:nvSpPr>
        <p:spPr>
          <a:xfrm>
            <a:off x="1371372" y="4819650"/>
            <a:ext cx="894517"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F2238"/>
                </a:solidFill>
                <a:latin typeface="Arial" pitchFamily="34" charset="0"/>
                <a:ea typeface="Arial" pitchFamily="34" charset="-122"/>
                <a:cs typeface="Arial" pitchFamily="34" charset="-120"/>
              </a:rPr>
              <a:t>Omar Zale</a:t>
            </a:r>
            <a:endParaRPr lang="en-US" sz="1200" dirty="0"/>
          </a:p>
        </p:txBody>
      </p:sp>
      <p:sp>
        <p:nvSpPr>
          <p:cNvPr id="44" name="Text 36"/>
          <p:cNvSpPr/>
          <p:nvPr/>
        </p:nvSpPr>
        <p:spPr>
          <a:xfrm>
            <a:off x="944305" y="5071070"/>
            <a:ext cx="1748552"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2E3150"/>
                </a:solidFill>
                <a:latin typeface="Arial" pitchFamily="34" charset="0"/>
                <a:ea typeface="Arial" pitchFamily="34" charset="-122"/>
                <a:cs typeface="Arial" pitchFamily="34" charset="-120"/>
              </a:rPr>
              <a:t>Conductor del tranvía</a:t>
            </a:r>
            <a:endParaRPr lang="en-US" sz="1200" dirty="0"/>
          </a:p>
        </p:txBody>
      </p:sp>
      <p:sp>
        <p:nvSpPr>
          <p:cNvPr id="45" name="Shape 37"/>
          <p:cNvSpPr/>
          <p:nvPr/>
        </p:nvSpPr>
        <p:spPr>
          <a:xfrm>
            <a:off x="2951460" y="3613150"/>
            <a:ext cx="2011660" cy="1835150"/>
          </a:xfrm>
          <a:prstGeom prst="roundRect">
            <a:avLst>
              <a:gd name="adj" fmla="val 5536"/>
            </a:avLst>
          </a:prstGeom>
          <a:solidFill>
            <a:srgbClr val="FFDFBF"/>
          </a:solidFill>
          <a:ln/>
        </p:spPr>
      </p:sp>
      <p:pic>
        <p:nvPicPr>
          <p:cNvPr id="46" name="Image 6" descr="Personaje 07">    </p:cNvPr>
          <p:cNvPicPr>
            <a:picLocks noChangeAspect="1"/>
          </p:cNvPicPr>
          <p:nvPr/>
        </p:nvPicPr>
        <p:blipFill>
          <a:blip r:embed="rId7"/>
          <a:srcRect l="0" r="0" t="0" b="0"/>
          <a:stretch/>
        </p:blipFill>
        <p:spPr>
          <a:xfrm>
            <a:off x="3417491" y="3702050"/>
            <a:ext cx="1079500" cy="1079500"/>
          </a:xfrm>
          <a:prstGeom prst="roundRect">
            <a:avLst>
              <a:gd name="adj" fmla="val 4706"/>
            </a:avLst>
          </a:prstGeom>
        </p:spPr>
      </p:pic>
      <p:sp>
        <p:nvSpPr>
          <p:cNvPr id="47" name="Text 38"/>
          <p:cNvSpPr/>
          <p:nvPr/>
        </p:nvSpPr>
        <p:spPr>
          <a:xfrm>
            <a:off x="3540522" y="4819650"/>
            <a:ext cx="833438"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F2238"/>
                </a:solidFill>
                <a:latin typeface="Arial" pitchFamily="34" charset="0"/>
                <a:ea typeface="Arial" pitchFamily="34" charset="-122"/>
                <a:cs typeface="Arial" pitchFamily="34" charset="-120"/>
              </a:rPr>
              <a:t>Eri Meran</a:t>
            </a:r>
            <a:endParaRPr lang="en-US" sz="1200" dirty="0"/>
          </a:p>
        </p:txBody>
      </p:sp>
      <p:sp>
        <p:nvSpPr>
          <p:cNvPr id="48" name="Text 39"/>
          <p:cNvSpPr/>
          <p:nvPr/>
        </p:nvSpPr>
        <p:spPr>
          <a:xfrm>
            <a:off x="3626842" y="5071070"/>
            <a:ext cx="660797"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2E3150"/>
                </a:solidFill>
                <a:latin typeface="Arial" pitchFamily="34" charset="0"/>
                <a:ea typeface="Arial" pitchFamily="34" charset="-122"/>
                <a:cs typeface="Arial" pitchFamily="34" charset="-120"/>
              </a:rPr>
              <a:t>Inventor</a:t>
            </a:r>
            <a:endParaRPr lang="en-US" sz="1200" dirty="0"/>
          </a:p>
        </p:txBody>
      </p:sp>
      <p:sp>
        <p:nvSpPr>
          <p:cNvPr id="49" name="Shape 40"/>
          <p:cNvSpPr/>
          <p:nvPr/>
        </p:nvSpPr>
        <p:spPr>
          <a:xfrm>
            <a:off x="5090120" y="3613150"/>
            <a:ext cx="2011660" cy="1835150"/>
          </a:xfrm>
          <a:prstGeom prst="roundRect">
            <a:avLst>
              <a:gd name="adj" fmla="val 5536"/>
            </a:avLst>
          </a:prstGeom>
          <a:solidFill>
            <a:srgbClr val="FFD5DC"/>
          </a:solidFill>
          <a:ln/>
        </p:spPr>
      </p:sp>
      <p:pic>
        <p:nvPicPr>
          <p:cNvPr id="50" name="Image 7" descr="Personaje 08">    </p:cNvPr>
          <p:cNvPicPr>
            <a:picLocks noChangeAspect="1"/>
          </p:cNvPicPr>
          <p:nvPr/>
        </p:nvPicPr>
        <p:blipFill>
          <a:blip r:embed="rId8"/>
          <a:srcRect l="0" r="0" t="0" b="0"/>
          <a:stretch/>
        </p:blipFill>
        <p:spPr>
          <a:xfrm>
            <a:off x="5556151" y="3702050"/>
            <a:ext cx="1079500" cy="1079500"/>
          </a:xfrm>
          <a:prstGeom prst="roundRect">
            <a:avLst>
              <a:gd name="adj" fmla="val 4706"/>
            </a:avLst>
          </a:prstGeom>
        </p:spPr>
      </p:pic>
      <p:sp>
        <p:nvSpPr>
          <p:cNvPr id="51" name="Text 41"/>
          <p:cNvSpPr/>
          <p:nvPr/>
        </p:nvSpPr>
        <p:spPr>
          <a:xfrm>
            <a:off x="5577503" y="4819650"/>
            <a:ext cx="1036796"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F2238"/>
                </a:solidFill>
                <a:latin typeface="Arial" pitchFamily="34" charset="0"/>
                <a:ea typeface="Arial" pitchFamily="34" charset="-122"/>
                <a:cs typeface="Arial" pitchFamily="34" charset="-120"/>
              </a:rPr>
              <a:t>Rocco Silva</a:t>
            </a:r>
            <a:endParaRPr lang="en-US" sz="1200" dirty="0"/>
          </a:p>
        </p:txBody>
      </p:sp>
      <p:sp>
        <p:nvSpPr>
          <p:cNvPr id="52" name="Text 42"/>
          <p:cNvSpPr/>
          <p:nvPr/>
        </p:nvSpPr>
        <p:spPr>
          <a:xfrm>
            <a:off x="5714663" y="5071070"/>
            <a:ext cx="762476"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2E3150"/>
                </a:solidFill>
                <a:latin typeface="Arial" pitchFamily="34" charset="0"/>
                <a:ea typeface="Arial" pitchFamily="34" charset="-122"/>
                <a:cs typeface="Arial" pitchFamily="34" charset="-120"/>
              </a:rPr>
              <a:t>Jardinero</a:t>
            </a:r>
            <a:endParaRPr lang="en-US" sz="1200" dirty="0"/>
          </a:p>
        </p:txBody>
      </p:sp>
      <p:sp>
        <p:nvSpPr>
          <p:cNvPr id="53" name="Shape 43"/>
          <p:cNvSpPr/>
          <p:nvPr/>
        </p:nvSpPr>
        <p:spPr>
          <a:xfrm>
            <a:off x="7228780" y="3613150"/>
            <a:ext cx="2011660" cy="1835150"/>
          </a:xfrm>
          <a:prstGeom prst="roundRect">
            <a:avLst>
              <a:gd name="adj" fmla="val 5536"/>
            </a:avLst>
          </a:prstGeom>
          <a:solidFill>
            <a:srgbClr val="C0AEDE"/>
          </a:solidFill>
          <a:ln/>
        </p:spPr>
      </p:sp>
      <p:pic>
        <p:nvPicPr>
          <p:cNvPr id="54" name="Image 8" descr="Personaje 09">    </p:cNvPr>
          <p:cNvPicPr>
            <a:picLocks noChangeAspect="1"/>
          </p:cNvPicPr>
          <p:nvPr/>
        </p:nvPicPr>
        <p:blipFill>
          <a:blip r:embed="rId9"/>
          <a:srcRect l="0" r="0" t="0" b="0"/>
          <a:stretch/>
        </p:blipFill>
        <p:spPr>
          <a:xfrm>
            <a:off x="7694811" y="3702050"/>
            <a:ext cx="1079500" cy="1079500"/>
          </a:xfrm>
          <a:prstGeom prst="roundRect">
            <a:avLst>
              <a:gd name="adj" fmla="val 4706"/>
            </a:avLst>
          </a:prstGeom>
        </p:spPr>
      </p:pic>
      <p:sp>
        <p:nvSpPr>
          <p:cNvPr id="55" name="Text 44"/>
          <p:cNvSpPr/>
          <p:nvPr/>
        </p:nvSpPr>
        <p:spPr>
          <a:xfrm>
            <a:off x="7701032" y="4819650"/>
            <a:ext cx="1067157"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F2238"/>
                </a:solidFill>
                <a:latin typeface="Arial" pitchFamily="34" charset="0"/>
                <a:ea typeface="Arial" pitchFamily="34" charset="-122"/>
                <a:cs typeface="Arial" pitchFamily="34" charset="-120"/>
              </a:rPr>
              <a:t>Dante Ojeda</a:t>
            </a:r>
            <a:endParaRPr lang="en-US" sz="1200" dirty="0"/>
          </a:p>
        </p:txBody>
      </p:sp>
      <p:sp>
        <p:nvSpPr>
          <p:cNvPr id="56" name="Text 45"/>
          <p:cNvSpPr/>
          <p:nvPr/>
        </p:nvSpPr>
        <p:spPr>
          <a:xfrm>
            <a:off x="7590671" y="5071070"/>
            <a:ext cx="128778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2E3150"/>
                </a:solidFill>
                <a:latin typeface="Arial" pitchFamily="34" charset="0"/>
                <a:ea typeface="Arial" pitchFamily="34" charset="-122"/>
                <a:cs typeface="Arial" pitchFamily="34" charset="-120"/>
              </a:rPr>
              <a:t>Vigía de la torre</a:t>
            </a:r>
            <a:endParaRPr lang="en-US" sz="1200" dirty="0"/>
          </a:p>
        </p:txBody>
      </p:sp>
      <p:sp>
        <p:nvSpPr>
          <p:cNvPr id="57" name="Shape 46"/>
          <p:cNvSpPr/>
          <p:nvPr/>
        </p:nvSpPr>
        <p:spPr>
          <a:xfrm>
            <a:off x="9367441" y="3613150"/>
            <a:ext cx="2011660" cy="1835150"/>
          </a:xfrm>
          <a:prstGeom prst="roundRect">
            <a:avLst>
              <a:gd name="adj" fmla="val 5536"/>
            </a:avLst>
          </a:prstGeom>
          <a:solidFill>
            <a:srgbClr val="B6E3F4"/>
          </a:solidFill>
          <a:ln/>
        </p:spPr>
      </p:sp>
      <p:pic>
        <p:nvPicPr>
          <p:cNvPr id="58" name="Image 9" descr="Personaje 10">    </p:cNvPr>
          <p:cNvPicPr>
            <a:picLocks noChangeAspect="1"/>
          </p:cNvPicPr>
          <p:nvPr/>
        </p:nvPicPr>
        <p:blipFill>
          <a:blip r:embed="rId10"/>
          <a:srcRect l="0" r="0" t="0" b="0"/>
          <a:stretch/>
        </p:blipFill>
        <p:spPr>
          <a:xfrm>
            <a:off x="9833471" y="3702050"/>
            <a:ext cx="1079500" cy="1079500"/>
          </a:xfrm>
          <a:prstGeom prst="roundRect">
            <a:avLst>
              <a:gd name="adj" fmla="val 4706"/>
            </a:avLst>
          </a:prstGeom>
        </p:spPr>
      </p:pic>
      <p:sp>
        <p:nvSpPr>
          <p:cNvPr id="59" name="Text 47"/>
          <p:cNvSpPr/>
          <p:nvPr/>
        </p:nvSpPr>
        <p:spPr>
          <a:xfrm>
            <a:off x="9844693" y="4819650"/>
            <a:ext cx="1057156"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F2238"/>
                </a:solidFill>
                <a:latin typeface="Arial" pitchFamily="34" charset="0"/>
                <a:ea typeface="Arial" pitchFamily="34" charset="-122"/>
                <a:cs typeface="Arial" pitchFamily="34" charset="-120"/>
              </a:rPr>
              <a:t>Sara Laredo</a:t>
            </a:r>
            <a:endParaRPr lang="en-US" sz="1200" dirty="0"/>
          </a:p>
        </p:txBody>
      </p:sp>
      <p:sp>
        <p:nvSpPr>
          <p:cNvPr id="60" name="Text 48"/>
          <p:cNvSpPr/>
          <p:nvPr/>
        </p:nvSpPr>
        <p:spPr>
          <a:xfrm>
            <a:off x="9849812" y="5071070"/>
            <a:ext cx="1046917"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2E3150"/>
                </a:solidFill>
                <a:latin typeface="Arial" pitchFamily="34" charset="0"/>
                <a:ea typeface="Arial" pitchFamily="34" charset="-122"/>
                <a:cs typeface="Arial" pitchFamily="34" charset="-120"/>
              </a:rPr>
              <a:t>Constructora</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2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9501F"/>
                </a:solidFill>
                <a:latin typeface="Arial" pitchFamily="34" charset="0"/>
                <a:ea typeface="Arial" pitchFamily="34" charset="-122"/>
                <a:cs typeface="Arial" pitchFamily="34" charset="-120"/>
              </a:rPr>
              <a:t>05 · EVIDENCIA 3: VECINOS MÁS CERCANOS</a:t>
            </a:r>
            <a:endParaRPr lang="en-US" sz="1200" dirty="0"/>
          </a:p>
        </p:txBody>
      </p:sp>
      <p:sp>
        <p:nvSpPr>
          <p:cNvPr id="3" name="Text 1"/>
          <p:cNvSpPr/>
          <p:nvPr>
            <p:ph type="title"/>
          </p:nvPr>
        </p:nvSpPr>
        <p:spPr>
          <a:xfrm>
            <a:off x="812800" y="10769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F2238"/>
                </a:solidFill>
                <a:latin typeface="Arial" pitchFamily="34" charset="0"/>
                <a:ea typeface="Arial" pitchFamily="34" charset="-122"/>
                <a:cs typeface="Arial" pitchFamily="34" charset="-120"/>
              </a:rPr>
              <a:t>¿Son nuevos o son copias?</a:t>
            </a:r>
            <a:endParaRPr lang="en-US" sz="3000" dirty="0"/>
          </a:p>
        </p:txBody>
      </p:sp>
      <p:pic>
        <p:nvPicPr>
          <p:cNvPr id="4" name="Image 0" descr="Cada personaje generado arriba y la imagen de entrenamiento más parecida abajo; personaje 08 resaltado">    </p:cNvPr>
          <p:cNvPicPr>
            <a:picLocks noChangeAspect="1"/>
          </p:cNvPicPr>
          <p:nvPr/>
        </p:nvPicPr>
        <p:blipFill>
          <a:blip r:embed="rId1"/>
          <a:srcRect l="0" r="0" t="-13" b="-13"/>
          <a:stretch/>
        </p:blipFill>
        <p:spPr>
          <a:xfrm>
            <a:off x="812800" y="1648420"/>
            <a:ext cx="4724400" cy="4064000"/>
          </a:xfrm>
          <a:prstGeom prst="roundRect">
            <a:avLst>
              <a:gd name="adj" fmla="val 1875"/>
            </a:avLst>
          </a:prstGeom>
        </p:spPr>
      </p:pic>
      <p:sp>
        <p:nvSpPr>
          <p:cNvPr id="5" name="Text 2"/>
          <p:cNvSpPr/>
          <p:nvPr/>
        </p:nvSpPr>
        <p:spPr>
          <a:xfrm>
            <a:off x="5791200" y="1648420"/>
            <a:ext cx="5755640"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3D57"/>
                </a:solidFill>
                <a:latin typeface="Arial" pitchFamily="34" charset="0"/>
                <a:ea typeface="Arial" pitchFamily="34" charset="-122"/>
                <a:cs typeface="Arial" pitchFamily="34" charset="-120"/>
              </a:rPr>
              <a:t>Para cada personaje se buscó la imagen </a:t>
            </a:r>
            <a:r>
              <a:rPr lang="en-US" sz="1300" b="1" dirty="0">
                <a:solidFill>
                  <a:srgbClr val="3A3D57"/>
                </a:solidFill>
                <a:latin typeface="Arial" pitchFamily="34" charset="0"/>
                <a:ea typeface="Arial" pitchFamily="34" charset="-122"/>
                <a:cs typeface="Arial" pitchFamily="34" charset="-120"/>
              </a:rPr>
              <a:t>más parecida</a:t>
            </a:r>
            <a:r>
              <a:rPr lang="en-US" sz="1300" dirty="0">
                <a:solidFill>
                  <a:srgbClr val="3A3D57"/>
                </a:solidFill>
                <a:latin typeface="Arial" pitchFamily="34" charset="0"/>
                <a:ea typeface="Arial" pitchFamily="34" charset="-122"/>
                <a:cs typeface="Arial" pitchFamily="34" charset="-120"/>
              </a:rPr>
              <a:t> entre las 5,000 del entrenamiento, de dos formas: comparando píxeles y comparando lo que "ve" una red ya entrenada.</a:t>
            </a:r>
            <a:endParaRPr lang="en-US" sz="1300" dirty="0"/>
          </a:p>
        </p:txBody>
      </p:sp>
      <p:sp>
        <p:nvSpPr>
          <p:cNvPr id="6" name="Shape 3"/>
          <p:cNvSpPr/>
          <p:nvPr/>
        </p:nvSpPr>
        <p:spPr>
          <a:xfrm>
            <a:off x="5791200" y="2494062"/>
            <a:ext cx="2730500" cy="1208881"/>
          </a:xfrm>
          <a:prstGeom prst="roundRect">
            <a:avLst>
              <a:gd name="adj" fmla="val 8404"/>
            </a:avLst>
          </a:prstGeom>
          <a:solidFill>
            <a:srgbClr val="FBFBF8"/>
          </a:solidFill>
          <a:ln/>
        </p:spPr>
      </p:sp>
      <p:sp>
        <p:nvSpPr>
          <p:cNvPr id="7" name="Text 4"/>
          <p:cNvSpPr/>
          <p:nvPr/>
        </p:nvSpPr>
        <p:spPr>
          <a:xfrm>
            <a:off x="5943600" y="2621062"/>
            <a:ext cx="2498471" cy="558800"/>
          </a:xfrm>
          <a:prstGeom prst="rect">
            <a:avLst/>
          </a:prstGeom>
          <a:noFill/>
          <a:ln/>
        </p:spPr>
        <p:txBody>
          <a:bodyPr wrap="square" lIns="0" tIns="0" rIns="0" bIns="0" rtlCol="0" anchor="t">
            <a:normAutofit/>
          </a:bodyPr>
          <a:lstStyle/>
          <a:p>
            <a:pPr algn="l" indent="0" marL="0">
              <a:lnSpc>
                <a:spcPts val="4200"/>
              </a:lnSpc>
              <a:buNone/>
            </a:pPr>
            <a:r>
              <a:rPr lang="en-US" sz="3000" b="1" dirty="0">
                <a:solidFill>
                  <a:srgbClr val="1F2238"/>
                </a:solidFill>
                <a:latin typeface="Arial" pitchFamily="34" charset="0"/>
                <a:ea typeface="Arial" pitchFamily="34" charset="-122"/>
                <a:cs typeface="Arial" pitchFamily="34" charset="-120"/>
              </a:rPr>
              <a:t>0.07</a:t>
            </a:r>
            <a:endParaRPr lang="en-US" sz="3000" dirty="0"/>
          </a:p>
        </p:txBody>
      </p:sp>
      <p:sp>
        <p:nvSpPr>
          <p:cNvPr id="8" name="Text 5"/>
          <p:cNvSpPr/>
          <p:nvPr/>
        </p:nvSpPr>
        <p:spPr>
          <a:xfrm>
            <a:off x="5943600" y="3179862"/>
            <a:ext cx="2498471"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A3D57"/>
                </a:solidFill>
                <a:latin typeface="Arial" pitchFamily="34" charset="0"/>
                <a:ea typeface="Arial" pitchFamily="34" charset="-122"/>
                <a:cs typeface="Arial" pitchFamily="34" charset="-120"/>
              </a:rPr>
              <a:t>distancia normal entre dos imágenes reales parecidas</a:t>
            </a:r>
            <a:endParaRPr lang="en-US" sz="1200" dirty="0"/>
          </a:p>
        </p:txBody>
      </p:sp>
      <p:sp>
        <p:nvSpPr>
          <p:cNvPr id="9" name="Shape 6"/>
          <p:cNvSpPr/>
          <p:nvPr/>
        </p:nvSpPr>
        <p:spPr>
          <a:xfrm>
            <a:off x="8648700" y="2494062"/>
            <a:ext cx="2730500" cy="1208881"/>
          </a:xfrm>
          <a:prstGeom prst="roundRect">
            <a:avLst>
              <a:gd name="adj" fmla="val 8404"/>
            </a:avLst>
          </a:prstGeom>
          <a:solidFill>
            <a:srgbClr val="FBFBF8"/>
          </a:solidFill>
          <a:ln/>
        </p:spPr>
      </p:sp>
      <p:sp>
        <p:nvSpPr>
          <p:cNvPr id="10" name="Text 7"/>
          <p:cNvSpPr/>
          <p:nvPr/>
        </p:nvSpPr>
        <p:spPr>
          <a:xfrm>
            <a:off x="8801100" y="2621062"/>
            <a:ext cx="2498471" cy="558800"/>
          </a:xfrm>
          <a:prstGeom prst="rect">
            <a:avLst/>
          </a:prstGeom>
          <a:noFill/>
          <a:ln/>
        </p:spPr>
        <p:txBody>
          <a:bodyPr wrap="square" lIns="0" tIns="0" rIns="0" bIns="0" rtlCol="0" anchor="t">
            <a:normAutofit/>
          </a:bodyPr>
          <a:lstStyle/>
          <a:p>
            <a:pPr algn="l" indent="0" marL="0">
              <a:lnSpc>
                <a:spcPts val="4200"/>
              </a:lnSpc>
              <a:buNone/>
            </a:pPr>
            <a:r>
              <a:rPr lang="en-US" sz="3000" b="1" dirty="0">
                <a:solidFill>
                  <a:srgbClr val="B9501F"/>
                </a:solidFill>
                <a:latin typeface="Arial" pitchFamily="34" charset="0"/>
                <a:ea typeface="Arial" pitchFamily="34" charset="-122"/>
                <a:cs typeface="Arial" pitchFamily="34" charset="-120"/>
              </a:rPr>
              <a:t>0.19–0.28</a:t>
            </a:r>
            <a:endParaRPr lang="en-US" sz="3000" dirty="0"/>
          </a:p>
        </p:txBody>
      </p:sp>
      <p:sp>
        <p:nvSpPr>
          <p:cNvPr id="11" name="Text 8"/>
          <p:cNvSpPr/>
          <p:nvPr/>
        </p:nvSpPr>
        <p:spPr>
          <a:xfrm>
            <a:off x="8801100" y="3179862"/>
            <a:ext cx="2498471"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A3D57"/>
                </a:solidFill>
                <a:latin typeface="Arial" pitchFamily="34" charset="0"/>
                <a:ea typeface="Arial" pitchFamily="34" charset="-122"/>
                <a:cs typeface="Arial" pitchFamily="34" charset="-120"/>
              </a:rPr>
              <a:t>los 10 personajes: de 3 a 4 veces más lejos</a:t>
            </a:r>
            <a:endParaRPr lang="en-US" sz="1200" dirty="0"/>
          </a:p>
        </p:txBody>
      </p:sp>
      <p:sp>
        <p:nvSpPr>
          <p:cNvPr id="12" name="Text 9"/>
          <p:cNvSpPr/>
          <p:nvPr/>
        </p:nvSpPr>
        <p:spPr>
          <a:xfrm>
            <a:off x="5791200" y="3855343"/>
            <a:ext cx="5755640" cy="718641"/>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3A3D57"/>
                </a:solidFill>
                <a:latin typeface="Arial" pitchFamily="34" charset="0"/>
                <a:ea typeface="Arial" pitchFamily="34" charset="-122"/>
                <a:cs typeface="Arial" pitchFamily="34" charset="-120"/>
              </a:rPr>
              <a:t>Ojo:</a:t>
            </a:r>
            <a:r>
              <a:rPr lang="en-US" sz="1300" dirty="0">
                <a:solidFill>
                  <a:srgbClr val="3A3D57"/>
                </a:solidFill>
                <a:latin typeface="Arial" pitchFamily="34" charset="0"/>
                <a:ea typeface="Arial" pitchFamily="34" charset="-122"/>
                <a:cs typeface="Arial" pitchFamily="34" charset="-120"/>
              </a:rPr>
              <a:t> esa distancia también cuenta el ruido de color, así que exagera. La comparación por píxeles es más justa: </a:t>
            </a:r>
            <a:r>
              <a:rPr lang="en-US" sz="1300" b="1" dirty="0">
                <a:solidFill>
                  <a:srgbClr val="3A3D57"/>
                </a:solidFill>
                <a:latin typeface="Arial" pitchFamily="34" charset="0"/>
                <a:ea typeface="Arial" pitchFamily="34" charset="-122"/>
                <a:cs typeface="Arial" pitchFamily="34" charset="-120"/>
              </a:rPr>
              <a:t>ninguno es copia</a:t>
            </a:r>
            <a:r>
              <a:rPr lang="en-US" sz="1300" dirty="0">
                <a:solidFill>
                  <a:srgbClr val="3A3D57"/>
                </a:solidFill>
                <a:latin typeface="Arial" pitchFamily="34" charset="0"/>
                <a:ea typeface="Arial" pitchFamily="34" charset="-122"/>
                <a:cs typeface="Arial" pitchFamily="34" charset="-120"/>
              </a:rPr>
              <a:t>, pero se ven piezas del dataset (pelo, ropa, ojos) combinadas de forma nueva.</a:t>
            </a:r>
            <a:endParaRPr lang="en-US" sz="1300" dirty="0"/>
          </a:p>
        </p:txBody>
      </p:sp>
      <p:sp>
        <p:nvSpPr>
          <p:cNvPr id="13" name="Text 10"/>
          <p:cNvSpPr/>
          <p:nvPr/>
        </p:nvSpPr>
        <p:spPr>
          <a:xfrm>
            <a:off x="5791200" y="4700984"/>
            <a:ext cx="5588000" cy="716161"/>
          </a:xfrm>
          <a:prstGeom prst="roundRect">
            <a:avLst>
              <a:gd name="adj" fmla="val 14187"/>
            </a:avLst>
          </a:prstGeom>
          <a:solidFill>
            <a:srgbClr val="FBFBF8"/>
          </a:solidFill>
          <a:ln/>
        </p:spPr>
        <p:txBody>
          <a:bodyPr wrap="square" lIns="173442" tIns="97242" rIns="0" bIns="71842" rtlCol="0" anchor="t">
            <a:normAutofit/>
          </a:bodyPr>
          <a:lstStyle/>
          <a:p>
            <a:pPr algn="l" indent="0" marL="0">
              <a:lnSpc>
                <a:spcPts val="1820"/>
              </a:lnSpc>
              <a:buNone/>
            </a:pPr>
            <a:r>
              <a:rPr lang="en-US" sz="1300" b="1" dirty="0">
                <a:solidFill>
                  <a:srgbClr val="1F2238"/>
                </a:solidFill>
                <a:latin typeface="Arial" pitchFamily="34" charset="0"/>
                <a:ea typeface="Arial" pitchFamily="34" charset="-122"/>
                <a:cs typeface="Arial" pitchFamily="34" charset="-120"/>
              </a:rPr>
              <a:t>personaje_08</a:t>
            </a:r>
            <a:r>
              <a:rPr lang="en-US" sz="1300" dirty="0">
                <a:solidFill>
                  <a:srgbClr val="1F2238"/>
                </a:solidFill>
                <a:latin typeface="Arial" pitchFamily="34" charset="0"/>
                <a:ea typeface="Arial" pitchFamily="34" charset="-122"/>
                <a:cs typeface="Arial" pitchFamily="34" charset="-120"/>
              </a:rPr>
              <a:t> es el más difícil de defender: su vecino tiene el mismo gorro verde, la misma camisa y la misma piel.</a:t>
            </a:r>
            <a:endParaRPr lang="en-US" sz="1300" dirty="0"/>
          </a:p>
        </p:txBody>
      </p:sp>
      <p:sp>
        <p:nvSpPr>
          <p:cNvPr id="14" name="Shape 11"/>
          <p:cNvSpPr/>
          <p:nvPr/>
        </p:nvSpPr>
        <p:spPr>
          <a:xfrm>
            <a:off x="5791200" y="4700984"/>
            <a:ext cx="5588000" cy="716161"/>
          </a:xfrm>
          <a:custGeom>
            <a:avLst/>
            <a:gdLst/>
            <a:ahLst/>
            <a:cxnLst/>
            <a:rect l="l" t="t" r="r" b="b"/>
            <a:pathLst>
              <a:path w="5588000" h="716161">
                <a:moveTo>
                  <a:pt x="101600" y="716161"/>
                </a:moveTo>
                <a:lnTo>
                  <a:pt x="101600" y="716161"/>
                </a:lnTo>
                <a:arcTo hR="101600" wR="101600" stAng="5400000" swAng="5400000"/>
                <a:lnTo>
                  <a:pt x="0" y="101600"/>
                </a:lnTo>
                <a:arcTo hR="101600" wR="101600" stAng="10800000" swAng="5400000"/>
                <a:lnTo>
                  <a:pt x="101600" y="0"/>
                </a:lnTo>
                <a:arcTo hR="101600" wR="50800" stAng="16200000" swAng="-5400000"/>
                <a:lnTo>
                  <a:pt x="50800" y="614561"/>
                </a:lnTo>
                <a:arcTo hR="101600" wR="50800" stAng="10800000" swAng="-5400000"/>
                <a:close/>
              </a:path>
            </a:pathLst>
          </a:custGeom>
          <a:solidFill>
            <a:srgbClr val="E8763A"/>
          </a:solidFill>
          <a:ln/>
        </p:spPr>
      </p:sp>
      <p:sp>
        <p:nvSpPr>
          <p:cNvPr id="15" name="Text 12"/>
          <p:cNvSpPr/>
          <p:nvPr/>
        </p:nvSpPr>
        <p:spPr>
          <a:xfrm>
            <a:off x="812800" y="6281440"/>
            <a:ext cx="18501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E69"/>
                </a:solidFill>
                <a:latin typeface="Arial" pitchFamily="34" charset="0"/>
                <a:ea typeface="Arial" pitchFamily="34" charset="-122"/>
                <a:cs typeface="Arial" pitchFamily="34" charset="-120"/>
              </a:rPr>
              <a:t>Cubópolis · Proyecto 2</a:t>
            </a:r>
            <a:endParaRPr lang="en-US" sz="1200" dirty="0"/>
          </a:p>
        </p:txBody>
      </p:sp>
      <p:sp>
        <p:nvSpPr>
          <p:cNvPr id="16" name="Shape 13"/>
          <p:cNvSpPr/>
          <p:nvPr/>
        </p:nvSpPr>
        <p:spPr>
          <a:xfrm>
            <a:off x="4165005" y="6330950"/>
            <a:ext cx="114300" cy="114300"/>
          </a:xfrm>
          <a:prstGeom prst="rect">
            <a:avLst/>
          </a:prstGeom>
          <a:solidFill>
            <a:srgbClr val="E8763A"/>
          </a:solidFill>
          <a:ln/>
        </p:spPr>
      </p:sp>
      <p:sp>
        <p:nvSpPr>
          <p:cNvPr id="17" name="Text 14"/>
          <p:cNvSpPr/>
          <p:nvPr/>
        </p:nvSpPr>
        <p:spPr>
          <a:xfrm>
            <a:off x="4330105" y="6281440"/>
            <a:ext cx="72163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E69"/>
                </a:solidFill>
                <a:latin typeface="Arial" pitchFamily="34" charset="0"/>
                <a:ea typeface="Arial" pitchFamily="34" charset="-122"/>
                <a:cs typeface="Arial" pitchFamily="34" charset="-120"/>
              </a:rPr>
              <a:t>Universo</a:t>
            </a:r>
            <a:endParaRPr lang="en-US" sz="1200" dirty="0"/>
          </a:p>
        </p:txBody>
      </p:sp>
      <p:sp>
        <p:nvSpPr>
          <p:cNvPr id="18" name="Shape 15"/>
          <p:cNvSpPr/>
          <p:nvPr/>
        </p:nvSpPr>
        <p:spPr>
          <a:xfrm>
            <a:off x="5058470" y="6330950"/>
            <a:ext cx="114300" cy="114300"/>
          </a:xfrm>
          <a:prstGeom prst="rect">
            <a:avLst/>
          </a:prstGeom>
          <a:solidFill>
            <a:srgbClr val="E8763A"/>
          </a:solidFill>
          <a:ln/>
        </p:spPr>
      </p:sp>
      <p:sp>
        <p:nvSpPr>
          <p:cNvPr id="19" name="Text 16"/>
          <p:cNvSpPr/>
          <p:nvPr/>
        </p:nvSpPr>
        <p:spPr>
          <a:xfrm>
            <a:off x="5223570" y="6281440"/>
            <a:ext cx="59983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E69"/>
                </a:solidFill>
                <a:latin typeface="Arial" pitchFamily="34" charset="0"/>
                <a:ea typeface="Arial" pitchFamily="34" charset="-122"/>
                <a:cs typeface="Arial" pitchFamily="34" charset="-120"/>
              </a:rPr>
              <a:t>Modelo</a:t>
            </a:r>
            <a:endParaRPr lang="en-US" sz="1200" dirty="0"/>
          </a:p>
        </p:txBody>
      </p:sp>
      <p:sp>
        <p:nvSpPr>
          <p:cNvPr id="20" name="Shape 17"/>
          <p:cNvSpPr/>
          <p:nvPr/>
        </p:nvSpPr>
        <p:spPr>
          <a:xfrm>
            <a:off x="5850434" y="6330950"/>
            <a:ext cx="114300" cy="114300"/>
          </a:xfrm>
          <a:prstGeom prst="rect">
            <a:avLst/>
          </a:prstGeom>
          <a:solidFill>
            <a:srgbClr val="E8763A"/>
          </a:solidFill>
          <a:ln/>
        </p:spPr>
      </p:sp>
      <p:sp>
        <p:nvSpPr>
          <p:cNvPr id="21" name="Text 18"/>
          <p:cNvSpPr/>
          <p:nvPr/>
        </p:nvSpPr>
        <p:spPr>
          <a:xfrm>
            <a:off x="6015534" y="6281440"/>
            <a:ext cx="41683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E69"/>
                </a:solidFill>
                <a:latin typeface="Arial" pitchFamily="34" charset="0"/>
                <a:ea typeface="Arial" pitchFamily="34" charset="-122"/>
                <a:cs typeface="Arial" pitchFamily="34" charset="-120"/>
              </a:rPr>
              <a:t>Base</a:t>
            </a:r>
            <a:endParaRPr lang="en-US" sz="1200" dirty="0"/>
          </a:p>
        </p:txBody>
      </p:sp>
      <p:sp>
        <p:nvSpPr>
          <p:cNvPr id="22" name="Shape 19"/>
          <p:cNvSpPr/>
          <p:nvPr/>
        </p:nvSpPr>
        <p:spPr>
          <a:xfrm>
            <a:off x="6489898" y="6330950"/>
            <a:ext cx="114300" cy="114300"/>
          </a:xfrm>
          <a:prstGeom prst="rect">
            <a:avLst/>
          </a:prstGeom>
          <a:solidFill>
            <a:srgbClr val="E8763A"/>
          </a:solidFill>
          <a:ln/>
        </p:spPr>
      </p:sp>
      <p:sp>
        <p:nvSpPr>
          <p:cNvPr id="23" name="Text 20"/>
          <p:cNvSpPr/>
          <p:nvPr/>
        </p:nvSpPr>
        <p:spPr>
          <a:xfrm>
            <a:off x="6654998" y="6281440"/>
            <a:ext cx="105876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E69"/>
                </a:solidFill>
                <a:latin typeface="Arial" pitchFamily="34" charset="0"/>
                <a:ea typeface="Arial" pitchFamily="34" charset="-122"/>
                <a:cs typeface="Arial" pitchFamily="34" charset="-120"/>
              </a:rPr>
              <a:t>Experimentos</a:t>
            </a:r>
            <a:endParaRPr lang="en-US" sz="1200" dirty="0"/>
          </a:p>
        </p:txBody>
      </p:sp>
      <p:sp>
        <p:nvSpPr>
          <p:cNvPr id="24" name="Shape 21"/>
          <p:cNvSpPr/>
          <p:nvPr/>
        </p:nvSpPr>
        <p:spPr>
          <a:xfrm>
            <a:off x="7713762" y="6330950"/>
            <a:ext cx="114300" cy="114300"/>
          </a:xfrm>
          <a:prstGeom prst="rect">
            <a:avLst/>
          </a:prstGeom>
          <a:solidFill>
            <a:srgbClr val="1F2238"/>
          </a:solidFill>
          <a:ln/>
        </p:spPr>
      </p:sp>
      <p:sp>
        <p:nvSpPr>
          <p:cNvPr id="25" name="Text 22"/>
          <p:cNvSpPr/>
          <p:nvPr/>
        </p:nvSpPr>
        <p:spPr>
          <a:xfrm>
            <a:off x="7878862" y="6281440"/>
            <a:ext cx="62019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2238"/>
                </a:solidFill>
                <a:latin typeface="Arial" pitchFamily="34" charset="0"/>
                <a:ea typeface="Arial" pitchFamily="34" charset="-122"/>
                <a:cs typeface="Arial" pitchFamily="34" charset="-120"/>
              </a:rPr>
              <a:t>Galería</a:t>
            </a:r>
            <a:endParaRPr lang="en-US" sz="1200" dirty="0"/>
          </a:p>
        </p:txBody>
      </p:sp>
      <p:sp>
        <p:nvSpPr>
          <p:cNvPr id="26" name="Shape 23"/>
          <p:cNvSpPr/>
          <p:nvPr/>
        </p:nvSpPr>
        <p:spPr>
          <a:xfrm>
            <a:off x="8529042" y="6337300"/>
            <a:ext cx="101600" cy="101600"/>
          </a:xfrm>
          <a:prstGeom prst="rect">
            <a:avLst/>
          </a:prstGeom>
          <a:noFill/>
          <a:ln w="12700">
            <a:solidFill>
              <a:srgbClr val="6B6E85"/>
            </a:solidFill>
            <a:prstDash val="solid"/>
          </a:ln>
        </p:spPr>
      </p:sp>
      <p:sp>
        <p:nvSpPr>
          <p:cNvPr id="27" name="Text 24"/>
          <p:cNvSpPr/>
          <p:nvPr/>
        </p:nvSpPr>
        <p:spPr>
          <a:xfrm>
            <a:off x="8687792" y="6281440"/>
            <a:ext cx="49791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E85"/>
                </a:solidFill>
                <a:latin typeface="Arial" pitchFamily="34" charset="0"/>
                <a:ea typeface="Arial" pitchFamily="34" charset="-122"/>
                <a:cs typeface="Arial" pitchFamily="34" charset="-120"/>
              </a:rPr>
              <a:t>Cierre</a:t>
            </a:r>
            <a:endParaRPr lang="en-US" sz="1200" dirty="0"/>
          </a:p>
        </p:txBody>
      </p:sp>
      <p:sp>
        <p:nvSpPr>
          <p:cNvPr id="28" name="Text 25"/>
          <p:cNvSpPr/>
          <p:nvPr/>
        </p:nvSpPr>
        <p:spPr>
          <a:xfrm>
            <a:off x="10819844" y="6281440"/>
            <a:ext cx="559356"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4E69"/>
                </a:solidFill>
                <a:latin typeface="Arial" pitchFamily="34" charset="0"/>
                <a:ea typeface="Arial" pitchFamily="34" charset="-122"/>
                <a:cs typeface="Arial" pitchFamily="34" charset="-120"/>
              </a:rPr>
              <a:t>10 / 12</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8EE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9501F"/>
                </a:solidFill>
                <a:latin typeface="Arial" pitchFamily="34" charset="0"/>
                <a:ea typeface="Arial" pitchFamily="34" charset="-122"/>
                <a:cs typeface="Arial" pitchFamily="34" charset="-120"/>
              </a:rPr>
              <a:t>06 · CIERRE</a:t>
            </a:r>
            <a:endParaRPr lang="en-US" sz="1200" dirty="0"/>
          </a:p>
        </p:txBody>
      </p:sp>
      <p:sp>
        <p:nvSpPr>
          <p:cNvPr id="3" name="Text 1"/>
          <p:cNvSpPr/>
          <p:nvPr>
            <p:ph type="title"/>
          </p:nvPr>
        </p:nvSpPr>
        <p:spPr>
          <a:xfrm>
            <a:off x="812800" y="10769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F2238"/>
                </a:solidFill>
                <a:latin typeface="Arial" pitchFamily="34" charset="0"/>
                <a:ea typeface="Arial" pitchFamily="34" charset="-122"/>
                <a:cs typeface="Arial" pitchFamily="34" charset="-120"/>
              </a:rPr>
              <a:t>Lo que falló, los límites y lo aprendido</a:t>
            </a:r>
            <a:endParaRPr lang="en-US" sz="3000" dirty="0"/>
          </a:p>
        </p:txBody>
      </p:sp>
      <p:sp>
        <p:nvSpPr>
          <p:cNvPr id="4" name="Shape 2"/>
          <p:cNvSpPr/>
          <p:nvPr/>
        </p:nvSpPr>
        <p:spPr>
          <a:xfrm>
            <a:off x="812800" y="1648420"/>
            <a:ext cx="3420467" cy="2277864"/>
          </a:xfrm>
          <a:prstGeom prst="roundRect">
            <a:avLst>
              <a:gd name="adj" fmla="val 4460"/>
            </a:avLst>
          </a:prstGeom>
          <a:solidFill>
            <a:srgbClr val="FBFBF8"/>
          </a:solidFill>
          <a:ln/>
        </p:spPr>
      </p:sp>
      <p:sp>
        <p:nvSpPr>
          <p:cNvPr id="5" name="Shape 3"/>
          <p:cNvSpPr/>
          <p:nvPr/>
        </p:nvSpPr>
        <p:spPr>
          <a:xfrm>
            <a:off x="812800" y="1648420"/>
            <a:ext cx="3420467" cy="2277864"/>
          </a:xfrm>
          <a:custGeom>
            <a:avLst/>
            <a:gdLst/>
            <a:ahLst/>
            <a:cxnLst/>
            <a:rect l="l" t="t" r="r" b="b"/>
            <a:pathLst>
              <a:path w="3420467" h="2277864">
                <a:moveTo>
                  <a:pt x="0" y="101600"/>
                </a:moveTo>
                <a:lnTo>
                  <a:pt x="0" y="101600"/>
                </a:lnTo>
                <a:arcTo hR="101600" wR="101600" stAng="10800000" swAng="5400000"/>
                <a:lnTo>
                  <a:pt x="3318867" y="0"/>
                </a:lnTo>
                <a:arcTo hR="101600" wR="101600" stAng="16200000" swAng="5400000"/>
                <a:lnTo>
                  <a:pt x="3420467" y="101600"/>
                </a:lnTo>
                <a:arcTo hR="50800" wR="101600" stAng="0" swAng="-5400000"/>
                <a:lnTo>
                  <a:pt x="101600" y="50800"/>
                </a:lnTo>
                <a:arcTo hR="50800" wR="101600" stAng="16200000" swAng="-5400000"/>
                <a:close/>
              </a:path>
            </a:pathLst>
          </a:custGeom>
          <a:solidFill>
            <a:srgbClr val="E8763A"/>
          </a:solidFill>
          <a:ln/>
        </p:spPr>
      </p:sp>
      <p:sp>
        <p:nvSpPr>
          <p:cNvPr id="6" name="Text 4"/>
          <p:cNvSpPr/>
          <p:nvPr/>
        </p:nvSpPr>
        <p:spPr>
          <a:xfrm>
            <a:off x="990600" y="1851620"/>
            <a:ext cx="3156813"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9501F"/>
                </a:solidFill>
                <a:latin typeface="Arial" pitchFamily="34" charset="0"/>
                <a:ea typeface="Arial" pitchFamily="34" charset="-122"/>
                <a:cs typeface="Arial" pitchFamily="34" charset="-120"/>
              </a:rPr>
              <a:t>PROBLEMAS</a:t>
            </a:r>
            <a:endParaRPr lang="en-US" sz="1200" dirty="0"/>
          </a:p>
        </p:txBody>
      </p:sp>
      <p:sp>
        <p:nvSpPr>
          <p:cNvPr id="7" name="Text 5"/>
          <p:cNvSpPr/>
          <p:nvPr/>
        </p:nvSpPr>
        <p:spPr>
          <a:xfrm>
            <a:off x="1102106" y="2128441"/>
            <a:ext cx="3037687" cy="1670844"/>
          </a:xfrm>
          <a:prstGeom prst="rect">
            <a:avLst/>
          </a:prstGeom>
          <a:noFill/>
          <a:ln/>
        </p:spPr>
        <p:txBody>
          <a:bodyPr wrap="square" lIns="0" tIns="0" rIns="0" bIns="0" rtlCol="0" anchor="t">
            <a:normAutofit/>
          </a:bodyPr>
          <a:lstStyle/>
          <a:p>
            <a:pPr algn="l" marL="142494" indent="-142494">
              <a:lnSpc>
                <a:spcPts val="1620"/>
              </a:lnSpc>
              <a:buSzPct val="100000"/>
              <a:buChar char="•"/>
            </a:pPr>
            <a:r>
              <a:rPr lang="en-US" sz="1200" dirty="0">
                <a:solidFill>
                  <a:srgbClr val="3A3D57"/>
                </a:solidFill>
                <a:latin typeface="Arial" pitchFamily="34" charset="0"/>
                <a:ea typeface="Arial" pitchFamily="34" charset="-122"/>
                <a:cs typeface="Arial" pitchFamily="34" charset="-120"/>
              </a:rPr>
              <a:t>En el primer intento, el policia gana siempre</a:t>
            </a:r>
            <a:endParaRPr lang="en-US" sz="1200" dirty="0"/>
          </a:p>
          <a:p>
            <a:pPr algn="l" marL="142494" indent="-142494">
              <a:lnSpc>
                <a:spcPts val="1620"/>
              </a:lnSpc>
              <a:buSzPct val="100000"/>
              <a:buChar char="•"/>
            </a:pPr>
            <a:r>
              <a:rPr lang="en-US" sz="1200" dirty="0">
                <a:solidFill>
                  <a:srgbClr val="3A3D57"/>
                </a:solidFill>
                <a:latin typeface="Arial" pitchFamily="34" charset="0"/>
                <a:ea typeface="Arial" pitchFamily="34" charset="-122"/>
                <a:cs typeface="Arial" pitchFamily="34" charset="-120"/>
              </a:rPr>
              <a:t>Con el freno, el modelo colapsó en la época 145</a:t>
            </a:r>
            <a:endParaRPr lang="en-US" sz="1200" dirty="0"/>
          </a:p>
          <a:p>
            <a:pPr algn="l" marL="142494" indent="-142494">
              <a:lnSpc>
                <a:spcPts val="1620"/>
              </a:lnSpc>
              <a:buSzPct val="100000"/>
              <a:buChar char="•"/>
            </a:pPr>
            <a:r>
              <a:rPr lang="en-US" sz="1200" dirty="0">
                <a:solidFill>
                  <a:srgbClr val="3A3D57"/>
                </a:solidFill>
                <a:latin typeface="Arial" pitchFamily="34" charset="0"/>
                <a:ea typeface="Arial" pitchFamily="34" charset="-122"/>
                <a:cs typeface="Arial" pitchFamily="34" charset="-120"/>
              </a:rPr>
              <a:t>Sin BatchNorm, las imágenes salen deslavadas</a:t>
            </a:r>
            <a:endParaRPr lang="en-US" sz="1200" dirty="0"/>
          </a:p>
          <a:p>
            <a:pPr algn="l" marL="142494" indent="-142494">
              <a:lnSpc>
                <a:spcPts val="1620"/>
              </a:lnSpc>
              <a:buSzPct val="100000"/>
              <a:buChar char="•"/>
            </a:pPr>
            <a:r>
              <a:rPr lang="en-US" sz="1200" dirty="0">
                <a:solidFill>
                  <a:srgbClr val="3A3D57"/>
                </a:solidFill>
                <a:latin typeface="Arial" pitchFamily="34" charset="0"/>
                <a:ea typeface="Arial" pitchFamily="34" charset="-122"/>
                <a:cs typeface="Arial" pitchFamily="34" charset="-120"/>
              </a:rPr>
              <a:t>El modelo final tiene ruido de color en la ropa</a:t>
            </a:r>
            <a:endParaRPr lang="en-US" sz="1200" dirty="0"/>
          </a:p>
        </p:txBody>
      </p:sp>
      <p:sp>
        <p:nvSpPr>
          <p:cNvPr id="8" name="Shape 6"/>
          <p:cNvSpPr/>
          <p:nvPr/>
        </p:nvSpPr>
        <p:spPr>
          <a:xfrm>
            <a:off x="4385667" y="1648420"/>
            <a:ext cx="3420566" cy="2277864"/>
          </a:xfrm>
          <a:prstGeom prst="roundRect">
            <a:avLst>
              <a:gd name="adj" fmla="val 4460"/>
            </a:avLst>
          </a:prstGeom>
          <a:solidFill>
            <a:srgbClr val="FBFBF8"/>
          </a:solidFill>
          <a:ln/>
        </p:spPr>
      </p:sp>
      <p:sp>
        <p:nvSpPr>
          <p:cNvPr id="9" name="Shape 7"/>
          <p:cNvSpPr/>
          <p:nvPr/>
        </p:nvSpPr>
        <p:spPr>
          <a:xfrm>
            <a:off x="4385667" y="1648420"/>
            <a:ext cx="3420566" cy="2277864"/>
          </a:xfrm>
          <a:custGeom>
            <a:avLst/>
            <a:gdLst/>
            <a:ahLst/>
            <a:cxnLst/>
            <a:rect l="l" t="t" r="r" b="b"/>
            <a:pathLst>
              <a:path w="3420566" h="2277864">
                <a:moveTo>
                  <a:pt x="0" y="101600"/>
                </a:moveTo>
                <a:lnTo>
                  <a:pt x="0" y="101600"/>
                </a:lnTo>
                <a:arcTo hR="101600" wR="101600" stAng="10800000" swAng="5400000"/>
                <a:lnTo>
                  <a:pt x="3318966" y="0"/>
                </a:lnTo>
                <a:arcTo hR="101600" wR="101600" stAng="16200000" swAng="5400000"/>
                <a:lnTo>
                  <a:pt x="3420566" y="101600"/>
                </a:lnTo>
                <a:arcTo hR="50800" wR="101600" stAng="0" swAng="-5400000"/>
                <a:lnTo>
                  <a:pt x="101600" y="50800"/>
                </a:lnTo>
                <a:arcTo hR="50800" wR="101600" stAng="16200000" swAng="-5400000"/>
                <a:close/>
              </a:path>
            </a:pathLst>
          </a:custGeom>
          <a:solidFill>
            <a:srgbClr val="6B6E85"/>
          </a:solidFill>
          <a:ln/>
        </p:spPr>
      </p:sp>
      <p:sp>
        <p:nvSpPr>
          <p:cNvPr id="10" name="Text 8"/>
          <p:cNvSpPr/>
          <p:nvPr/>
        </p:nvSpPr>
        <p:spPr>
          <a:xfrm>
            <a:off x="4563467" y="1851620"/>
            <a:ext cx="3156915"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A4E69"/>
                </a:solidFill>
                <a:latin typeface="Arial" pitchFamily="34" charset="0"/>
                <a:ea typeface="Arial" pitchFamily="34" charset="-122"/>
                <a:cs typeface="Arial" pitchFamily="34" charset="-120"/>
              </a:rPr>
              <a:t>LÍMITES</a:t>
            </a:r>
            <a:endParaRPr lang="en-US" sz="1200" dirty="0"/>
          </a:p>
        </p:txBody>
      </p:sp>
      <p:sp>
        <p:nvSpPr>
          <p:cNvPr id="11" name="Text 9"/>
          <p:cNvSpPr/>
          <p:nvPr/>
        </p:nvSpPr>
        <p:spPr>
          <a:xfrm>
            <a:off x="4674973" y="2128441"/>
            <a:ext cx="3037789" cy="1259483"/>
          </a:xfrm>
          <a:prstGeom prst="rect">
            <a:avLst/>
          </a:prstGeom>
          <a:noFill/>
          <a:ln/>
        </p:spPr>
        <p:txBody>
          <a:bodyPr wrap="square" lIns="0" tIns="0" rIns="0" bIns="0" rtlCol="0" anchor="t">
            <a:normAutofit/>
          </a:bodyPr>
          <a:lstStyle/>
          <a:p>
            <a:pPr algn="l" marL="142494" indent="-142494">
              <a:lnSpc>
                <a:spcPts val="1620"/>
              </a:lnSpc>
              <a:buSzPct val="100000"/>
              <a:buChar char="•"/>
            </a:pPr>
            <a:r>
              <a:rPr lang="en-US" sz="1200" dirty="0">
                <a:solidFill>
                  <a:srgbClr val="3A3D57"/>
                </a:solidFill>
                <a:latin typeface="Arial" pitchFamily="34" charset="0"/>
                <a:ea typeface="Arial" pitchFamily="34" charset="-122"/>
                <a:cs typeface="Arial" pitchFamily="34" charset="-120"/>
              </a:rPr>
              <a:t>Cada prueba se hizo una sola vez</a:t>
            </a:r>
            <a:endParaRPr lang="en-US" sz="1200" dirty="0"/>
          </a:p>
          <a:p>
            <a:pPr algn="l" marL="142494" indent="-142494">
              <a:lnSpc>
                <a:spcPts val="1620"/>
              </a:lnSpc>
              <a:buSzPct val="100000"/>
              <a:buChar char="•"/>
            </a:pPr>
            <a:r>
              <a:rPr lang="en-US" sz="1200" dirty="0">
                <a:solidFill>
                  <a:srgbClr val="3A3D57"/>
                </a:solidFill>
                <a:latin typeface="Arial" pitchFamily="34" charset="0"/>
                <a:ea typeface="Arial" pitchFamily="34" charset="-122"/>
                <a:cs typeface="Arial" pitchFamily="34" charset="-120"/>
              </a:rPr>
              <a:t>Las medidas usan una red entrenada con fotos, no con personajes</a:t>
            </a:r>
            <a:endParaRPr lang="en-US" sz="1200" dirty="0"/>
          </a:p>
          <a:p>
            <a:pPr algn="l" marL="142494" indent="-142494">
              <a:lnSpc>
                <a:spcPts val="1620"/>
              </a:lnSpc>
              <a:buSzPct val="100000"/>
              <a:buChar char="•"/>
            </a:pPr>
            <a:r>
              <a:rPr lang="en-US" sz="1200" dirty="0">
                <a:solidFill>
                  <a:srgbClr val="3A3D57"/>
                </a:solidFill>
                <a:latin typeface="Arial" pitchFamily="34" charset="0"/>
                <a:ea typeface="Arial" pitchFamily="34" charset="-122"/>
                <a:cs typeface="Arial" pitchFamily="34" charset="-120"/>
              </a:rPr>
              <a:t>Los datos son piezas combinadas: la variedad tiene un techo</a:t>
            </a:r>
            <a:endParaRPr lang="en-US" sz="1200" dirty="0"/>
          </a:p>
          <a:p>
            <a:pPr algn="l" marL="142494" indent="-142494">
              <a:lnSpc>
                <a:spcPts val="1620"/>
              </a:lnSpc>
              <a:buSzPct val="100000"/>
              <a:buChar char="•"/>
            </a:pPr>
            <a:r>
              <a:rPr lang="en-US" sz="1200" dirty="0">
                <a:solidFill>
                  <a:srgbClr val="3A3D57"/>
                </a:solidFill>
                <a:latin typeface="Arial" pitchFamily="34" charset="0"/>
                <a:ea typeface="Arial" pitchFamily="34" charset="-122"/>
                <a:cs typeface="Arial" pitchFamily="34" charset="-120"/>
              </a:rPr>
              <a:t>Los 10 personajes se eligieron a mano</a:t>
            </a:r>
            <a:endParaRPr lang="en-US" sz="1200" dirty="0"/>
          </a:p>
        </p:txBody>
      </p:sp>
      <p:sp>
        <p:nvSpPr>
          <p:cNvPr id="12" name="Shape 10"/>
          <p:cNvSpPr/>
          <p:nvPr/>
        </p:nvSpPr>
        <p:spPr>
          <a:xfrm>
            <a:off x="7958634" y="1648420"/>
            <a:ext cx="3420566" cy="2277864"/>
          </a:xfrm>
          <a:prstGeom prst="roundRect">
            <a:avLst>
              <a:gd name="adj" fmla="val 4460"/>
            </a:avLst>
          </a:prstGeom>
          <a:solidFill>
            <a:srgbClr val="FBFBF8"/>
          </a:solidFill>
          <a:ln/>
        </p:spPr>
      </p:sp>
      <p:sp>
        <p:nvSpPr>
          <p:cNvPr id="13" name="Shape 11"/>
          <p:cNvSpPr/>
          <p:nvPr/>
        </p:nvSpPr>
        <p:spPr>
          <a:xfrm>
            <a:off x="7958634" y="1648420"/>
            <a:ext cx="3420566" cy="2277864"/>
          </a:xfrm>
          <a:custGeom>
            <a:avLst/>
            <a:gdLst/>
            <a:ahLst/>
            <a:cxnLst/>
            <a:rect l="l" t="t" r="r" b="b"/>
            <a:pathLst>
              <a:path w="3420566" h="2277864">
                <a:moveTo>
                  <a:pt x="0" y="101600"/>
                </a:moveTo>
                <a:lnTo>
                  <a:pt x="0" y="101600"/>
                </a:lnTo>
                <a:arcTo hR="101600" wR="101600" stAng="10800000" swAng="5400000"/>
                <a:lnTo>
                  <a:pt x="3318966" y="0"/>
                </a:lnTo>
                <a:arcTo hR="101600" wR="101600" stAng="16200000" swAng="5400000"/>
                <a:lnTo>
                  <a:pt x="3420566" y="101600"/>
                </a:lnTo>
                <a:arcTo hR="50800" wR="101600" stAng="0" swAng="-5400000"/>
                <a:lnTo>
                  <a:pt x="101600" y="50800"/>
                </a:lnTo>
                <a:arcTo hR="50800" wR="101600" stAng="16200000" swAng="-5400000"/>
                <a:close/>
              </a:path>
            </a:pathLst>
          </a:custGeom>
          <a:solidFill>
            <a:srgbClr val="3FA58C"/>
          </a:solidFill>
          <a:ln/>
        </p:spPr>
      </p:sp>
      <p:sp>
        <p:nvSpPr>
          <p:cNvPr id="14" name="Text 12"/>
          <p:cNvSpPr/>
          <p:nvPr/>
        </p:nvSpPr>
        <p:spPr>
          <a:xfrm>
            <a:off x="8136434" y="1851620"/>
            <a:ext cx="3156915"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7563"/>
                </a:solidFill>
                <a:latin typeface="Arial" pitchFamily="34" charset="0"/>
                <a:ea typeface="Arial" pitchFamily="34" charset="-122"/>
                <a:cs typeface="Arial" pitchFamily="34" charset="-120"/>
              </a:rPr>
              <a:t>CONCLUSIONES</a:t>
            </a:r>
            <a:endParaRPr lang="en-US" sz="1200" dirty="0"/>
          </a:p>
        </p:txBody>
      </p:sp>
      <p:sp>
        <p:nvSpPr>
          <p:cNvPr id="15" name="Text 13"/>
          <p:cNvSpPr/>
          <p:nvPr/>
        </p:nvSpPr>
        <p:spPr>
          <a:xfrm>
            <a:off x="8247940" y="2128441"/>
            <a:ext cx="3037789" cy="1053802"/>
          </a:xfrm>
          <a:prstGeom prst="rect">
            <a:avLst/>
          </a:prstGeom>
          <a:noFill/>
          <a:ln/>
        </p:spPr>
        <p:txBody>
          <a:bodyPr wrap="square" lIns="0" tIns="0" rIns="0" bIns="0" rtlCol="0" anchor="t">
            <a:normAutofit/>
          </a:bodyPr>
          <a:lstStyle/>
          <a:p>
            <a:pPr algn="l" marL="142494" indent="-142494">
              <a:lnSpc>
                <a:spcPts val="1620"/>
              </a:lnSpc>
              <a:buSzPct val="100000"/>
              <a:buChar char="•"/>
            </a:pPr>
            <a:r>
              <a:rPr lang="en-US" sz="1200" dirty="0">
                <a:solidFill>
                  <a:srgbClr val="3A3D57"/>
                </a:solidFill>
                <a:latin typeface="Arial" pitchFamily="34" charset="0"/>
                <a:ea typeface="Arial" pitchFamily="34" charset="-122"/>
                <a:cs typeface="Arial" pitchFamily="34" charset="-120"/>
              </a:rPr>
              <a:t>DCGAN con hinge crea habitantes reconocibles y variados</a:t>
            </a:r>
            <a:endParaRPr lang="en-US" sz="1200" dirty="0"/>
          </a:p>
          <a:p>
            <a:pPr algn="l" marL="142494" indent="-142494">
              <a:lnSpc>
                <a:spcPts val="1620"/>
              </a:lnSpc>
              <a:buSzPct val="100000"/>
              <a:buChar char="•"/>
            </a:pPr>
            <a:r>
              <a:rPr lang="en-US" sz="1200" dirty="0">
                <a:solidFill>
                  <a:srgbClr val="3A3D57"/>
                </a:solidFill>
                <a:latin typeface="Arial" pitchFamily="34" charset="0"/>
                <a:ea typeface="Arial" pitchFamily="34" charset="-122"/>
                <a:cs typeface="Arial" pitchFamily="34" charset="-120"/>
              </a:rPr>
              <a:t>Estable no es lo mismo que bueno</a:t>
            </a:r>
            <a:endParaRPr lang="en-US" sz="1200" dirty="0"/>
          </a:p>
          <a:p>
            <a:pPr algn="l" marL="142494" indent="-142494">
              <a:lnSpc>
                <a:spcPts val="1620"/>
              </a:lnSpc>
              <a:buSzPct val="100000"/>
              <a:buChar char="•"/>
            </a:pPr>
            <a:r>
              <a:rPr lang="en-US" sz="1200" dirty="0">
                <a:solidFill>
                  <a:srgbClr val="3A3D57"/>
                </a:solidFill>
                <a:latin typeface="Arial" pitchFamily="34" charset="0"/>
                <a:ea typeface="Arial" pitchFamily="34" charset="-122"/>
                <a:cs typeface="Arial" pitchFamily="34" charset="-120"/>
              </a:rPr>
              <a:t>Hay que vigilar todo el entrenamiento, no solo el final</a:t>
            </a:r>
            <a:endParaRPr lang="en-US" sz="1200" dirty="0"/>
          </a:p>
        </p:txBody>
      </p:sp>
      <p:sp>
        <p:nvSpPr>
          <p:cNvPr id="16" name="Shape 14"/>
          <p:cNvSpPr/>
          <p:nvPr/>
        </p:nvSpPr>
        <p:spPr>
          <a:xfrm>
            <a:off x="812800" y="4078684"/>
            <a:ext cx="10566400" cy="1262162"/>
          </a:xfrm>
          <a:prstGeom prst="roundRect">
            <a:avLst>
              <a:gd name="adj" fmla="val 8050"/>
            </a:avLst>
          </a:prstGeom>
          <a:solidFill>
            <a:srgbClr val="1F2238"/>
          </a:solidFill>
          <a:ln/>
        </p:spPr>
      </p:sp>
      <p:pic>
        <p:nvPicPr>
          <p:cNvPr id="17" name="Image 0" descr="Personaje 08, Rocco Silbato">    </p:cNvPr>
          <p:cNvPicPr>
            <a:picLocks noChangeAspect="1"/>
          </p:cNvPicPr>
          <p:nvPr/>
        </p:nvPicPr>
        <p:blipFill>
          <a:blip r:embed="rId1"/>
          <a:srcRect l="0" r="0" t="0" b="0"/>
          <a:stretch/>
        </p:blipFill>
        <p:spPr>
          <a:xfrm>
            <a:off x="1016000" y="4233466"/>
            <a:ext cx="952500" cy="952500"/>
          </a:xfrm>
          <a:prstGeom prst="roundRect">
            <a:avLst>
              <a:gd name="adj" fmla="val 6667"/>
            </a:avLst>
          </a:prstGeom>
        </p:spPr>
      </p:pic>
      <p:sp>
        <p:nvSpPr>
          <p:cNvPr id="18" name="Text 15"/>
          <p:cNvSpPr/>
          <p:nvPr/>
        </p:nvSpPr>
        <p:spPr>
          <a:xfrm>
            <a:off x="2146300" y="4231084"/>
            <a:ext cx="9300591"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FDFBF"/>
                </a:solidFill>
                <a:latin typeface="Arial" pitchFamily="34" charset="0"/>
                <a:ea typeface="Arial" pitchFamily="34" charset="-122"/>
                <a:cs typeface="Arial" pitchFamily="34" charset="-120"/>
              </a:rPr>
              <a:t>REFLEXIÓN: ¿CUÁL COSTÓ MÁS DEFENDER COMO NUEVO?</a:t>
            </a:r>
            <a:endParaRPr lang="en-US" sz="1200" dirty="0"/>
          </a:p>
        </p:txBody>
      </p:sp>
      <p:sp>
        <p:nvSpPr>
          <p:cNvPr id="19" name="Text 16"/>
          <p:cNvSpPr/>
          <p:nvPr/>
        </p:nvSpPr>
        <p:spPr>
          <a:xfrm>
            <a:off x="2146300" y="4495205"/>
            <a:ext cx="9300591" cy="718641"/>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5F2EA"/>
                </a:solidFill>
                <a:latin typeface="Arial" pitchFamily="34" charset="0"/>
                <a:ea typeface="Arial" pitchFamily="34" charset="-122"/>
                <a:cs typeface="Arial" pitchFamily="34" charset="-120"/>
              </a:rPr>
              <a:t>Rocco Silbato (personaje_08).</a:t>
            </a:r>
            <a:r>
              <a:rPr lang="en-US" sz="1300" dirty="0">
                <a:solidFill>
                  <a:srgbClr val="F5F2EA"/>
                </a:solidFill>
                <a:latin typeface="Arial" pitchFamily="34" charset="0"/>
                <a:ea typeface="Arial" pitchFamily="34" charset="-122"/>
                <a:cs typeface="Arial" pitchFamily="34" charset="-120"/>
              </a:rPr>
              <a:t> Su vecino del dataset tiene el mismo gorro verde, la misma camisa y la misma piel; solo cambian la boca y algunos detalles. Eso muestra lo que aprendió la GAN: las piezas de Cubópolis (forma, pelo, ropa, ojos) y cómo combinarlas. No inventa piezas nuevas.</a:t>
            </a:r>
            <a:endParaRPr lang="en-US" sz="1300" dirty="0"/>
          </a:p>
        </p:txBody>
      </p:sp>
      <p:sp>
        <p:nvSpPr>
          <p:cNvPr id="20" name="Text 17"/>
          <p:cNvSpPr/>
          <p:nvPr/>
        </p:nvSpPr>
        <p:spPr>
          <a:xfrm>
            <a:off x="812800" y="6281440"/>
            <a:ext cx="18501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E69"/>
                </a:solidFill>
                <a:latin typeface="Arial" pitchFamily="34" charset="0"/>
                <a:ea typeface="Arial" pitchFamily="34" charset="-122"/>
                <a:cs typeface="Arial" pitchFamily="34" charset="-120"/>
              </a:rPr>
              <a:t>Cubópolis · Proyecto 2</a:t>
            </a:r>
            <a:endParaRPr lang="en-US" sz="1200" dirty="0"/>
          </a:p>
        </p:txBody>
      </p:sp>
      <p:sp>
        <p:nvSpPr>
          <p:cNvPr id="21" name="Shape 18"/>
          <p:cNvSpPr/>
          <p:nvPr/>
        </p:nvSpPr>
        <p:spPr>
          <a:xfrm>
            <a:off x="4166394" y="6330950"/>
            <a:ext cx="114300" cy="114300"/>
          </a:xfrm>
          <a:prstGeom prst="rect">
            <a:avLst/>
          </a:prstGeom>
          <a:solidFill>
            <a:srgbClr val="E8763A"/>
          </a:solidFill>
          <a:ln/>
        </p:spPr>
      </p:sp>
      <p:sp>
        <p:nvSpPr>
          <p:cNvPr id="22" name="Text 19"/>
          <p:cNvSpPr/>
          <p:nvPr/>
        </p:nvSpPr>
        <p:spPr>
          <a:xfrm>
            <a:off x="4331494" y="6281440"/>
            <a:ext cx="72163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E69"/>
                </a:solidFill>
                <a:latin typeface="Arial" pitchFamily="34" charset="0"/>
                <a:ea typeface="Arial" pitchFamily="34" charset="-122"/>
                <a:cs typeface="Arial" pitchFamily="34" charset="-120"/>
              </a:rPr>
              <a:t>Universo</a:t>
            </a:r>
            <a:endParaRPr lang="en-US" sz="1200" dirty="0"/>
          </a:p>
        </p:txBody>
      </p:sp>
      <p:sp>
        <p:nvSpPr>
          <p:cNvPr id="23" name="Shape 20"/>
          <p:cNvSpPr/>
          <p:nvPr/>
        </p:nvSpPr>
        <p:spPr>
          <a:xfrm>
            <a:off x="5059859" y="6330950"/>
            <a:ext cx="114300" cy="114300"/>
          </a:xfrm>
          <a:prstGeom prst="rect">
            <a:avLst/>
          </a:prstGeom>
          <a:solidFill>
            <a:srgbClr val="E8763A"/>
          </a:solidFill>
          <a:ln/>
        </p:spPr>
      </p:sp>
      <p:sp>
        <p:nvSpPr>
          <p:cNvPr id="24" name="Text 21"/>
          <p:cNvSpPr/>
          <p:nvPr/>
        </p:nvSpPr>
        <p:spPr>
          <a:xfrm>
            <a:off x="5224959" y="6281440"/>
            <a:ext cx="59983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E69"/>
                </a:solidFill>
                <a:latin typeface="Arial" pitchFamily="34" charset="0"/>
                <a:ea typeface="Arial" pitchFamily="34" charset="-122"/>
                <a:cs typeface="Arial" pitchFamily="34" charset="-120"/>
              </a:rPr>
              <a:t>Modelo</a:t>
            </a:r>
            <a:endParaRPr lang="en-US" sz="1200" dirty="0"/>
          </a:p>
        </p:txBody>
      </p:sp>
      <p:sp>
        <p:nvSpPr>
          <p:cNvPr id="25" name="Shape 22"/>
          <p:cNvSpPr/>
          <p:nvPr/>
        </p:nvSpPr>
        <p:spPr>
          <a:xfrm>
            <a:off x="5851823" y="6330950"/>
            <a:ext cx="114300" cy="114300"/>
          </a:xfrm>
          <a:prstGeom prst="rect">
            <a:avLst/>
          </a:prstGeom>
          <a:solidFill>
            <a:srgbClr val="E8763A"/>
          </a:solidFill>
          <a:ln/>
        </p:spPr>
      </p:sp>
      <p:sp>
        <p:nvSpPr>
          <p:cNvPr id="26" name="Text 23"/>
          <p:cNvSpPr/>
          <p:nvPr/>
        </p:nvSpPr>
        <p:spPr>
          <a:xfrm>
            <a:off x="6016923" y="6281440"/>
            <a:ext cx="41683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E69"/>
                </a:solidFill>
                <a:latin typeface="Arial" pitchFamily="34" charset="0"/>
                <a:ea typeface="Arial" pitchFamily="34" charset="-122"/>
                <a:cs typeface="Arial" pitchFamily="34" charset="-120"/>
              </a:rPr>
              <a:t>Base</a:t>
            </a:r>
            <a:endParaRPr lang="en-US" sz="1200" dirty="0"/>
          </a:p>
        </p:txBody>
      </p:sp>
      <p:sp>
        <p:nvSpPr>
          <p:cNvPr id="27" name="Shape 24"/>
          <p:cNvSpPr/>
          <p:nvPr/>
        </p:nvSpPr>
        <p:spPr>
          <a:xfrm>
            <a:off x="6491288" y="6330950"/>
            <a:ext cx="114300" cy="114300"/>
          </a:xfrm>
          <a:prstGeom prst="rect">
            <a:avLst/>
          </a:prstGeom>
          <a:solidFill>
            <a:srgbClr val="E8763A"/>
          </a:solidFill>
          <a:ln/>
        </p:spPr>
      </p:sp>
      <p:sp>
        <p:nvSpPr>
          <p:cNvPr id="28" name="Text 25"/>
          <p:cNvSpPr/>
          <p:nvPr/>
        </p:nvSpPr>
        <p:spPr>
          <a:xfrm>
            <a:off x="6656388" y="6281440"/>
            <a:ext cx="105876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E69"/>
                </a:solidFill>
                <a:latin typeface="Arial" pitchFamily="34" charset="0"/>
                <a:ea typeface="Arial" pitchFamily="34" charset="-122"/>
                <a:cs typeface="Arial" pitchFamily="34" charset="-120"/>
              </a:rPr>
              <a:t>Experimentos</a:t>
            </a:r>
            <a:endParaRPr lang="en-US" sz="1200" dirty="0"/>
          </a:p>
        </p:txBody>
      </p:sp>
      <p:sp>
        <p:nvSpPr>
          <p:cNvPr id="29" name="Shape 26"/>
          <p:cNvSpPr/>
          <p:nvPr/>
        </p:nvSpPr>
        <p:spPr>
          <a:xfrm>
            <a:off x="7715151" y="6330950"/>
            <a:ext cx="114300" cy="114300"/>
          </a:xfrm>
          <a:prstGeom prst="rect">
            <a:avLst/>
          </a:prstGeom>
          <a:solidFill>
            <a:srgbClr val="E8763A"/>
          </a:solidFill>
          <a:ln/>
        </p:spPr>
      </p:sp>
      <p:sp>
        <p:nvSpPr>
          <p:cNvPr id="30" name="Text 27"/>
          <p:cNvSpPr/>
          <p:nvPr/>
        </p:nvSpPr>
        <p:spPr>
          <a:xfrm>
            <a:off x="7880251" y="6281440"/>
            <a:ext cx="5997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E69"/>
                </a:solidFill>
                <a:latin typeface="Arial" pitchFamily="34" charset="0"/>
                <a:ea typeface="Arial" pitchFamily="34" charset="-122"/>
                <a:cs typeface="Arial" pitchFamily="34" charset="-120"/>
              </a:rPr>
              <a:t>Galería</a:t>
            </a:r>
            <a:endParaRPr lang="en-US" sz="1200" dirty="0"/>
          </a:p>
        </p:txBody>
      </p:sp>
      <p:sp>
        <p:nvSpPr>
          <p:cNvPr id="31" name="Shape 28"/>
          <p:cNvSpPr/>
          <p:nvPr/>
        </p:nvSpPr>
        <p:spPr>
          <a:xfrm>
            <a:off x="8507016" y="6330950"/>
            <a:ext cx="114300" cy="114300"/>
          </a:xfrm>
          <a:prstGeom prst="rect">
            <a:avLst/>
          </a:prstGeom>
          <a:solidFill>
            <a:srgbClr val="1F2238"/>
          </a:solidFill>
          <a:ln/>
        </p:spPr>
      </p:sp>
      <p:sp>
        <p:nvSpPr>
          <p:cNvPr id="32" name="Text 29"/>
          <p:cNvSpPr/>
          <p:nvPr/>
        </p:nvSpPr>
        <p:spPr>
          <a:xfrm>
            <a:off x="8672116" y="6281440"/>
            <a:ext cx="52863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2238"/>
                </a:solidFill>
                <a:latin typeface="Arial" pitchFamily="34" charset="0"/>
                <a:ea typeface="Arial" pitchFamily="34" charset="-122"/>
                <a:cs typeface="Arial" pitchFamily="34" charset="-120"/>
              </a:rPr>
              <a:t>Cierre</a:t>
            </a:r>
            <a:endParaRPr lang="en-US" sz="1200" dirty="0"/>
          </a:p>
        </p:txBody>
      </p:sp>
      <p:sp>
        <p:nvSpPr>
          <p:cNvPr id="33" name="Text 30"/>
          <p:cNvSpPr/>
          <p:nvPr/>
        </p:nvSpPr>
        <p:spPr>
          <a:xfrm>
            <a:off x="10833418" y="6281440"/>
            <a:ext cx="545783"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4E69"/>
                </a:solidFill>
                <a:latin typeface="Arial" pitchFamily="34" charset="0"/>
                <a:ea typeface="Arial" pitchFamily="34" charset="-122"/>
                <a:cs typeface="Arial" pitchFamily="34" charset="-120"/>
              </a:rPr>
              <a:t>11 / 12</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2EA"/>
        </a:solidFill>
      </p:bgPr>
    </p:bg>
    <p:spTree>
      <p:nvGrpSpPr>
        <p:cNvPr id="1" name=""/>
        <p:cNvGrpSpPr/>
        <p:nvPr/>
      </p:nvGrpSpPr>
      <p:grpSpPr>
        <a:xfrm>
          <a:off x="0" y="0"/>
          <a:ext cx="0" cy="0"/>
          <a:chOff x="0" y="0"/>
          <a:chExt cx="0" cy="0"/>
        </a:xfrm>
      </p:grpSpPr>
      <p:sp>
        <p:nvSpPr>
          <p:cNvPr id="2" name="Text 0"/>
          <p:cNvSpPr/>
          <p:nvPr/>
        </p:nvSpPr>
        <p:spPr>
          <a:xfrm>
            <a:off x="812800" y="6281440"/>
            <a:ext cx="18501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E69"/>
                </a:solidFill>
                <a:latin typeface="Arial" pitchFamily="34" charset="0"/>
                <a:ea typeface="Arial" pitchFamily="34" charset="-122"/>
                <a:cs typeface="Arial" pitchFamily="34" charset="-120"/>
              </a:rPr>
              <a:t>Cubópolis · Proyecto 2</a:t>
            </a:r>
            <a:endParaRPr lang="en-US" sz="1200" dirty="0"/>
          </a:p>
        </p:txBody>
      </p:sp>
      <p:sp>
        <p:nvSpPr>
          <p:cNvPr id="3" name="Text 1"/>
          <p:cNvSpPr/>
          <p:nvPr/>
        </p:nvSpPr>
        <p:spPr>
          <a:xfrm>
            <a:off x="10697924" y="6281440"/>
            <a:ext cx="681276"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4E69"/>
                </a:solidFill>
                <a:latin typeface="Arial" pitchFamily="34" charset="0"/>
                <a:ea typeface="Arial" pitchFamily="34" charset="-122"/>
                <a:cs typeface="Arial" pitchFamily="34" charset="-120"/>
              </a:rPr>
              <a:t>Anexo A</a:t>
            </a:r>
            <a:endParaRPr lang="en-US" sz="1200" dirty="0"/>
          </a:p>
        </p:txBody>
      </p:sp>
      <p:sp>
        <p:nvSpPr>
          <p:cNvPr id="4" name="Text 2"/>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F2238"/>
                </a:solidFill>
                <a:latin typeface="Arial" pitchFamily="34" charset="0"/>
                <a:ea typeface="Arial" pitchFamily="34" charset="-122"/>
                <a:cs typeface="Arial" pitchFamily="34" charset="-120"/>
              </a:rPr>
              <a:t>Los 200 candidatos de la galería</a:t>
            </a:r>
            <a:endParaRPr lang="en-US" sz="3000" dirty="0"/>
          </a:p>
        </p:txBody>
      </p:sp>
      <p:pic>
        <p:nvPicPr>
          <p:cNvPr id="5" name="Image 0" descr="Hoja con los 200 candidatos generados por el modelo hinge, numerados del 0 al 199">    </p:cNvPr>
          <p:cNvPicPr>
            <a:picLocks noChangeAspect="1"/>
          </p:cNvPicPr>
          <p:nvPr/>
        </p:nvPicPr>
        <p:blipFill>
          <a:blip r:embed="rId1"/>
          <a:stretch>
            <a:fillRect/>
          </a:stretch>
        </p:blipFill>
        <p:spPr>
          <a:xfrm>
            <a:off x="2051947" y="1384300"/>
            <a:ext cx="8474364" cy="4660900"/>
          </a:xfrm>
          <a:prstGeom prst="rect">
            <a:avLst/>
          </a:prstGeom>
        </p:spPr>
      </p:pic>
    </p:spTree>
  </p:cSld>
  <p:clrMapOvr>
    <a:masterClrMapping/>
  </p:clrMapOvr>
</p:sld>
</file>

<file path=ppt/theme/theme1.xml><?xml version="1.0" encoding="utf-8"?>
<a:theme xmlns:a="http://schemas.openxmlformats.org/drawingml/2006/main" name="Cubópolis — Proyecto 2 GAN">
  <a:themeElements>
    <a:clrScheme name="Cubópolis — Proyecto 2 GAN">
      <a:dk1>
        <a:srgbClr val="1F2238"/>
      </a:dk1>
      <a:lt1>
        <a:srgbClr val="F5F2EA"/>
      </a:lt1>
      <a:dk2>
        <a:srgbClr val="555665"/>
      </a:dk2>
      <a:lt2>
        <a:srgbClr val="E0DDD8"/>
      </a:lt2>
      <a:accent1>
        <a:srgbClr val="E8763A"/>
      </a:accent1>
      <a:accent2>
        <a:srgbClr val="B9501F"/>
      </a:accent2>
      <a:accent3>
        <a:srgbClr val="FFDFBF"/>
      </a:accent3>
      <a:accent4>
        <a:srgbClr val="B6E3F4"/>
      </a:accent4>
      <a:accent5>
        <a:srgbClr val="C0AEDE"/>
      </a:accent5>
      <a:accent6>
        <a:srgbClr val="1F7563"/>
      </a:accent6>
      <a:hlink>
        <a:srgbClr val="0563C1"/>
      </a:hlink>
      <a:folHlink>
        <a:srgbClr val="954F72"/>
      </a:folHlink>
    </a:clrScheme>
    <a:fontScheme name="Cubópolis — Proyecto 2 GAN">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Cubópolis — Proyecto 2 GAN</dc:title>
  <dc:subject/>
  <dc:creator/>
  <cp:lastModifiedBy/>
  <cp:revision>1</cp:revision>
  <dcterms:created xsi:type="dcterms:W3CDTF">2026-10-10T02:42:03Z</dcterms:created>
  <dcterms:modified xsi:type="dcterms:W3CDTF">2026-10-10T02:42:03Z</dcterms:modified>
</cp:coreProperties>
</file>